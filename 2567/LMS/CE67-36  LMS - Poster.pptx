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42803750" cx="30275200"/>
  <p:notesSz cx="6858000" cy="9144000"/>
  <p:embeddedFontLst>
    <p:embeddedFont>
      <p:font typeface="Sarabun"/>
      <p:regular r:id="rId7"/>
      <p:bold r:id="rId8"/>
      <p:italic r:id="rId9"/>
      <p:boldItalic r:id="rId10"/>
    </p:embeddedFont>
    <p:embeddedFont>
      <p:font typeface="Noto Sans Thai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4638">
          <p15:clr>
            <a:srgbClr val="A4A3A4"/>
          </p15:clr>
        </p15:guide>
        <p15:guide id="2" pos="464">
          <p15:clr>
            <a:srgbClr val="A4A3A4"/>
          </p15:clr>
        </p15:guide>
        <p15:guide id="3" orient="horz" pos="826">
          <p15:clr>
            <a:srgbClr val="A4A3A4"/>
          </p15:clr>
        </p15:guide>
        <p15:guide id="4" orient="horz" pos="24776">
          <p15:clr>
            <a:srgbClr val="A4A3A4"/>
          </p15:clr>
        </p15:guide>
        <p15:guide id="5" pos="9536">
          <p15:clr>
            <a:srgbClr val="A4A3A4"/>
          </p15:clr>
        </p15:guide>
        <p15:guide id="6" pos="4954">
          <p15:clr>
            <a:srgbClr val="A4A3A4"/>
          </p15:clr>
        </p15:guide>
        <p15:guide id="7" pos="14253">
          <p15:clr>
            <a:srgbClr val="A4A3A4"/>
          </p15:clr>
        </p15:guide>
        <p15:guide id="8" pos="9989">
          <p15:clr>
            <a:srgbClr val="A4A3A4"/>
          </p15:clr>
        </p15:guide>
        <p15:guide id="9" pos="9127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hvH7YB5s1oRm8ykL2EIxdLU5G2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638" orient="horz"/>
        <p:guide pos="464"/>
        <p:guide pos="826" orient="horz"/>
        <p:guide pos="24776" orient="horz"/>
        <p:guide pos="9536"/>
        <p:guide pos="4954"/>
        <p:guide pos="14253"/>
        <p:guide pos="9989"/>
        <p:guide pos="912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otoSansThai-regular.fntdata"/><Relationship Id="rId10" Type="http://schemas.openxmlformats.org/officeDocument/2006/relationships/font" Target="fonts/Sarabun-boldItalic.fntdata"/><Relationship Id="rId13" Type="http://customschemas.google.com/relationships/presentationmetadata" Target="metadata"/><Relationship Id="rId12" Type="http://schemas.openxmlformats.org/officeDocument/2006/relationships/font" Target="fonts/NotoSansThai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Sarabun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Sarabun-regular.fntdata"/><Relationship Id="rId8" Type="http://schemas.openxmlformats.org/officeDocument/2006/relationships/font" Target="fonts/Sarabun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38388" y="1143000"/>
            <a:ext cx="2181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th-TH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2338388" y="1143000"/>
            <a:ext cx="2181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2270641" y="7005156"/>
            <a:ext cx="25733931" cy="1490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65"/>
              <a:buFont typeface="Calibri"/>
              <a:buNone/>
              <a:defRPr sz="1986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3784402" y="22481887"/>
            <a:ext cx="22706410" cy="10334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7946"/>
            </a:lvl1pPr>
            <a:lvl2pPr lvl="1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sz="6622"/>
            </a:lvl2pPr>
            <a:lvl3pPr lvl="2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sz="5960"/>
            </a:lvl3pPr>
            <a:lvl4pPr lvl="3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/>
            </a:lvl4pPr>
            <a:lvl5pPr lvl="4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/>
            </a:lvl5pPr>
            <a:lvl6pPr lvl="5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/>
            </a:lvl6pPr>
            <a:lvl7pPr lvl="6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/>
            </a:lvl7pPr>
            <a:lvl8pPr lvl="7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/>
            </a:lvl8pPr>
            <a:lvl9pPr lvl="8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2065654" y="10671229"/>
            <a:ext cx="26112371" cy="178051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65"/>
              <a:buFont typeface="Calibri"/>
              <a:buNone/>
              <a:defRPr sz="1986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2065654" y="28644846"/>
            <a:ext cx="26112371" cy="936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7946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888888"/>
              </a:buClr>
              <a:buSzPts val="6622"/>
              <a:buNone/>
              <a:defRPr sz="6622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888888"/>
              </a:buClr>
              <a:buSzPts val="5960"/>
              <a:buNone/>
              <a:defRPr sz="596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297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297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297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297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297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29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2081421" y="11394520"/>
            <a:ext cx="12866966" cy="271585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15326826" y="11394520"/>
            <a:ext cx="12866966" cy="271585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2085364" y="2278913"/>
            <a:ext cx="26112371" cy="8273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2085368" y="10492870"/>
            <a:ext cx="12807832" cy="51423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b="1" sz="7946"/>
            </a:lvl1pPr>
            <a:lvl2pPr indent="-228600" lvl="1" marL="914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b="1" sz="6622"/>
            </a:lvl2pPr>
            <a:lvl3pPr indent="-228600" lvl="2" marL="1371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b="1" sz="5960"/>
            </a:lvl3pPr>
            <a:lvl4pPr indent="-228600" lvl="3" marL="1828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b="1" sz="5297"/>
            </a:lvl4pPr>
            <a:lvl5pPr indent="-228600" lvl="4" marL="22860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b="1" sz="5297"/>
            </a:lvl5pPr>
            <a:lvl6pPr indent="-228600" lvl="5" marL="27432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b="1" sz="5297"/>
            </a:lvl6pPr>
            <a:lvl7pPr indent="-228600" lvl="6" marL="3200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b="1" sz="5297"/>
            </a:lvl7pPr>
            <a:lvl8pPr indent="-228600" lvl="7" marL="3657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b="1" sz="5297"/>
            </a:lvl8pPr>
            <a:lvl9pPr indent="-228600" lvl="8" marL="4114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b="1" sz="5297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2085368" y="15635264"/>
            <a:ext cx="12807832" cy="22997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15326828" y="10492870"/>
            <a:ext cx="12870909" cy="51423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b="1" sz="7946"/>
            </a:lvl1pPr>
            <a:lvl2pPr indent="-228600" lvl="1" marL="914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b="1" sz="6622"/>
            </a:lvl2pPr>
            <a:lvl3pPr indent="-228600" lvl="2" marL="1371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b="1" sz="5960"/>
            </a:lvl3pPr>
            <a:lvl4pPr indent="-228600" lvl="3" marL="1828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b="1" sz="5297"/>
            </a:lvl4pPr>
            <a:lvl5pPr indent="-228600" lvl="4" marL="22860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b="1" sz="5297"/>
            </a:lvl5pPr>
            <a:lvl6pPr indent="-228600" lvl="5" marL="27432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b="1" sz="5297"/>
            </a:lvl6pPr>
            <a:lvl7pPr indent="-228600" lvl="6" marL="3200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b="1" sz="5297"/>
            </a:lvl7pPr>
            <a:lvl8pPr indent="-228600" lvl="7" marL="3657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b="1" sz="5297"/>
            </a:lvl8pPr>
            <a:lvl9pPr indent="-228600" lvl="8" marL="4114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b="1" sz="5297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15326828" y="15635264"/>
            <a:ext cx="12870909" cy="22997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2085364" y="2853584"/>
            <a:ext cx="9764544" cy="99875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95"/>
              <a:buFont typeface="Calibri"/>
              <a:buNone/>
              <a:defRPr sz="1059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12870909" y="6162959"/>
            <a:ext cx="15326827" cy="30418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901382" lvl="0" marL="4572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10595"/>
              <a:buChar char="•"/>
              <a:defRPr sz="10595"/>
            </a:lvl1pPr>
            <a:lvl2pPr indent="-817308" lvl="1" marL="914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9271"/>
              <a:buChar char="•"/>
              <a:defRPr sz="9271"/>
            </a:lvl2pPr>
            <a:lvl3pPr indent="-733171" lvl="2" marL="1371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7946"/>
              <a:buChar char="•"/>
              <a:defRPr sz="7946"/>
            </a:lvl3pPr>
            <a:lvl4pPr indent="-649097" lvl="3" marL="1828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22"/>
            </a:lvl4pPr>
            <a:lvl5pPr indent="-649097" lvl="4" marL="22860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22"/>
            </a:lvl5pPr>
            <a:lvl6pPr indent="-649097" lvl="5" marL="27432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22"/>
            </a:lvl6pPr>
            <a:lvl7pPr indent="-649097" lvl="6" marL="3200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22"/>
            </a:lvl7pPr>
            <a:lvl8pPr indent="-649097" lvl="7" marL="3657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22"/>
            </a:lvl8pPr>
            <a:lvl9pPr indent="-649096" lvl="8" marL="4114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22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2085364" y="12841129"/>
            <a:ext cx="9764544" cy="23789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/>
            </a:lvl1pPr>
            <a:lvl2pPr indent="-228600" lvl="1" marL="914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4635"/>
              <a:buNone/>
              <a:defRPr sz="4635"/>
            </a:lvl2pPr>
            <a:lvl3pPr indent="-228600" lvl="2" marL="1371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973"/>
              <a:buNone/>
              <a:defRPr sz="3973"/>
            </a:lvl3pPr>
            <a:lvl4pPr indent="-228600" lvl="3" marL="1828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4pPr>
            <a:lvl5pPr indent="-228600" lvl="4" marL="22860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5pPr>
            <a:lvl6pPr indent="-228600" lvl="5" marL="27432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6pPr>
            <a:lvl7pPr indent="-228600" lvl="6" marL="3200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7pPr>
            <a:lvl8pPr indent="-228600" lvl="7" marL="3657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8pPr>
            <a:lvl9pPr indent="-228600" lvl="8" marL="4114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2085364" y="2853584"/>
            <a:ext cx="9764544" cy="99875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95"/>
              <a:buFont typeface="Calibri"/>
              <a:buNone/>
              <a:defRPr sz="1059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12870909" y="6162959"/>
            <a:ext cx="15326827" cy="3041841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2085364" y="12841129"/>
            <a:ext cx="9764544" cy="23789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/>
            </a:lvl1pPr>
            <a:lvl2pPr indent="-228600" lvl="1" marL="914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4635"/>
              <a:buNone/>
              <a:defRPr sz="4635"/>
            </a:lvl2pPr>
            <a:lvl3pPr indent="-228600" lvl="2" marL="1371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973"/>
              <a:buNone/>
              <a:defRPr sz="3973"/>
            </a:lvl3pPr>
            <a:lvl4pPr indent="-228600" lvl="3" marL="1828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4pPr>
            <a:lvl5pPr indent="-228600" lvl="4" marL="22860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5pPr>
            <a:lvl6pPr indent="-228600" lvl="5" marL="27432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6pPr>
            <a:lvl7pPr indent="-228600" lvl="6" marL="3200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7pPr>
            <a:lvl8pPr indent="-228600" lvl="7" marL="3657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8pPr>
            <a:lvl9pPr indent="-228600" lvl="8" marL="4114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1558310" y="11917631"/>
            <a:ext cx="27158594" cy="26112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6792642" y="17151963"/>
            <a:ext cx="36274211" cy="65280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-6452763" y="10813091"/>
            <a:ext cx="36274211" cy="192058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68"/>
              <a:buFont typeface="Calibri"/>
              <a:buNone/>
              <a:defRPr b="0" i="0" sz="145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817308" lvl="0" marL="457200" marR="0" rtl="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9271"/>
              <a:buFont typeface="Arial"/>
              <a:buChar char="•"/>
              <a:defRPr b="0" i="0" sz="927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33171" lvl="1" marL="914400" marR="0" rtl="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7946"/>
              <a:buFont typeface="Arial"/>
              <a:buChar char="•"/>
              <a:defRPr b="0" i="0" sz="794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649097" lvl="2" marL="1371600" marR="0" rtl="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Font typeface="Arial"/>
              <a:buChar char="•"/>
              <a:defRPr b="0" i="0" sz="662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07060" lvl="3" marL="1828800" marR="0" rtl="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b="0" i="0" sz="5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07060" lvl="4" marL="2286000" marR="0" rtl="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b="0" i="0" sz="5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07060" lvl="5" marL="2743200" marR="0" rtl="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b="0" i="0" sz="5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07060" lvl="6" marL="3200400" marR="0" rtl="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b="0" i="0" sz="5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07060" lvl="7" marL="3657600" marR="0" rtl="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b="0" i="0" sz="5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07059" lvl="8" marL="4114800" marR="0" rtl="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b="0" i="0" sz="5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7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7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397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397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397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397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397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397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397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397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397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11" Type="http://schemas.openxmlformats.org/officeDocument/2006/relationships/image" Target="../media/image1.png"/><Relationship Id="rId10" Type="http://schemas.openxmlformats.org/officeDocument/2006/relationships/image" Target="../media/image5.png"/><Relationship Id="rId9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2306" y="9801349"/>
            <a:ext cx="47040545" cy="4704054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2030797" y="33683986"/>
            <a:ext cx="11941136" cy="438570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262626"/>
              </a:solidFill>
              <a:latin typeface="Sarabun"/>
              <a:ea typeface="Sarabun"/>
              <a:cs typeface="Sarabun"/>
              <a:sym typeface="Sarabun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4940" y="9436106"/>
            <a:ext cx="47040545" cy="47040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479403" y="-17199430"/>
            <a:ext cx="47040545" cy="47040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13627" y="6169025"/>
            <a:ext cx="19565938" cy="19565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66027" y="6321425"/>
            <a:ext cx="19565938" cy="19565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21147" y="23390225"/>
            <a:ext cx="19565938" cy="19565938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/>
          <p:nvPr/>
        </p:nvSpPr>
        <p:spPr>
          <a:xfrm>
            <a:off x="-8370277" y="11828585"/>
            <a:ext cx="5400000" cy="54000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E3520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-8370277" y="5051505"/>
            <a:ext cx="5400000" cy="540000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-8370277" y="18631662"/>
            <a:ext cx="5400000" cy="54000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-8370277" y="25434739"/>
            <a:ext cx="5400000" cy="54000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-8370277" y="31945547"/>
            <a:ext cx="5400000" cy="5400000"/>
          </a:xfrm>
          <a:prstGeom prst="ellipse">
            <a:avLst/>
          </a:prstGeom>
          <a:solidFill>
            <a:srgbClr val="3F3F3F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" name="Google Shape;100;p1"/>
          <p:cNvGrpSpPr/>
          <p:nvPr/>
        </p:nvGrpSpPr>
        <p:grpSpPr>
          <a:xfrm>
            <a:off x="381000" y="1311275"/>
            <a:ext cx="17678745" cy="2592202"/>
            <a:chOff x="1754365" y="1705478"/>
            <a:chExt cx="17678745" cy="2592202"/>
          </a:xfrm>
        </p:grpSpPr>
        <p:pic>
          <p:nvPicPr>
            <p:cNvPr descr="A picture containing emblem, circle, symbol, bronze&#10;&#10;Description automatically generated" id="101" name="Google Shape;101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754365" y="1705478"/>
              <a:ext cx="2880224" cy="25922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" name="Google Shape;102;p1"/>
            <p:cNvSpPr txBox="1"/>
            <p:nvPr/>
          </p:nvSpPr>
          <p:spPr>
            <a:xfrm>
              <a:off x="4678750" y="2330318"/>
              <a:ext cx="1475436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h-TH" sz="5400">
                  <a:solidFill>
                    <a:srgbClr val="ED7D31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ภาควิชาวิศวกรรมคอมพิวเตอร์ คณะวิศวกรรมศาสตร์</a:t>
              </a:r>
              <a:endParaRPr b="1" sz="5400">
                <a:solidFill>
                  <a:srgbClr val="ED7D31"/>
                </a:solidFill>
                <a:latin typeface="Noto Sans Thai"/>
                <a:ea typeface="Noto Sans Thai"/>
                <a:cs typeface="Noto Sans Thai"/>
                <a:sym typeface="Noto Sans Tha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5400">
                  <a:solidFill>
                    <a:srgbClr val="ED7D31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สถาบันเทคโนโลยีพระจอมเกล้าเจ้าคุณทหารลาดกระบัง </a:t>
              </a:r>
              <a:endParaRPr/>
            </a:p>
          </p:txBody>
        </p:sp>
      </p:grpSp>
      <p:sp>
        <p:nvSpPr>
          <p:cNvPr id="103" name="Google Shape;103;p1"/>
          <p:cNvSpPr txBox="1"/>
          <p:nvPr/>
        </p:nvSpPr>
        <p:spPr>
          <a:xfrm>
            <a:off x="25109426" y="2043479"/>
            <a:ext cx="4482317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h-TH" sz="8800">
                <a:solidFill>
                  <a:srgbClr val="ED7D31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CE67-36</a:t>
            </a:r>
            <a:endParaRPr b="1" sz="6400">
              <a:solidFill>
                <a:srgbClr val="ED7D3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5292596" y="4943534"/>
            <a:ext cx="19691608" cy="2877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th-TH" sz="11500">
                <a:solidFill>
                  <a:schemeClr val="dk1"/>
                </a:solidFill>
                <a:latin typeface="Thonburi"/>
                <a:ea typeface="Thonburi"/>
                <a:cs typeface="Thonburi"/>
                <a:sym typeface="Thonburi"/>
              </a:rPr>
              <a:t>ระบบออนไลน์สำหรับสหกิจศึกษา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6600">
                <a:solidFill>
                  <a:schemeClr val="dk1"/>
                </a:solidFill>
                <a:latin typeface="Thonburi"/>
                <a:ea typeface="Thonburi"/>
                <a:cs typeface="Thonburi"/>
                <a:sym typeface="Thonburi"/>
              </a:rPr>
              <a:t>Online System for Cooperative Education </a:t>
            </a:r>
            <a:endParaRPr/>
          </a:p>
        </p:txBody>
      </p:sp>
      <p:sp>
        <p:nvSpPr>
          <p:cNvPr id="105" name="Google Shape;105;p1"/>
          <p:cNvSpPr/>
          <p:nvPr/>
        </p:nvSpPr>
        <p:spPr>
          <a:xfrm>
            <a:off x="736600" y="9867391"/>
            <a:ext cx="3704771" cy="1467685"/>
          </a:xfrm>
          <a:prstGeom prst="roundRect">
            <a:avLst>
              <a:gd fmla="val 16667" name="adj"/>
            </a:avLst>
          </a:prstGeom>
          <a:solidFill>
            <a:srgbClr val="F7CAA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th-TH" sz="4500">
                <a:solidFill>
                  <a:srgbClr val="ED7D31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บทคัดย่อ</a:t>
            </a:r>
            <a:endParaRPr b="1" sz="4500">
              <a:solidFill>
                <a:srgbClr val="ED7D3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15786100" y="9919063"/>
            <a:ext cx="3704771" cy="1420803"/>
          </a:xfrm>
          <a:prstGeom prst="roundRect">
            <a:avLst>
              <a:gd fmla="val 16667" name="adj"/>
            </a:avLst>
          </a:prstGeom>
          <a:solidFill>
            <a:srgbClr val="F7CAA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th-TH" sz="4500">
                <a:solidFill>
                  <a:srgbClr val="ED7D31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ผลลัพธ์</a:t>
            </a:r>
            <a:endParaRPr b="1" sz="4500">
              <a:solidFill>
                <a:srgbClr val="ED7D3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736600" y="11600687"/>
            <a:ext cx="14401006" cy="997470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200">
                <a:solidFill>
                  <a:srgbClr val="3F3F3F"/>
                </a:solidFill>
                <a:latin typeface="Sarabun"/>
                <a:ea typeface="Sarabun"/>
                <a:cs typeface="Sarabun"/>
                <a:sym typeface="Sarabun"/>
              </a:rPr>
              <a:t>	</a:t>
            </a:r>
            <a:endParaRPr/>
          </a:p>
        </p:txBody>
      </p:sp>
      <p:sp>
        <p:nvSpPr>
          <p:cNvPr id="108" name="Google Shape;108;p1"/>
          <p:cNvSpPr txBox="1"/>
          <p:nvPr/>
        </p:nvSpPr>
        <p:spPr>
          <a:xfrm>
            <a:off x="-1567543" y="770708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1800400" y="4554175"/>
            <a:ext cx="27186300" cy="3758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th-TH" sz="8800">
                <a:solidFill>
                  <a:srgbClr val="ED7D31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ระบบบริหารการจัดการเรียนรู้ด้านวิศวกรรมคอมพิวเตอร์</a:t>
            </a:r>
            <a:br>
              <a:rPr b="1" lang="th-TH" sz="6000">
                <a:solidFill>
                  <a:srgbClr val="7F7F7F"/>
                </a:solidFill>
                <a:latin typeface="Noto Sans Thai"/>
                <a:ea typeface="Noto Sans Thai"/>
                <a:cs typeface="Noto Sans Thai"/>
                <a:sym typeface="Noto Sans Thai"/>
              </a:rPr>
            </a:br>
            <a:r>
              <a:rPr b="1" lang="th-TH" sz="9600">
                <a:solidFill>
                  <a:srgbClr val="7F7F7F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CE Learnify</a:t>
            </a:r>
            <a:endParaRPr sz="6000">
              <a:solidFill>
                <a:srgbClr val="7F7F7F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grpSp>
        <p:nvGrpSpPr>
          <p:cNvPr id="110" name="Google Shape;110;p1"/>
          <p:cNvGrpSpPr/>
          <p:nvPr/>
        </p:nvGrpSpPr>
        <p:grpSpPr>
          <a:xfrm>
            <a:off x="793" y="39253886"/>
            <a:ext cx="30275213" cy="3549877"/>
            <a:chOff x="35922857" y="-3549877"/>
            <a:chExt cx="30275213" cy="3549877"/>
          </a:xfrm>
        </p:grpSpPr>
        <p:sp>
          <p:nvSpPr>
            <p:cNvPr id="111" name="Google Shape;111;p1"/>
            <p:cNvSpPr/>
            <p:nvPr/>
          </p:nvSpPr>
          <p:spPr>
            <a:xfrm>
              <a:off x="35922857" y="-3549877"/>
              <a:ext cx="30275213" cy="354987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800">
                <a:solidFill>
                  <a:schemeClr val="lt1"/>
                </a:solidFill>
                <a:latin typeface="Noto Sans Thai"/>
                <a:ea typeface="Noto Sans Thai"/>
                <a:cs typeface="Noto Sans Thai"/>
                <a:sym typeface="Noto Sans Thai"/>
              </a:endParaRPr>
            </a:p>
          </p:txBody>
        </p:sp>
        <p:sp>
          <p:nvSpPr>
            <p:cNvPr id="112" name="Google Shape;112;p1"/>
            <p:cNvSpPr txBox="1"/>
            <p:nvPr/>
          </p:nvSpPr>
          <p:spPr>
            <a:xfrm>
              <a:off x="37060456" y="-3082990"/>
              <a:ext cx="8584902" cy="26161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h-TH" sz="4400">
                  <a:solidFill>
                    <a:schemeClr val="lt1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ผู้จัดทำ</a:t>
              </a:r>
              <a:endParaRPr b="1" sz="4400">
                <a:solidFill>
                  <a:schemeClr val="lt1"/>
                </a:solidFill>
                <a:latin typeface="Noto Sans Thai"/>
                <a:ea typeface="Noto Sans Thai"/>
                <a:cs typeface="Noto Sans Thai"/>
                <a:sym typeface="Noto Sans Tha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4000">
                  <a:solidFill>
                    <a:schemeClr val="lt1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นายธีรภัทร์  สุขสโมสร	   65015077      </a:t>
              </a:r>
              <a:endParaRPr sz="4000">
                <a:solidFill>
                  <a:schemeClr val="lt1"/>
                </a:solidFill>
                <a:latin typeface="Noto Sans Thai"/>
                <a:ea typeface="Noto Sans Thai"/>
                <a:cs typeface="Noto Sans Thai"/>
                <a:sym typeface="Noto Sans Tha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4000">
                  <a:solidFill>
                    <a:schemeClr val="lt1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นายวีรภัทร ประสมพงษ์   63015143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4000">
                  <a:solidFill>
                    <a:schemeClr val="lt1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นายวีระพจน์ ชูชาติ          65015144</a:t>
              </a:r>
              <a:endParaRPr sz="4000">
                <a:solidFill>
                  <a:schemeClr val="lt1"/>
                </a:solidFill>
                <a:latin typeface="Noto Sans Thai"/>
                <a:ea typeface="Noto Sans Thai"/>
                <a:cs typeface="Noto Sans Thai"/>
                <a:sym typeface="Noto Sans Thai"/>
              </a:endParaRPr>
            </a:p>
          </p:txBody>
        </p:sp>
        <p:sp>
          <p:nvSpPr>
            <p:cNvPr id="113" name="Google Shape;113;p1"/>
            <p:cNvSpPr txBox="1"/>
            <p:nvPr/>
          </p:nvSpPr>
          <p:spPr>
            <a:xfrm>
              <a:off x="46115701" y="-3082990"/>
              <a:ext cx="6189364" cy="2000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h-TH" sz="4400">
                  <a:solidFill>
                    <a:schemeClr val="lt1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อาจารย์ที่ปรึกษา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4000">
                  <a:solidFill>
                    <a:schemeClr val="lt1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ผศ.ธนา  หงษ์สุวรรณ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4000">
                  <a:solidFill>
                    <a:schemeClr val="lt1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ผศ.ดร.ชมพูนุท   เต็งเจริญ </a:t>
              </a:r>
              <a:endParaRPr/>
            </a:p>
          </p:txBody>
        </p:sp>
      </p:grpSp>
      <p:grpSp>
        <p:nvGrpSpPr>
          <p:cNvPr id="114" name="Google Shape;114;p1"/>
          <p:cNvGrpSpPr/>
          <p:nvPr/>
        </p:nvGrpSpPr>
        <p:grpSpPr>
          <a:xfrm>
            <a:off x="15857538" y="11606783"/>
            <a:ext cx="13681074" cy="17576833"/>
            <a:chOff x="15857538" y="12082272"/>
            <a:chExt cx="13681074" cy="15605760"/>
          </a:xfrm>
        </p:grpSpPr>
        <p:sp>
          <p:nvSpPr>
            <p:cNvPr id="115" name="Google Shape;115;p1"/>
            <p:cNvSpPr/>
            <p:nvPr/>
          </p:nvSpPr>
          <p:spPr>
            <a:xfrm>
              <a:off x="15857538" y="12082272"/>
              <a:ext cx="13681074" cy="15605760"/>
            </a:xfrm>
            <a:prstGeom prst="roundRect">
              <a:avLst>
                <a:gd fmla="val 562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00">
                <a:solidFill>
                  <a:srgbClr val="262626"/>
                </a:solidFill>
                <a:latin typeface="Sarabun"/>
                <a:ea typeface="Sarabun"/>
                <a:cs typeface="Sarabun"/>
                <a:sym typeface="Sarabun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3200">
                <a:solidFill>
                  <a:srgbClr val="262626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  <p:grpSp>
          <p:nvGrpSpPr>
            <p:cNvPr id="116" name="Google Shape;116;p1"/>
            <p:cNvGrpSpPr/>
            <p:nvPr/>
          </p:nvGrpSpPr>
          <p:grpSpPr>
            <a:xfrm>
              <a:off x="16383001" y="12665132"/>
              <a:ext cx="8253084" cy="7153376"/>
              <a:chOff x="16383001" y="12665132"/>
              <a:chExt cx="8253084" cy="7153376"/>
            </a:xfrm>
          </p:grpSpPr>
          <p:sp>
            <p:nvSpPr>
              <p:cNvPr id="117" name="Google Shape;117;p1"/>
              <p:cNvSpPr txBox="1"/>
              <p:nvPr/>
            </p:nvSpPr>
            <p:spPr>
              <a:xfrm>
                <a:off x="16474876" y="19172177"/>
                <a:ext cx="8161209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th-TH" sz="3600">
                    <a:solidFill>
                      <a:srgbClr val="E35205"/>
                    </a:solidFill>
                    <a:latin typeface="Noto Sans Thai"/>
                    <a:ea typeface="Noto Sans Thai"/>
                    <a:cs typeface="Noto Sans Thai"/>
                    <a:sym typeface="Noto Sans Thai"/>
                  </a:rPr>
                  <a:t>การพัฒนาส่วนติดต่อผู้ใช้ (User Interface)</a:t>
                </a:r>
                <a:endParaRPr b="1" sz="3600">
                  <a:solidFill>
                    <a:srgbClr val="E35205"/>
                  </a:solidFill>
                  <a:latin typeface="Noto Sans Thai"/>
                  <a:ea typeface="Noto Sans Thai"/>
                  <a:cs typeface="Noto Sans Thai"/>
                  <a:sym typeface="Noto Sans Thai"/>
                </a:endParaRPr>
              </a:p>
            </p:txBody>
          </p:sp>
          <p:sp>
            <p:nvSpPr>
              <p:cNvPr id="118" name="Google Shape;118;p1"/>
              <p:cNvSpPr txBox="1"/>
              <p:nvPr/>
            </p:nvSpPr>
            <p:spPr>
              <a:xfrm>
                <a:off x="16383001" y="12665132"/>
                <a:ext cx="3555782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th-TH" sz="3600">
                    <a:solidFill>
                      <a:srgbClr val="E35205"/>
                    </a:solidFill>
                    <a:latin typeface="Noto Sans Thai"/>
                    <a:ea typeface="Noto Sans Thai"/>
                    <a:cs typeface="Noto Sans Thai"/>
                    <a:sym typeface="Noto Sans Thai"/>
                  </a:rPr>
                  <a:t>การออกแบบระบบ</a:t>
                </a:r>
                <a:endParaRPr b="1" sz="3600">
                  <a:solidFill>
                    <a:srgbClr val="E35205"/>
                  </a:solidFill>
                  <a:latin typeface="Noto Sans Thai"/>
                  <a:ea typeface="Noto Sans Thai"/>
                  <a:cs typeface="Noto Sans Thai"/>
                  <a:sym typeface="Noto Sans Thai"/>
                </a:endParaRPr>
              </a:p>
            </p:txBody>
          </p:sp>
        </p:grpSp>
      </p:grpSp>
      <p:pic>
        <p:nvPicPr>
          <p:cNvPr id="119" name="Google Shape;119;p1"/>
          <p:cNvPicPr preferRelativeResize="0"/>
          <p:nvPr/>
        </p:nvPicPr>
        <p:blipFill rotWithShape="1">
          <a:blip r:embed="rId5">
            <a:alphaModFix/>
          </a:blip>
          <a:srcRect b="22720" l="0" r="0" t="22721"/>
          <a:stretch/>
        </p:blipFill>
        <p:spPr>
          <a:xfrm>
            <a:off x="22935600" y="24732000"/>
            <a:ext cx="6240938" cy="2972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"/>
          <p:cNvPicPr preferRelativeResize="0"/>
          <p:nvPr/>
        </p:nvPicPr>
        <p:blipFill rotWithShape="1">
          <a:blip r:embed="rId6">
            <a:alphaModFix/>
          </a:blip>
          <a:srcRect b="21520" l="0" r="0" t="21521"/>
          <a:stretch/>
        </p:blipFill>
        <p:spPr>
          <a:xfrm>
            <a:off x="22936995" y="20871661"/>
            <a:ext cx="6240938" cy="2972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"/>
          <p:cNvPicPr preferRelativeResize="0"/>
          <p:nvPr/>
        </p:nvPicPr>
        <p:blipFill rotWithShape="1">
          <a:blip r:embed="rId7">
            <a:alphaModFix/>
          </a:blip>
          <a:srcRect b="7668" l="0" r="0" t="7668"/>
          <a:stretch/>
        </p:blipFill>
        <p:spPr>
          <a:xfrm>
            <a:off x="16383001" y="24730027"/>
            <a:ext cx="6240938" cy="2972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AI-generated content may be incorrect." id="122" name="Google Shape;122;p1"/>
          <p:cNvPicPr preferRelativeResize="0"/>
          <p:nvPr/>
        </p:nvPicPr>
        <p:blipFill rotWithShape="1">
          <a:blip r:embed="rId8">
            <a:alphaModFix/>
          </a:blip>
          <a:srcRect b="34872" l="0" r="821" t="0"/>
          <a:stretch/>
        </p:blipFill>
        <p:spPr>
          <a:xfrm>
            <a:off x="16383600" y="20872800"/>
            <a:ext cx="6190783" cy="3147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6768430" y="13210837"/>
            <a:ext cx="11128635" cy="6009463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"/>
          <p:cNvSpPr txBox="1"/>
          <p:nvPr/>
        </p:nvSpPr>
        <p:spPr>
          <a:xfrm>
            <a:off x="1165352" y="12135560"/>
            <a:ext cx="13323761" cy="88947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200">
                <a:solidFill>
                  <a:srgbClr val="3F3F3F"/>
                </a:solidFill>
                <a:latin typeface="Sarabun"/>
                <a:ea typeface="Sarabun"/>
                <a:cs typeface="Sarabun"/>
                <a:sym typeface="Sarabun"/>
              </a:rPr>
              <a:t>			การเรียนรู้ในยุคปัจจุบันมีความหลากหลายและควรมีช่องทางการเรียนรู้ที่หลากหลาย ทั้งนี้เพื่อตอบสนองต่อความต้องการของผู้เรียนที่ต้องการความยืดหยุ่นในการเข้าถึงเนื้อหาและการปรับตัวให้เข้ากับสภาพแวดล้อมการศึกษาที่เปลี่ยนแปลงไปอย่างรวดเร็ว ในบริบทนี้ โครงการ “ระบบบริหารการจัดการเรียนรู้ด้านวิศวกรรมคอมพิวเตอร์ (CE Learnify)” จึงพัฒนาขึ้นเพื่อสร้างแพลตฟอร์มการเรียนออนไลน์ รองรับการลงทะเบียนและเข้าสู่ระบบผ่านหลากหลายช่องทาง ระบบนี้เปิดโอกาสให้ผู้เรียนเข้าถึงเนื้อหาการเรียนรู้ได้ทุกที่ทุกเวลา สามารถติดตามความก้าวหน้าของตนเอง ทำแบบทดสอบ ส่งงาน และรับผลตอบกลับได้อย่างรวดเร็ว ช่วยส่งเสริมการเรียนรู้ด้วยตนเองและการจัดการเวลาเรียนที่ยืดหยุ่น สำหรับผู้สอน สามารถออกแบบและจัดการคอร์สเรียนได้อย่างยืดหยุ่นผ่านการบูรณาการเนื้อหาที่หลากหลาย ทั้งวิดีโอ เอกสารประกอบการเรียน แบบทดสอบ และแบบฝึกหัด เพื่อให้ผู้เรียนได้รับประสบการณ์การเรียนรู้ที่ครบถ้วน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5" name="Google Shape;125;p1"/>
          <p:cNvGrpSpPr/>
          <p:nvPr/>
        </p:nvGrpSpPr>
        <p:grpSpPr>
          <a:xfrm>
            <a:off x="1338241" y="24392933"/>
            <a:ext cx="13763171" cy="7614579"/>
            <a:chOff x="1338241" y="24392933"/>
            <a:chExt cx="13763171" cy="7614579"/>
          </a:xfrm>
        </p:grpSpPr>
        <p:sp>
          <p:nvSpPr>
            <p:cNvPr id="126" name="Google Shape;126;p1"/>
            <p:cNvSpPr/>
            <p:nvPr/>
          </p:nvSpPr>
          <p:spPr>
            <a:xfrm>
              <a:off x="1338241" y="24392933"/>
              <a:ext cx="13763171" cy="7614579"/>
            </a:xfrm>
            <a:prstGeom prst="roundRect">
              <a:avLst>
                <a:gd fmla="val 7534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6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  <p:pic>
          <p:nvPicPr>
            <p:cNvPr descr="A diagram of a computer program" id="127" name="Google Shape;127;p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987642" y="24417395"/>
              <a:ext cx="12840990" cy="722305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8" name="Google Shape;128;p1"/>
          <p:cNvSpPr/>
          <p:nvPr/>
        </p:nvSpPr>
        <p:spPr>
          <a:xfrm>
            <a:off x="1229897" y="22391257"/>
            <a:ext cx="4363176" cy="1480457"/>
          </a:xfrm>
          <a:prstGeom prst="roundRect">
            <a:avLst>
              <a:gd fmla="val 16667" name="adj"/>
            </a:avLst>
          </a:prstGeom>
          <a:solidFill>
            <a:srgbClr val="F7CAA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th-TH" sz="4500">
                <a:solidFill>
                  <a:srgbClr val="ED7D31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โครงสร้างระบบ</a:t>
            </a:r>
            <a:endParaRPr b="1" sz="4500">
              <a:solidFill>
                <a:srgbClr val="ED7D3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grpSp>
        <p:nvGrpSpPr>
          <p:cNvPr id="129" name="Google Shape;129;p1"/>
          <p:cNvGrpSpPr/>
          <p:nvPr/>
        </p:nvGrpSpPr>
        <p:grpSpPr>
          <a:xfrm>
            <a:off x="15670346" y="31445165"/>
            <a:ext cx="13868266" cy="5765188"/>
            <a:chOff x="15670346" y="31445165"/>
            <a:chExt cx="13868266" cy="5765188"/>
          </a:xfrm>
        </p:grpSpPr>
        <p:sp>
          <p:nvSpPr>
            <p:cNvPr id="130" name="Google Shape;130;p1"/>
            <p:cNvSpPr/>
            <p:nvPr/>
          </p:nvSpPr>
          <p:spPr>
            <a:xfrm>
              <a:off x="15670346" y="31445165"/>
              <a:ext cx="13868266" cy="5765188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00">
                <a:solidFill>
                  <a:srgbClr val="262626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  <p:sp>
          <p:nvSpPr>
            <p:cNvPr id="131" name="Google Shape;131;p1"/>
            <p:cNvSpPr txBox="1"/>
            <p:nvPr/>
          </p:nvSpPr>
          <p:spPr>
            <a:xfrm>
              <a:off x="16250426" y="31819011"/>
              <a:ext cx="12518005" cy="51823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3200">
                  <a:solidFill>
                    <a:srgbClr val="262626"/>
                  </a:solidFill>
                  <a:latin typeface="Sarabun"/>
                  <a:ea typeface="Sarabun"/>
                  <a:cs typeface="Sarabun"/>
                  <a:sym typeface="Sarabun"/>
                </a:rPr>
                <a:t>					โครงการนี้ได้พัฒนาระบบบริหารการจัดการเรียนรู้ด้านวิศวกรรมคอมพิวเตอร์ (CE Learnify) เพื่อตอบสนองความต้องการของภาควิชาวิศวกรรมคอมพิวเตอร์ สจล. ระบบที่พัฒนาขึ้นรองรับการใช้งานของผู้เรียน ผู้สอน และผู้ดูแลระบบ โดยสามารถจัดการคอร์สเรียน จัดการเนื้อหา ติดตามความก้าวหน้า และประเมินผลได้ ผลการทดสอบพบว่าระบบสามารถทำงานได้ตามฟังก์ชันที่ออกแบบไว้ ช่วยลดข้อจำกัดด้านเวลาและสถานที่ในการเรียนการสอน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1"/>
          <p:cNvSpPr/>
          <p:nvPr/>
        </p:nvSpPr>
        <p:spPr>
          <a:xfrm>
            <a:off x="15823349" y="29864254"/>
            <a:ext cx="3704771" cy="1318327"/>
          </a:xfrm>
          <a:prstGeom prst="roundRect">
            <a:avLst>
              <a:gd fmla="val 16667" name="adj"/>
            </a:avLst>
          </a:prstGeom>
          <a:solidFill>
            <a:srgbClr val="F7CAA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th-TH" sz="4500">
                <a:solidFill>
                  <a:srgbClr val="ED7D31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สรุปผล</a:t>
            </a:r>
            <a:endParaRPr b="1" sz="4500">
              <a:solidFill>
                <a:srgbClr val="ED7D3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1338241" y="32528731"/>
            <a:ext cx="6094190" cy="576518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262626"/>
              </a:solidFill>
              <a:latin typeface="Sarabun"/>
              <a:ea typeface="Sarabun"/>
              <a:cs typeface="Sarabun"/>
              <a:sym typeface="Sarabun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2098522" y="32241261"/>
            <a:ext cx="6495776" cy="1318327"/>
          </a:xfrm>
          <a:prstGeom prst="roundRect">
            <a:avLst>
              <a:gd fmla="val 16667" name="adj"/>
            </a:avLst>
          </a:prstGeom>
          <a:solidFill>
            <a:srgbClr val="F7CAA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th-TH" sz="4500">
                <a:solidFill>
                  <a:srgbClr val="ED7D31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วิดีโอสาธิตการใช้งาน</a:t>
            </a:r>
            <a:endParaRPr b="1" sz="4500">
              <a:solidFill>
                <a:srgbClr val="ED7D3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pic>
        <p:nvPicPr>
          <p:cNvPr id="135" name="Google Shape;135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758083" y="34186260"/>
            <a:ext cx="3051977" cy="3051977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"/>
          <p:cNvSpPr txBox="1"/>
          <p:nvPr/>
        </p:nvSpPr>
        <p:spPr>
          <a:xfrm>
            <a:off x="6264358" y="34993276"/>
            <a:ext cx="6490944" cy="1489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200">
                <a:solidFill>
                  <a:srgbClr val="3F3F3F"/>
                </a:solidFill>
                <a:latin typeface="Sarabun"/>
                <a:ea typeface="Sarabun"/>
                <a:cs typeface="Sarabun"/>
                <a:sym typeface="Sarabun"/>
              </a:rPr>
              <a:t>https://youtu.be/YsJK2yKPjE0?si=B1OdgTA3WHNVAwEZ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2023-05-21T06:33:30Z</dcterms:created>
  <dc:creator>Aphisit Tubseang</dc:creator>
</cp:coreProperties>
</file>