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x="18288000" cy="10287000"/>
  <p:notesSz cx="6858000" cy="9144000"/>
  <p:embeddedFontLst>
    <p:embeddedFont>
      <p:font typeface="Bai Jamjuree Bold" charset="1" panose="00000800000000000000"/>
      <p:regular r:id="rId87"/>
    </p:embeddedFont>
    <p:embeddedFont>
      <p:font typeface="Public Sans Bold" charset="1" panose="00000000000000000000"/>
      <p:regular r:id="rId88"/>
    </p:embeddedFont>
    <p:embeddedFont>
      <p:font typeface="Bai Jamjuree" charset="1" panose="00000500000000000000"/>
      <p:regular r:id="rId89"/>
    </p:embeddedFont>
    <p:embeddedFont>
      <p:font typeface="Futura Bold" charset="1" panose="020B0702020204020203"/>
      <p:regular r:id="rId90"/>
    </p:embeddedFont>
    <p:embeddedFont>
      <p:font typeface="Arimo Bold" charset="1" panose="020B0704020202020204"/>
      <p:regular r:id="rId91"/>
    </p:embeddedFont>
    <p:embeddedFont>
      <p:font typeface="Montserrat Classic" charset="1" panose="00000500000000000000"/>
      <p:regular r:id="rId92"/>
    </p:embeddedFont>
    <p:embeddedFont>
      <p:font typeface="Futura" charset="1" panose="020B0502020204020303"/>
      <p:regular r:id="rId93"/>
    </p:embeddedFont>
    <p:embeddedFont>
      <p:font typeface="Arimo" charset="1" panose="020B0604020202020204"/>
      <p:regular r:id="rId94"/>
    </p:embeddedFont>
    <p:embeddedFont>
      <p:font typeface="Boston Angel" charset="1" panose="00000000000000000000"/>
      <p:regular r:id="rId9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fonts/font87.fntdata" Type="http://schemas.openxmlformats.org/officeDocument/2006/relationships/font"/><Relationship Id="rId88" Target="fonts/font88.fntdata" Type="http://schemas.openxmlformats.org/officeDocument/2006/relationships/font"/><Relationship Id="rId89" Target="fonts/font89.fntdata" Type="http://schemas.openxmlformats.org/officeDocument/2006/relationships/font"/><Relationship Id="rId9" Target="slides/slide4.xml" Type="http://schemas.openxmlformats.org/officeDocument/2006/relationships/slide"/><Relationship Id="rId90" Target="fonts/font90.fntdata" Type="http://schemas.openxmlformats.org/officeDocument/2006/relationships/font"/><Relationship Id="rId91" Target="fonts/font91.fntdata" Type="http://schemas.openxmlformats.org/officeDocument/2006/relationships/font"/><Relationship Id="rId92" Target="fonts/font92.fntdata" Type="http://schemas.openxmlformats.org/officeDocument/2006/relationships/font"/><Relationship Id="rId93" Target="fonts/font93.fntdata" Type="http://schemas.openxmlformats.org/officeDocument/2006/relationships/font"/><Relationship Id="rId94" Target="fonts/font94.fntdata" Type="http://schemas.openxmlformats.org/officeDocument/2006/relationships/font"/><Relationship Id="rId95" Target="fonts/font95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74878" y="2895682"/>
            <a:ext cx="11281974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DB53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IMPROVING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65280" y="4006675"/>
            <a:ext cx="12301170" cy="337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0049AB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AUTOMATIC SPEECH RECOGNITION </a:t>
            </a:r>
          </a:p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0049AB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BY </a:t>
            </a:r>
            <a:r>
              <a:rPr lang="en-US" b="true" sz="6399">
                <a:solidFill>
                  <a:srgbClr val="DB53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SPEECH SEGMENTATION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98139" y="-200454"/>
            <a:ext cx="4323839" cy="1229542"/>
            <a:chOff x="0" y="0"/>
            <a:chExt cx="5181401" cy="14734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190929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64177" y="972388"/>
            <a:ext cx="1445340" cy="1503815"/>
            <a:chOff x="0" y="0"/>
            <a:chExt cx="1732000" cy="1802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77627" y="1253376"/>
            <a:ext cx="831890" cy="3627297"/>
            <a:chOff x="0" y="0"/>
            <a:chExt cx="996882" cy="43467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78178" y="7311403"/>
            <a:ext cx="1230735" cy="3193810"/>
            <a:chOff x="0" y="0"/>
            <a:chExt cx="1474831" cy="382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4831" cy="3827250"/>
            </a:xfrm>
            <a:custGeom>
              <a:avLst/>
              <a:gdLst/>
              <a:ahLst/>
              <a:cxnLst/>
              <a:rect r="r" b="b" t="t" l="l"/>
              <a:pathLst>
                <a:path h="3827250" w="1474831">
                  <a:moveTo>
                    <a:pt x="0" y="0"/>
                  </a:moveTo>
                  <a:lnTo>
                    <a:pt x="0" y="3827250"/>
                  </a:lnTo>
                  <a:lnTo>
                    <a:pt x="1474831" y="3827250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3766290"/>
                  </a:moveTo>
                  <a:lnTo>
                    <a:pt x="59690" y="3766290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37662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20162" y="8979530"/>
            <a:ext cx="6452929" cy="921321"/>
            <a:chOff x="0" y="0"/>
            <a:chExt cx="7732761" cy="110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0685" y="9377834"/>
            <a:ext cx="3860705" cy="1155661"/>
            <a:chOff x="0" y="0"/>
            <a:chExt cx="4626412" cy="13848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558753" y="5612866"/>
            <a:ext cx="2012855" cy="2404639"/>
            <a:chOff x="0" y="0"/>
            <a:chExt cx="2412072" cy="2881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12072" cy="2881560"/>
            </a:xfrm>
            <a:custGeom>
              <a:avLst/>
              <a:gdLst/>
              <a:ahLst/>
              <a:cxnLst/>
              <a:rect r="r" b="b" t="t" l="l"/>
              <a:pathLst>
                <a:path h="2881560" w="2412072">
                  <a:moveTo>
                    <a:pt x="0" y="0"/>
                  </a:moveTo>
                  <a:lnTo>
                    <a:pt x="0" y="2881560"/>
                  </a:lnTo>
                  <a:lnTo>
                    <a:pt x="2412072" y="2881560"/>
                  </a:lnTo>
                  <a:lnTo>
                    <a:pt x="2412072" y="0"/>
                  </a:lnTo>
                  <a:lnTo>
                    <a:pt x="0" y="0"/>
                  </a:lnTo>
                  <a:close/>
                  <a:moveTo>
                    <a:pt x="2351112" y="2820600"/>
                  </a:moveTo>
                  <a:lnTo>
                    <a:pt x="59690" y="2820600"/>
                  </a:lnTo>
                  <a:lnTo>
                    <a:pt x="59690" y="59690"/>
                  </a:lnTo>
                  <a:lnTo>
                    <a:pt x="2351112" y="59690"/>
                  </a:lnTo>
                  <a:lnTo>
                    <a:pt x="2351112" y="2820600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141033" y="8639492"/>
            <a:ext cx="3636594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0049AB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CE67-03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178" y="7330453"/>
            <a:ext cx="1230735" cy="3193810"/>
            <a:chOff x="0" y="0"/>
            <a:chExt cx="1474831" cy="3827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4831" cy="3827250"/>
            </a:xfrm>
            <a:custGeom>
              <a:avLst/>
              <a:gdLst/>
              <a:ahLst/>
              <a:cxnLst/>
              <a:rect r="r" b="b" t="t" l="l"/>
              <a:pathLst>
                <a:path h="3827250" w="1474831">
                  <a:moveTo>
                    <a:pt x="0" y="0"/>
                  </a:moveTo>
                  <a:lnTo>
                    <a:pt x="0" y="3827250"/>
                  </a:lnTo>
                  <a:lnTo>
                    <a:pt x="1474831" y="3827250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3766290"/>
                  </a:moveTo>
                  <a:lnTo>
                    <a:pt x="59690" y="3766290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37662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58753" y="5631916"/>
            <a:ext cx="2012855" cy="2404639"/>
            <a:chOff x="0" y="0"/>
            <a:chExt cx="2412072" cy="2881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2072" cy="2881560"/>
            </a:xfrm>
            <a:custGeom>
              <a:avLst/>
              <a:gdLst/>
              <a:ahLst/>
              <a:cxnLst/>
              <a:rect r="r" b="b" t="t" l="l"/>
              <a:pathLst>
                <a:path h="2881560" w="2412072">
                  <a:moveTo>
                    <a:pt x="0" y="0"/>
                  </a:moveTo>
                  <a:lnTo>
                    <a:pt x="0" y="2881560"/>
                  </a:lnTo>
                  <a:lnTo>
                    <a:pt x="2412072" y="2881560"/>
                  </a:lnTo>
                  <a:lnTo>
                    <a:pt x="2412072" y="0"/>
                  </a:lnTo>
                  <a:lnTo>
                    <a:pt x="0" y="0"/>
                  </a:lnTo>
                  <a:close/>
                  <a:moveTo>
                    <a:pt x="2351112" y="2820600"/>
                  </a:moveTo>
                  <a:lnTo>
                    <a:pt x="59690" y="2820600"/>
                  </a:lnTo>
                  <a:lnTo>
                    <a:pt x="59690" y="59690"/>
                  </a:lnTo>
                  <a:lnTo>
                    <a:pt x="2351112" y="59690"/>
                  </a:lnTo>
                  <a:lnTo>
                    <a:pt x="2351112" y="2820600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049625" y="9106902"/>
            <a:ext cx="1559892" cy="1700304"/>
            <a:chOff x="0" y="0"/>
            <a:chExt cx="1869270" cy="20375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69270" cy="2037531"/>
            </a:xfrm>
            <a:custGeom>
              <a:avLst/>
              <a:gdLst/>
              <a:ahLst/>
              <a:cxnLst/>
              <a:rect r="r" b="b" t="t" l="l"/>
              <a:pathLst>
                <a:path h="2037531" w="1869270">
                  <a:moveTo>
                    <a:pt x="0" y="0"/>
                  </a:moveTo>
                  <a:lnTo>
                    <a:pt x="0" y="2037531"/>
                  </a:lnTo>
                  <a:lnTo>
                    <a:pt x="1869270" y="2037531"/>
                  </a:lnTo>
                  <a:lnTo>
                    <a:pt x="1869270" y="0"/>
                  </a:lnTo>
                  <a:lnTo>
                    <a:pt x="0" y="0"/>
                  </a:lnTo>
                  <a:close/>
                  <a:moveTo>
                    <a:pt x="1808310" y="1976571"/>
                  </a:moveTo>
                  <a:lnTo>
                    <a:pt x="59690" y="1976571"/>
                  </a:lnTo>
                  <a:lnTo>
                    <a:pt x="59690" y="59690"/>
                  </a:lnTo>
                  <a:lnTo>
                    <a:pt x="1808310" y="59690"/>
                  </a:lnTo>
                  <a:lnTo>
                    <a:pt x="1808310" y="1976571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43944" y="8613423"/>
            <a:ext cx="2801746" cy="1414800"/>
            <a:chOff x="0" y="0"/>
            <a:chExt cx="3357426" cy="16954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7426" cy="1695403"/>
            </a:xfrm>
            <a:custGeom>
              <a:avLst/>
              <a:gdLst/>
              <a:ahLst/>
              <a:cxnLst/>
              <a:rect r="r" b="b" t="t" l="l"/>
              <a:pathLst>
                <a:path h="1695403" w="3357426">
                  <a:moveTo>
                    <a:pt x="0" y="0"/>
                  </a:moveTo>
                  <a:lnTo>
                    <a:pt x="0" y="1695403"/>
                  </a:lnTo>
                  <a:lnTo>
                    <a:pt x="3357426" y="1695403"/>
                  </a:lnTo>
                  <a:lnTo>
                    <a:pt x="3357426" y="0"/>
                  </a:lnTo>
                  <a:lnTo>
                    <a:pt x="0" y="0"/>
                  </a:lnTo>
                  <a:close/>
                  <a:moveTo>
                    <a:pt x="3296465" y="1634442"/>
                  </a:moveTo>
                  <a:lnTo>
                    <a:pt x="59690" y="1634442"/>
                  </a:lnTo>
                  <a:lnTo>
                    <a:pt x="59690" y="59690"/>
                  </a:lnTo>
                  <a:lnTo>
                    <a:pt x="3296465" y="59690"/>
                  </a:lnTo>
                  <a:lnTo>
                    <a:pt x="3296465" y="1634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880949" y="-343329"/>
            <a:ext cx="3508293" cy="2634631"/>
            <a:chOff x="0" y="0"/>
            <a:chExt cx="4204105" cy="31571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4105" cy="3157167"/>
            </a:xfrm>
            <a:custGeom>
              <a:avLst/>
              <a:gdLst/>
              <a:ahLst/>
              <a:cxnLst/>
              <a:rect r="r" b="b" t="t" l="l"/>
              <a:pathLst>
                <a:path h="3157167" w="4204105">
                  <a:moveTo>
                    <a:pt x="0" y="0"/>
                  </a:moveTo>
                  <a:lnTo>
                    <a:pt x="0" y="3157167"/>
                  </a:lnTo>
                  <a:lnTo>
                    <a:pt x="4204105" y="3157167"/>
                  </a:lnTo>
                  <a:lnTo>
                    <a:pt x="4204105" y="0"/>
                  </a:lnTo>
                  <a:lnTo>
                    <a:pt x="0" y="0"/>
                  </a:lnTo>
                  <a:close/>
                  <a:moveTo>
                    <a:pt x="4143145" y="3096207"/>
                  </a:moveTo>
                  <a:lnTo>
                    <a:pt x="59690" y="3096207"/>
                  </a:lnTo>
                  <a:lnTo>
                    <a:pt x="59690" y="59690"/>
                  </a:lnTo>
                  <a:lnTo>
                    <a:pt x="4143145" y="59690"/>
                  </a:lnTo>
                  <a:lnTo>
                    <a:pt x="4143145" y="3096207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79119" y="-333804"/>
            <a:ext cx="4955588" cy="1742404"/>
            <a:chOff x="0" y="0"/>
            <a:chExt cx="5938447" cy="20879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38447" cy="2087981"/>
            </a:xfrm>
            <a:custGeom>
              <a:avLst/>
              <a:gdLst/>
              <a:ahLst/>
              <a:cxnLst/>
              <a:rect r="r" b="b" t="t" l="l"/>
              <a:pathLst>
                <a:path h="2087981" w="5938447">
                  <a:moveTo>
                    <a:pt x="0" y="0"/>
                  </a:moveTo>
                  <a:lnTo>
                    <a:pt x="0" y="2087981"/>
                  </a:lnTo>
                  <a:lnTo>
                    <a:pt x="5938447" y="2087981"/>
                  </a:lnTo>
                  <a:lnTo>
                    <a:pt x="5938447" y="0"/>
                  </a:lnTo>
                  <a:lnTo>
                    <a:pt x="0" y="0"/>
                  </a:lnTo>
                  <a:close/>
                  <a:moveTo>
                    <a:pt x="5877487" y="2027021"/>
                  </a:moveTo>
                  <a:lnTo>
                    <a:pt x="59690" y="2027021"/>
                  </a:lnTo>
                  <a:lnTo>
                    <a:pt x="59690" y="59690"/>
                  </a:lnTo>
                  <a:lnTo>
                    <a:pt x="5877487" y="59690"/>
                  </a:lnTo>
                  <a:lnTo>
                    <a:pt x="5877487" y="2027021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931527" y="1631021"/>
            <a:ext cx="1931062" cy="3176330"/>
            <a:chOff x="0" y="0"/>
            <a:chExt cx="2314056" cy="38063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14056" cy="3806303"/>
            </a:xfrm>
            <a:custGeom>
              <a:avLst/>
              <a:gdLst/>
              <a:ahLst/>
              <a:cxnLst/>
              <a:rect r="r" b="b" t="t" l="l"/>
              <a:pathLst>
                <a:path h="3806303" w="2314056">
                  <a:moveTo>
                    <a:pt x="0" y="0"/>
                  </a:moveTo>
                  <a:lnTo>
                    <a:pt x="0" y="3806303"/>
                  </a:lnTo>
                  <a:lnTo>
                    <a:pt x="2314056" y="3806303"/>
                  </a:lnTo>
                  <a:lnTo>
                    <a:pt x="2314056" y="0"/>
                  </a:lnTo>
                  <a:lnTo>
                    <a:pt x="0" y="0"/>
                  </a:lnTo>
                  <a:close/>
                  <a:moveTo>
                    <a:pt x="2253096" y="3745343"/>
                  </a:moveTo>
                  <a:lnTo>
                    <a:pt x="59690" y="3745343"/>
                  </a:lnTo>
                  <a:lnTo>
                    <a:pt x="59690" y="59690"/>
                  </a:lnTo>
                  <a:lnTo>
                    <a:pt x="2253096" y="59690"/>
                  </a:lnTo>
                  <a:lnTo>
                    <a:pt x="2253096" y="3745343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713611" y="849970"/>
            <a:ext cx="895906" cy="7103763"/>
            <a:chOff x="0" y="0"/>
            <a:chExt cx="1073594" cy="8512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3594" cy="8512678"/>
            </a:xfrm>
            <a:custGeom>
              <a:avLst/>
              <a:gdLst/>
              <a:ahLst/>
              <a:cxnLst/>
              <a:rect r="r" b="b" t="t" l="l"/>
              <a:pathLst>
                <a:path h="8512678" w="1073594">
                  <a:moveTo>
                    <a:pt x="0" y="0"/>
                  </a:moveTo>
                  <a:lnTo>
                    <a:pt x="0" y="8512678"/>
                  </a:lnTo>
                  <a:lnTo>
                    <a:pt x="1073594" y="8512678"/>
                  </a:lnTo>
                  <a:lnTo>
                    <a:pt x="1073594" y="0"/>
                  </a:lnTo>
                  <a:lnTo>
                    <a:pt x="0" y="0"/>
                  </a:lnTo>
                  <a:close/>
                  <a:moveTo>
                    <a:pt x="1012634" y="8451718"/>
                  </a:moveTo>
                  <a:lnTo>
                    <a:pt x="59690" y="8451718"/>
                  </a:lnTo>
                  <a:lnTo>
                    <a:pt x="59690" y="59690"/>
                  </a:lnTo>
                  <a:lnTo>
                    <a:pt x="1012634" y="59690"/>
                  </a:lnTo>
                  <a:lnTo>
                    <a:pt x="1012634" y="8451718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22783" y="3219186"/>
            <a:ext cx="2165930" cy="216593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4574" r="0" b="-7183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20846" y="3219186"/>
            <a:ext cx="2165930" cy="216593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500" r="0" b="-2365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38305" y="3219186"/>
            <a:ext cx="2165930" cy="216593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2089" r="0" b="-3208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575059" y="3219186"/>
            <a:ext cx="2165930" cy="216593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369" r="0" b="-1463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939561" y="480662"/>
            <a:ext cx="872682" cy="87268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96470" y="1172379"/>
            <a:ext cx="3218557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สมาชิกในกลุ่ม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44124" y="5525801"/>
            <a:ext cx="3123247" cy="33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8"/>
              </a:lnSpc>
            </a:pPr>
            <a:r>
              <a:rPr lang="en-US" sz="2122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กัมปนาท ชินราช 64010042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46376" y="5525801"/>
            <a:ext cx="3714869" cy="33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8"/>
              </a:lnSpc>
            </a:pPr>
            <a:r>
              <a:rPr lang="en-US" sz="2122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ธนภัทร ประภัทรพรกุล 64010327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90483" y="5525801"/>
            <a:ext cx="3061573" cy="33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8"/>
              </a:lnSpc>
            </a:pPr>
            <a:r>
              <a:rPr lang="en-US" sz="2122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วิภาดา วรสัจจา 64010808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701947" y="5525801"/>
            <a:ext cx="3912156" cy="33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8"/>
              </a:lnSpc>
            </a:pPr>
            <a:r>
              <a:rPr lang="en-US" sz="2122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ศรันย์ธร พรชัยวัฒนากร 64010827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41595" y="7092697"/>
            <a:ext cx="3227705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b="true" sz="3499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อาจารย์ที่ปรึกษา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04235" y="7883540"/>
            <a:ext cx="4915377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รศ.ดร.เกียรติกูล เจียรนัยธนะกิจ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9555754"/>
            <a:ext cx="4323839" cy="968509"/>
            <a:chOff x="0" y="0"/>
            <a:chExt cx="5181401" cy="11605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81401" cy="1160597"/>
            </a:xfrm>
            <a:custGeom>
              <a:avLst/>
              <a:gdLst/>
              <a:ahLst/>
              <a:cxnLst/>
              <a:rect r="r" b="b" t="t" l="l"/>
              <a:pathLst>
                <a:path h="1160597" w="5181401">
                  <a:moveTo>
                    <a:pt x="0" y="0"/>
                  </a:moveTo>
                  <a:lnTo>
                    <a:pt x="0" y="1160597"/>
                  </a:lnTo>
                  <a:lnTo>
                    <a:pt x="5181401" y="1160597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099637"/>
                  </a:moveTo>
                  <a:lnTo>
                    <a:pt x="59690" y="1099637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099637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0782" y="9258300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72568" y="814648"/>
            <a:ext cx="6751517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ที่มาและความสำคัญ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85330" y="4316470"/>
            <a:ext cx="2286823" cy="1284904"/>
          </a:xfrm>
          <a:custGeom>
            <a:avLst/>
            <a:gdLst/>
            <a:ahLst/>
            <a:cxnLst/>
            <a:rect r="r" b="b" t="t" l="l"/>
            <a:pathLst>
              <a:path h="1284904" w="2286823">
                <a:moveTo>
                  <a:pt x="0" y="0"/>
                </a:moveTo>
                <a:lnTo>
                  <a:pt x="2286823" y="0"/>
                </a:lnTo>
                <a:lnTo>
                  <a:pt x="2286823" y="1284903"/>
                </a:lnTo>
                <a:lnTo>
                  <a:pt x="0" y="1284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65667" y="4273311"/>
            <a:ext cx="1729915" cy="1295767"/>
          </a:xfrm>
          <a:custGeom>
            <a:avLst/>
            <a:gdLst/>
            <a:ahLst/>
            <a:cxnLst/>
            <a:rect r="r" b="b" t="t" l="l"/>
            <a:pathLst>
              <a:path h="1295767" w="1729915">
                <a:moveTo>
                  <a:pt x="0" y="0"/>
                </a:moveTo>
                <a:lnTo>
                  <a:pt x="1729915" y="0"/>
                </a:lnTo>
                <a:lnTo>
                  <a:pt x="1729915" y="1295767"/>
                </a:lnTo>
                <a:lnTo>
                  <a:pt x="0" y="1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5060302" y="2118397"/>
            <a:ext cx="1915009" cy="284052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4082186" y="5300897"/>
            <a:ext cx="2904971" cy="286552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7100457" y="4921194"/>
            <a:ext cx="2055997" cy="388770"/>
          </a:xfrm>
          <a:custGeom>
            <a:avLst/>
            <a:gdLst/>
            <a:ahLst/>
            <a:cxnLst/>
            <a:rect r="r" b="b" t="t" l="l"/>
            <a:pathLst>
              <a:path h="388770" w="2055997">
                <a:moveTo>
                  <a:pt x="0" y="0"/>
                </a:moveTo>
                <a:lnTo>
                  <a:pt x="2055997" y="0"/>
                </a:lnTo>
                <a:lnTo>
                  <a:pt x="2055997" y="388771"/>
                </a:lnTo>
                <a:lnTo>
                  <a:pt x="0" y="388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12466777" y="5089326"/>
            <a:ext cx="714375" cy="160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3181152" y="4519320"/>
            <a:ext cx="1947372" cy="1172176"/>
            <a:chOff x="0" y="0"/>
            <a:chExt cx="512888" cy="3087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888" cy="308721"/>
            </a:xfrm>
            <a:custGeom>
              <a:avLst/>
              <a:gdLst/>
              <a:ahLst/>
              <a:cxnLst/>
              <a:rect r="r" b="b" t="t" l="l"/>
              <a:pathLst>
                <a:path h="308721" w="512888">
                  <a:moveTo>
                    <a:pt x="79511" y="0"/>
                  </a:moveTo>
                  <a:lnTo>
                    <a:pt x="433377" y="0"/>
                  </a:lnTo>
                  <a:cubicBezTo>
                    <a:pt x="454465" y="0"/>
                    <a:pt x="474689" y="8377"/>
                    <a:pt x="489600" y="23288"/>
                  </a:cubicBezTo>
                  <a:cubicBezTo>
                    <a:pt x="504511" y="38200"/>
                    <a:pt x="512888" y="58424"/>
                    <a:pt x="512888" y="79511"/>
                  </a:cubicBezTo>
                  <a:lnTo>
                    <a:pt x="512888" y="229210"/>
                  </a:lnTo>
                  <a:cubicBezTo>
                    <a:pt x="512888" y="250298"/>
                    <a:pt x="504511" y="270522"/>
                    <a:pt x="489600" y="285433"/>
                  </a:cubicBezTo>
                  <a:cubicBezTo>
                    <a:pt x="474689" y="300344"/>
                    <a:pt x="454465" y="308721"/>
                    <a:pt x="433377" y="308721"/>
                  </a:cubicBezTo>
                  <a:lnTo>
                    <a:pt x="79511" y="308721"/>
                  </a:lnTo>
                  <a:cubicBezTo>
                    <a:pt x="35598" y="308721"/>
                    <a:pt x="0" y="273123"/>
                    <a:pt x="0" y="229210"/>
                  </a:cubicBezTo>
                  <a:lnTo>
                    <a:pt x="0" y="79511"/>
                  </a:lnTo>
                  <a:cubicBezTo>
                    <a:pt x="0" y="35598"/>
                    <a:pt x="35598" y="0"/>
                    <a:pt x="79511" y="0"/>
                  </a:cubicBezTo>
                  <a:close/>
                </a:path>
              </a:pathLst>
            </a:custGeom>
            <a:solidFill>
              <a:srgbClr val="83C4F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512888" cy="37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ASR MODEL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15128524" y="5105408"/>
            <a:ext cx="6320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9955250" y="4487157"/>
            <a:ext cx="2511527" cy="1204340"/>
            <a:chOff x="0" y="0"/>
            <a:chExt cx="661472" cy="317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1472" cy="317192"/>
            </a:xfrm>
            <a:custGeom>
              <a:avLst/>
              <a:gdLst/>
              <a:ahLst/>
              <a:cxnLst/>
              <a:rect r="r" b="b" t="t" l="l"/>
              <a:pathLst>
                <a:path h="317192" w="661472">
                  <a:moveTo>
                    <a:pt x="61651" y="0"/>
                  </a:moveTo>
                  <a:lnTo>
                    <a:pt x="599821" y="0"/>
                  </a:lnTo>
                  <a:cubicBezTo>
                    <a:pt x="633870" y="0"/>
                    <a:pt x="661472" y="27602"/>
                    <a:pt x="661472" y="61651"/>
                  </a:cubicBezTo>
                  <a:lnTo>
                    <a:pt x="661472" y="255541"/>
                  </a:lnTo>
                  <a:cubicBezTo>
                    <a:pt x="661472" y="271892"/>
                    <a:pt x="654977" y="287573"/>
                    <a:pt x="643415" y="299135"/>
                  </a:cubicBezTo>
                  <a:cubicBezTo>
                    <a:pt x="631853" y="310697"/>
                    <a:pt x="616172" y="317192"/>
                    <a:pt x="599821" y="317192"/>
                  </a:cubicBezTo>
                  <a:lnTo>
                    <a:pt x="61651" y="317192"/>
                  </a:lnTo>
                  <a:cubicBezTo>
                    <a:pt x="27602" y="317192"/>
                    <a:pt x="0" y="289590"/>
                    <a:pt x="0" y="255541"/>
                  </a:cubicBezTo>
                  <a:lnTo>
                    <a:pt x="0" y="61651"/>
                  </a:lnTo>
                  <a:cubicBezTo>
                    <a:pt x="0" y="27602"/>
                    <a:pt x="27602" y="0"/>
                    <a:pt x="61651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61472" cy="383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segmentation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9156454" y="5089326"/>
            <a:ext cx="798796" cy="262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098832" y="2217365"/>
            <a:ext cx="2707048" cy="1624229"/>
          </a:xfrm>
          <a:custGeom>
            <a:avLst/>
            <a:gdLst/>
            <a:ahLst/>
            <a:cxnLst/>
            <a:rect r="r" b="b" t="t" l="l"/>
            <a:pathLst>
              <a:path h="1624229" w="2707048">
                <a:moveTo>
                  <a:pt x="0" y="0"/>
                </a:moveTo>
                <a:lnTo>
                  <a:pt x="2707049" y="0"/>
                </a:lnTo>
                <a:lnTo>
                  <a:pt x="2707049" y="1624229"/>
                </a:lnTo>
                <a:lnTo>
                  <a:pt x="0" y="1624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97366" y="5953798"/>
            <a:ext cx="2900326" cy="1631434"/>
          </a:xfrm>
          <a:custGeom>
            <a:avLst/>
            <a:gdLst/>
            <a:ahLst/>
            <a:cxnLst/>
            <a:rect r="r" b="b" t="t" l="l"/>
            <a:pathLst>
              <a:path h="1631434" w="2900326">
                <a:moveTo>
                  <a:pt x="0" y="0"/>
                </a:moveTo>
                <a:lnTo>
                  <a:pt x="2900326" y="0"/>
                </a:lnTo>
                <a:lnTo>
                  <a:pt x="2900326" y="1631434"/>
                </a:lnTo>
                <a:lnTo>
                  <a:pt x="0" y="1631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596603" y="4768540"/>
            <a:ext cx="2181024" cy="57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 spc="16">
                <a:solidFill>
                  <a:srgbClr val="2B2C30"/>
                </a:solidFill>
                <a:latin typeface="Futura Bold"/>
                <a:ea typeface="Futura Bold"/>
                <a:cs typeface="Futura Bold"/>
                <a:sym typeface="Futura Bold"/>
              </a:rPr>
              <a:t>“Text”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485180" y="2914682"/>
            <a:ext cx="1506374" cy="2228818"/>
          </a:xfrm>
          <a:custGeom>
            <a:avLst/>
            <a:gdLst/>
            <a:ahLst/>
            <a:cxnLst/>
            <a:rect r="r" b="b" t="t" l="l"/>
            <a:pathLst>
              <a:path h="2228818" w="1506374">
                <a:moveTo>
                  <a:pt x="0" y="0"/>
                </a:moveTo>
                <a:lnTo>
                  <a:pt x="1506374" y="0"/>
                </a:lnTo>
                <a:lnTo>
                  <a:pt x="1506374" y="2228818"/>
                </a:lnTo>
                <a:lnTo>
                  <a:pt x="0" y="2228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033962" y="2953850"/>
            <a:ext cx="1947372" cy="1172176"/>
            <a:chOff x="0" y="0"/>
            <a:chExt cx="512888" cy="3087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888" cy="308721"/>
            </a:xfrm>
            <a:custGeom>
              <a:avLst/>
              <a:gdLst/>
              <a:ahLst/>
              <a:cxnLst/>
              <a:rect r="r" b="b" t="t" l="l"/>
              <a:pathLst>
                <a:path h="308721" w="512888">
                  <a:moveTo>
                    <a:pt x="79511" y="0"/>
                  </a:moveTo>
                  <a:lnTo>
                    <a:pt x="433377" y="0"/>
                  </a:lnTo>
                  <a:cubicBezTo>
                    <a:pt x="454465" y="0"/>
                    <a:pt x="474689" y="8377"/>
                    <a:pt x="489600" y="23288"/>
                  </a:cubicBezTo>
                  <a:cubicBezTo>
                    <a:pt x="504511" y="38200"/>
                    <a:pt x="512888" y="58424"/>
                    <a:pt x="512888" y="79511"/>
                  </a:cubicBezTo>
                  <a:lnTo>
                    <a:pt x="512888" y="229210"/>
                  </a:lnTo>
                  <a:cubicBezTo>
                    <a:pt x="512888" y="250298"/>
                    <a:pt x="504511" y="270522"/>
                    <a:pt x="489600" y="285433"/>
                  </a:cubicBezTo>
                  <a:cubicBezTo>
                    <a:pt x="474689" y="300344"/>
                    <a:pt x="454465" y="308721"/>
                    <a:pt x="433377" y="308721"/>
                  </a:cubicBezTo>
                  <a:lnTo>
                    <a:pt x="79511" y="308721"/>
                  </a:lnTo>
                  <a:cubicBezTo>
                    <a:pt x="35598" y="308721"/>
                    <a:pt x="0" y="273123"/>
                    <a:pt x="0" y="229210"/>
                  </a:cubicBezTo>
                  <a:lnTo>
                    <a:pt x="0" y="79511"/>
                  </a:lnTo>
                  <a:cubicBezTo>
                    <a:pt x="0" y="35598"/>
                    <a:pt x="35598" y="0"/>
                    <a:pt x="79511" y="0"/>
                  </a:cubicBezTo>
                  <a:close/>
                </a:path>
              </a:pathLst>
            </a:custGeom>
            <a:solidFill>
              <a:srgbClr val="83C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12888" cy="37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ASR MODEL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02561" y="2953850"/>
            <a:ext cx="2511527" cy="1204340"/>
            <a:chOff x="0" y="0"/>
            <a:chExt cx="661472" cy="3171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1472" cy="317192"/>
            </a:xfrm>
            <a:custGeom>
              <a:avLst/>
              <a:gdLst/>
              <a:ahLst/>
              <a:cxnLst/>
              <a:rect r="r" b="b" t="t" l="l"/>
              <a:pathLst>
                <a:path h="317192" w="661472">
                  <a:moveTo>
                    <a:pt x="61651" y="0"/>
                  </a:moveTo>
                  <a:lnTo>
                    <a:pt x="599821" y="0"/>
                  </a:lnTo>
                  <a:cubicBezTo>
                    <a:pt x="633870" y="0"/>
                    <a:pt x="661472" y="27602"/>
                    <a:pt x="661472" y="61651"/>
                  </a:cubicBezTo>
                  <a:lnTo>
                    <a:pt x="661472" y="255541"/>
                  </a:lnTo>
                  <a:cubicBezTo>
                    <a:pt x="661472" y="271892"/>
                    <a:pt x="654977" y="287573"/>
                    <a:pt x="643415" y="299135"/>
                  </a:cubicBezTo>
                  <a:cubicBezTo>
                    <a:pt x="631853" y="310697"/>
                    <a:pt x="616172" y="317192"/>
                    <a:pt x="599821" y="317192"/>
                  </a:cubicBezTo>
                  <a:lnTo>
                    <a:pt x="61651" y="317192"/>
                  </a:lnTo>
                  <a:cubicBezTo>
                    <a:pt x="27602" y="317192"/>
                    <a:pt x="0" y="289590"/>
                    <a:pt x="0" y="255541"/>
                  </a:cubicBezTo>
                  <a:lnTo>
                    <a:pt x="0" y="61651"/>
                  </a:lnTo>
                  <a:cubicBezTo>
                    <a:pt x="0" y="27602"/>
                    <a:pt x="27602" y="0"/>
                    <a:pt x="61651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61472" cy="383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segmentation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639274" y="4244014"/>
            <a:ext cx="0" cy="854283"/>
          </a:xfrm>
          <a:prstGeom prst="line">
            <a:avLst/>
          </a:prstGeom>
          <a:ln cap="flat" w="38100">
            <a:solidFill>
              <a:srgbClr val="05050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5989424" y="5184022"/>
            <a:ext cx="5299700" cy="1603159"/>
            <a:chOff x="0" y="0"/>
            <a:chExt cx="7066267" cy="21375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6267" cy="2137546"/>
            </a:xfrm>
            <a:custGeom>
              <a:avLst/>
              <a:gdLst/>
              <a:ahLst/>
              <a:cxnLst/>
              <a:rect r="r" b="b" t="t" l="l"/>
              <a:pathLst>
                <a:path h="2137546" w="7066267">
                  <a:moveTo>
                    <a:pt x="0" y="0"/>
                  </a:moveTo>
                  <a:lnTo>
                    <a:pt x="7066267" y="0"/>
                  </a:lnTo>
                  <a:lnTo>
                    <a:pt x="7066267" y="2137546"/>
                  </a:lnTo>
                  <a:lnTo>
                    <a:pt x="0" y="213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2574326" y="33638"/>
              <a:ext cx="1917616" cy="1917616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ED957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3533134" y="219930"/>
              <a:ext cx="0" cy="1640857"/>
            </a:xfrm>
            <a:prstGeom prst="line">
              <a:avLst/>
            </a:prstGeom>
            <a:ln cap="flat" w="74203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6874069" y="219930"/>
              <a:ext cx="0" cy="1640857"/>
            </a:xfrm>
            <a:prstGeom prst="line">
              <a:avLst/>
            </a:prstGeom>
            <a:ln cap="flat" w="74203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939561" y="480662"/>
            <a:ext cx="872682" cy="87268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9914088" y="3539939"/>
            <a:ext cx="1119874" cy="160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V="true">
            <a:off x="12981334" y="3539939"/>
            <a:ext cx="102003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4986498" y="2847372"/>
            <a:ext cx="1158763" cy="2015086"/>
          </a:xfrm>
          <a:custGeom>
            <a:avLst/>
            <a:gdLst/>
            <a:ahLst/>
            <a:cxnLst/>
            <a:rect r="r" b="b" t="t" l="l"/>
            <a:pathLst>
              <a:path h="2015086" w="1158763">
                <a:moveTo>
                  <a:pt x="0" y="0"/>
                </a:moveTo>
                <a:lnTo>
                  <a:pt x="1158763" y="0"/>
                </a:lnTo>
                <a:lnTo>
                  <a:pt x="1158763" y="2015086"/>
                </a:lnTo>
                <a:lnTo>
                  <a:pt x="0" y="2015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8432" r="-155081" b="-24961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12418" y="781366"/>
            <a:ext cx="385189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ปัญหาที่พบ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4852933"/>
            <a:ext cx="1723227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FF3131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ตัดกลางคำ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62673" y="2224056"/>
            <a:ext cx="176075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191919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“HI THERE”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62381" y="3388682"/>
            <a:ext cx="1587474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191919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“HI THE”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59126" y="7120556"/>
            <a:ext cx="15180435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 โมเดล ASR ที่มีอยู่ในปัจจุบันยังคงมีข้อจำกัดในการประมวลผลเสียงที่มีความยาว จึงต้องมีการตัดแบ่งเสียงให้ไม่เกิน 30 วินาทีก่อนที่จะนำไปใช้งานในโมเดล เนื่องจากโมเดลส่วนใหญ่ได้รับการเทรนให้ทำเช่นนี้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แต่ยังพบปัญหาในกรณีที่มีบางคำที่ถูกตัดแบ่งกลางระหว่างคำ ทำให้คำสูญเสียความหมายและโมเดลไม่ทราบความหมายของคำ ส่งผลให้ประสิทธิภาพของโมเดลลดลง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3752859" y="2745645"/>
            <a:ext cx="2597484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FF3131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WRONG RESULT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091543" y="4285936"/>
            <a:ext cx="1506374" cy="2228818"/>
          </a:xfrm>
          <a:custGeom>
            <a:avLst/>
            <a:gdLst/>
            <a:ahLst/>
            <a:cxnLst/>
            <a:rect r="r" b="b" t="t" l="l"/>
            <a:pathLst>
              <a:path h="2228818" w="1506374">
                <a:moveTo>
                  <a:pt x="0" y="0"/>
                </a:moveTo>
                <a:lnTo>
                  <a:pt x="1506374" y="0"/>
                </a:lnTo>
                <a:lnTo>
                  <a:pt x="1506374" y="2228819"/>
                </a:lnTo>
                <a:lnTo>
                  <a:pt x="0" y="2228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417688" y="4995825"/>
            <a:ext cx="1947372" cy="1172176"/>
            <a:chOff x="0" y="0"/>
            <a:chExt cx="512888" cy="3087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888" cy="308721"/>
            </a:xfrm>
            <a:custGeom>
              <a:avLst/>
              <a:gdLst/>
              <a:ahLst/>
              <a:cxnLst/>
              <a:rect r="r" b="b" t="t" l="l"/>
              <a:pathLst>
                <a:path h="308721" w="512888">
                  <a:moveTo>
                    <a:pt x="154361" y="0"/>
                  </a:moveTo>
                  <a:lnTo>
                    <a:pt x="358528" y="0"/>
                  </a:lnTo>
                  <a:cubicBezTo>
                    <a:pt x="443779" y="0"/>
                    <a:pt x="512888" y="69110"/>
                    <a:pt x="512888" y="154361"/>
                  </a:cubicBezTo>
                  <a:lnTo>
                    <a:pt x="512888" y="154361"/>
                  </a:lnTo>
                  <a:cubicBezTo>
                    <a:pt x="512888" y="195300"/>
                    <a:pt x="496625" y="234562"/>
                    <a:pt x="467677" y="263510"/>
                  </a:cubicBezTo>
                  <a:cubicBezTo>
                    <a:pt x="438729" y="292458"/>
                    <a:pt x="399467" y="308721"/>
                    <a:pt x="358528" y="308721"/>
                  </a:cubicBezTo>
                  <a:lnTo>
                    <a:pt x="154361" y="308721"/>
                  </a:lnTo>
                  <a:cubicBezTo>
                    <a:pt x="69110" y="308721"/>
                    <a:pt x="0" y="239612"/>
                    <a:pt x="0" y="154361"/>
                  </a:cubicBezTo>
                  <a:lnTo>
                    <a:pt x="0" y="154361"/>
                  </a:lnTo>
                  <a:cubicBezTo>
                    <a:pt x="0" y="69110"/>
                    <a:pt x="69110" y="0"/>
                    <a:pt x="154361" y="0"/>
                  </a:cubicBezTo>
                  <a:close/>
                </a:path>
              </a:pathLst>
            </a:custGeom>
            <a:solidFill>
              <a:srgbClr val="83C4F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12888" cy="37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ASR MODEL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309162" y="5581914"/>
            <a:ext cx="210852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13365060" y="5581914"/>
            <a:ext cx="102003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6223062" y="1966772"/>
            <a:ext cx="3086100" cy="7557483"/>
            <a:chOff x="0" y="0"/>
            <a:chExt cx="812800" cy="1990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990448"/>
            </a:xfrm>
            <a:custGeom>
              <a:avLst/>
              <a:gdLst/>
              <a:ahLst/>
              <a:cxnLst/>
              <a:rect r="r" b="b" t="t" l="l"/>
              <a:pathLst>
                <a:path h="199044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62508"/>
                  </a:lnTo>
                  <a:cubicBezTo>
                    <a:pt x="812800" y="1896439"/>
                    <a:pt x="799321" y="1928982"/>
                    <a:pt x="775327" y="1952975"/>
                  </a:cubicBezTo>
                  <a:cubicBezTo>
                    <a:pt x="751333" y="1976969"/>
                    <a:pt x="718791" y="1990448"/>
                    <a:pt x="684859" y="1990448"/>
                  </a:cubicBezTo>
                  <a:lnTo>
                    <a:pt x="127941" y="1990448"/>
                  </a:lnTo>
                  <a:cubicBezTo>
                    <a:pt x="94009" y="1990448"/>
                    <a:pt x="61467" y="1976969"/>
                    <a:pt x="37473" y="1952975"/>
                  </a:cubicBezTo>
                  <a:cubicBezTo>
                    <a:pt x="13479" y="1928982"/>
                    <a:pt x="0" y="1896439"/>
                    <a:pt x="0" y="186250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812800" cy="1961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50908" y="2361377"/>
            <a:ext cx="2430407" cy="980237"/>
            <a:chOff x="0" y="0"/>
            <a:chExt cx="640107" cy="2581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SLIDING WINDOWS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52557" y="916645"/>
            <a:ext cx="493957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วิธีแก้ไขปัญหา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659" y="4844568"/>
            <a:ext cx="267165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399" b="true">
                <a:solidFill>
                  <a:srgbClr val="7ED957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BETTER RESULT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30286" y="1008490"/>
            <a:ext cx="2671651" cy="63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3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NEW ALGORITHM SEGMENTATION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50908" y="4199178"/>
            <a:ext cx="2430407" cy="980237"/>
            <a:chOff x="0" y="0"/>
            <a:chExt cx="640107" cy="2581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SLIDE </a:t>
              </a:r>
            </a:p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AND SPLIT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50908" y="6036665"/>
            <a:ext cx="2430407" cy="980237"/>
            <a:chOff x="0" y="0"/>
            <a:chExt cx="640107" cy="2581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OVERLAPING</a:t>
              </a:r>
            </a:p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WINDOWS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1646037">
            <a:off x="8551182" y="2709195"/>
            <a:ext cx="366341" cy="36634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69410" lIns="69410" bIns="69410" rIns="69410"/>
            <a:lstStyle/>
            <a:p>
              <a:pPr algn="l">
                <a:lnSpc>
                  <a:spcPts val="188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1646037">
            <a:off x="8551182" y="4628545"/>
            <a:ext cx="366341" cy="36634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69410" lIns="69410" bIns="69410" rIns="69410"/>
            <a:lstStyle/>
            <a:p>
              <a:pPr algn="l">
                <a:lnSpc>
                  <a:spcPts val="188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1646037">
            <a:off x="8551182" y="6462407"/>
            <a:ext cx="366341" cy="36634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69410" lIns="69410" bIns="69410" rIns="69410"/>
            <a:lstStyle/>
            <a:p>
              <a:pPr algn="l">
                <a:lnSpc>
                  <a:spcPts val="188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859020" y="3556953"/>
            <a:ext cx="176075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191919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“HI THERE”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87649" y="5389495"/>
            <a:ext cx="176075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true">
                <a:solidFill>
                  <a:srgbClr val="191919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“HI THERE”</a:t>
            </a:r>
          </a:p>
        </p:txBody>
      </p:sp>
      <p:grpSp>
        <p:nvGrpSpPr>
          <p:cNvPr name="Group 46" id="46"/>
          <p:cNvGrpSpPr/>
          <p:nvPr/>
        </p:nvGrpSpPr>
        <p:grpSpPr>
          <a:xfrm rot="1646037">
            <a:off x="16412193" y="5424712"/>
            <a:ext cx="366341" cy="36634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69410" lIns="69410" bIns="69410" rIns="69410"/>
            <a:lstStyle/>
            <a:p>
              <a:pPr algn="l">
                <a:lnSpc>
                  <a:spcPts val="188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4130849" y="4168114"/>
            <a:ext cx="1158763" cy="2015086"/>
          </a:xfrm>
          <a:custGeom>
            <a:avLst/>
            <a:gdLst/>
            <a:ahLst/>
            <a:cxnLst/>
            <a:rect r="r" b="b" t="t" l="l"/>
            <a:pathLst>
              <a:path h="2015086" w="1158763">
                <a:moveTo>
                  <a:pt x="0" y="0"/>
                </a:moveTo>
                <a:lnTo>
                  <a:pt x="1158763" y="0"/>
                </a:lnTo>
                <a:lnTo>
                  <a:pt x="1158763" y="2015086"/>
                </a:lnTo>
                <a:lnTo>
                  <a:pt x="0" y="2015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8432" r="-155081" b="-24961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6550908" y="7874152"/>
            <a:ext cx="2430407" cy="1285037"/>
            <a:chOff x="0" y="0"/>
            <a:chExt cx="640107" cy="33844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107" cy="338446"/>
            </a:xfrm>
            <a:custGeom>
              <a:avLst/>
              <a:gdLst/>
              <a:ahLst/>
              <a:cxnLst/>
              <a:rect r="r" b="b" t="t" l="l"/>
              <a:pathLst>
                <a:path h="338446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274737"/>
                  </a:lnTo>
                  <a:cubicBezTo>
                    <a:pt x="640107" y="309923"/>
                    <a:pt x="611584" y="338446"/>
                    <a:pt x="576398" y="338446"/>
                  </a:cubicBezTo>
                  <a:lnTo>
                    <a:pt x="63709" y="338446"/>
                  </a:lnTo>
                  <a:cubicBezTo>
                    <a:pt x="28523" y="338446"/>
                    <a:pt x="0" y="309923"/>
                    <a:pt x="0" y="274737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28575"/>
              <a:ext cx="640107" cy="309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MINIMUM AVERAGE AMPLITUDE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1646037">
            <a:off x="8551182" y="8303519"/>
            <a:ext cx="366341" cy="36634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69410" lIns="69410" bIns="69410" rIns="69410"/>
            <a:lstStyle/>
            <a:p>
              <a:pPr algn="l">
                <a:lnSpc>
                  <a:spcPts val="188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52557" y="1012824"/>
            <a:ext cx="450759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วัตถุประสงค์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5439" y="2403186"/>
            <a:ext cx="12277122" cy="7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เพื่อศึกษาเกี่ยวกับเทคโนโลยีต่าง ๆ ที่ใช้ในแบ่งตัดเสียงและการถอดความจากไฟล์เสียงพูดในวิทยุ,โทรทัศน์ และสื่ออื่น ๆ</a:t>
            </a:r>
          </a:p>
        </p:txBody>
      </p:sp>
      <p:grpSp>
        <p:nvGrpSpPr>
          <p:cNvPr name="Group 16" id="16"/>
          <p:cNvGrpSpPr/>
          <p:nvPr/>
        </p:nvGrpSpPr>
        <p:grpSpPr>
          <a:xfrm rot="1646037">
            <a:off x="16412193" y="5424712"/>
            <a:ext cx="366341" cy="3663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69410" lIns="69410" bIns="69410" rIns="69410"/>
            <a:lstStyle/>
            <a:p>
              <a:pPr algn="l">
                <a:lnSpc>
                  <a:spcPts val="188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005439" y="4007765"/>
            <a:ext cx="9887486" cy="38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เพื่อศึกษาและพัฒนาวิธีการทำ SPEECH SEGMENTATION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05439" y="5250393"/>
            <a:ext cx="13996494" cy="7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เพื่อเปรียบเทียบประสิทธิภาพในการถอดความจากไฟล์เสียงของโมเดล WHISPER และ WAV2VEC2 หลังจากการทำ SPEECH SEGMENTATION ที่ได้พัฒนาขึ้นด้วยเทคนิคใหม่ ๆ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05439" y="6673996"/>
            <a:ext cx="13996494" cy="7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พื่อสร้างโปรแกรมถอดความจากไฟล์เสียงพูดในรูปแบบของเว็บแอปพลิเคชันเพื่อใช้ในการเปรียบเทียบประสิทธิภาพของโมเด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05439" y="8278574"/>
            <a:ext cx="12029416" cy="38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จัดทำและเผยแพร่บทความวิจัยสู่สาธารณะ ในรูปแบบของการตีพิมพ์บทความวิจัย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95891" y="2199639"/>
            <a:ext cx="1118803" cy="1118803"/>
            <a:chOff x="0" y="0"/>
            <a:chExt cx="1491738" cy="149173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-270000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446671" y="412136"/>
              <a:ext cx="598395" cy="71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2"/>
                </a:lnSpc>
              </a:pPr>
              <a:r>
                <a:rPr lang="en-US" b="true" sz="3777">
                  <a:solidFill>
                    <a:srgbClr val="DB53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95891" y="3623242"/>
            <a:ext cx="1118803" cy="1118803"/>
            <a:chOff x="0" y="0"/>
            <a:chExt cx="1491738" cy="149173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-270000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446671" y="412136"/>
              <a:ext cx="598395" cy="71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2"/>
                </a:lnSpc>
              </a:pPr>
              <a:r>
                <a:rPr lang="en-US" b="true" sz="3777">
                  <a:solidFill>
                    <a:srgbClr val="DB53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95891" y="5046845"/>
            <a:ext cx="1118803" cy="1118803"/>
            <a:chOff x="0" y="0"/>
            <a:chExt cx="1491738" cy="149173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-270000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446671" y="412136"/>
              <a:ext cx="598395" cy="71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2"/>
                </a:lnSpc>
              </a:pPr>
              <a:r>
                <a:rPr lang="en-US" b="true" sz="3777">
                  <a:solidFill>
                    <a:srgbClr val="DB53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95891" y="6470448"/>
            <a:ext cx="1118803" cy="1118803"/>
            <a:chOff x="0" y="0"/>
            <a:chExt cx="1491738" cy="1491738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-270000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446671" y="412136"/>
              <a:ext cx="598395" cy="71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2"/>
                </a:lnSpc>
              </a:pPr>
              <a:r>
                <a:rPr lang="en-US" b="true" sz="3777">
                  <a:solidFill>
                    <a:srgbClr val="DB53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95891" y="7894052"/>
            <a:ext cx="1118803" cy="1118803"/>
            <a:chOff x="0" y="0"/>
            <a:chExt cx="1491738" cy="1491738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-2700000">
              <a:off x="218460" y="218460"/>
              <a:ext cx="1054818" cy="1054818"/>
              <a:chOff x="0" y="0"/>
              <a:chExt cx="2509874" cy="250987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509874" cy="2509874"/>
              </a:xfrm>
              <a:custGeom>
                <a:avLst/>
                <a:gdLst/>
                <a:ahLst/>
                <a:cxnLst/>
                <a:rect r="r" b="b" t="t" l="l"/>
                <a:pathLst>
                  <a:path h="2509874" w="2509874">
                    <a:moveTo>
                      <a:pt x="0" y="0"/>
                    </a:moveTo>
                    <a:lnTo>
                      <a:pt x="0" y="2509874"/>
                    </a:lnTo>
                    <a:lnTo>
                      <a:pt x="2509874" y="2509874"/>
                    </a:lnTo>
                    <a:lnTo>
                      <a:pt x="2509874" y="0"/>
                    </a:lnTo>
                    <a:lnTo>
                      <a:pt x="0" y="0"/>
                    </a:lnTo>
                    <a:close/>
                    <a:moveTo>
                      <a:pt x="2448914" y="2448914"/>
                    </a:moveTo>
                    <a:lnTo>
                      <a:pt x="59690" y="2448914"/>
                    </a:lnTo>
                    <a:lnTo>
                      <a:pt x="59690" y="59690"/>
                    </a:lnTo>
                    <a:lnTo>
                      <a:pt x="2448914" y="59690"/>
                    </a:lnTo>
                    <a:lnTo>
                      <a:pt x="2448914" y="2448914"/>
                    </a:lnTo>
                    <a:close/>
                  </a:path>
                </a:pathLst>
              </a:custGeom>
              <a:solidFill>
                <a:srgbClr val="006DFF"/>
              </a:solidFill>
            </p:spPr>
          </p:sp>
        </p:grpSp>
        <p:sp>
          <p:nvSpPr>
            <p:cNvPr name="TextBox 52" id="52"/>
            <p:cNvSpPr txBox="true"/>
            <p:nvPr/>
          </p:nvSpPr>
          <p:spPr>
            <a:xfrm rot="0">
              <a:off x="446671" y="412136"/>
              <a:ext cx="598395" cy="71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2"/>
                </a:lnSpc>
              </a:pPr>
              <a:r>
                <a:rPr lang="en-US" b="true" sz="3777">
                  <a:solidFill>
                    <a:srgbClr val="DB53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863349" cy="2038115"/>
            <a:chOff x="0" y="0"/>
            <a:chExt cx="1034580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4580" cy="2442342"/>
            </a:xfrm>
            <a:custGeom>
              <a:avLst/>
              <a:gdLst/>
              <a:ahLst/>
              <a:cxnLst/>
              <a:rect r="r" b="b" t="t" l="l"/>
              <a:pathLst>
                <a:path h="2442342" w="1034580">
                  <a:moveTo>
                    <a:pt x="0" y="0"/>
                  </a:moveTo>
                  <a:lnTo>
                    <a:pt x="0" y="2442342"/>
                  </a:lnTo>
                  <a:lnTo>
                    <a:pt x="1034580" y="2442342"/>
                  </a:lnTo>
                  <a:lnTo>
                    <a:pt x="1034580" y="0"/>
                  </a:lnTo>
                  <a:lnTo>
                    <a:pt x="0" y="0"/>
                  </a:lnTo>
                  <a:close/>
                  <a:moveTo>
                    <a:pt x="973620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973620" y="59690"/>
                  </a:lnTo>
                  <a:lnTo>
                    <a:pt x="973620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21845" y="4584065"/>
            <a:ext cx="8244310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19"/>
              </a:lnSpc>
              <a:spcBef>
                <a:spcPct val="0"/>
              </a:spcBef>
            </a:pPr>
            <a:r>
              <a:rPr lang="en-US" b="true" sz="6399" spc="31" strike="noStrike" u="none">
                <a:solidFill>
                  <a:srgbClr val="050505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ขอบเขตของโครงงาน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5256454" cy="1229542"/>
            <a:chOff x="0" y="0"/>
            <a:chExt cx="6298985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98985" cy="1473402"/>
            </a:xfrm>
            <a:custGeom>
              <a:avLst/>
              <a:gdLst/>
              <a:ahLst/>
              <a:cxnLst/>
              <a:rect r="r" b="b" t="t" l="l"/>
              <a:pathLst>
                <a:path h="1473402" w="6298985">
                  <a:moveTo>
                    <a:pt x="0" y="0"/>
                  </a:moveTo>
                  <a:lnTo>
                    <a:pt x="0" y="1473402"/>
                  </a:lnTo>
                  <a:lnTo>
                    <a:pt x="6298985" y="1473402"/>
                  </a:lnTo>
                  <a:lnTo>
                    <a:pt x="6298985" y="0"/>
                  </a:lnTo>
                  <a:lnTo>
                    <a:pt x="0" y="0"/>
                  </a:lnTo>
                  <a:close/>
                  <a:moveTo>
                    <a:pt x="6238025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6238025" y="59690"/>
                  </a:lnTo>
                  <a:lnTo>
                    <a:pt x="6238025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5179" y="-333804"/>
            <a:ext cx="5564332" cy="747733"/>
            <a:chOff x="0" y="0"/>
            <a:chExt cx="6667926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67926" cy="896034"/>
            </a:xfrm>
            <a:custGeom>
              <a:avLst/>
              <a:gdLst/>
              <a:ahLst/>
              <a:cxnLst/>
              <a:rect r="r" b="b" t="t" l="l"/>
              <a:pathLst>
                <a:path h="896034" w="6667926">
                  <a:moveTo>
                    <a:pt x="0" y="0"/>
                  </a:moveTo>
                  <a:lnTo>
                    <a:pt x="0" y="896034"/>
                  </a:lnTo>
                  <a:lnTo>
                    <a:pt x="6667926" y="896034"/>
                  </a:lnTo>
                  <a:lnTo>
                    <a:pt x="6667926" y="0"/>
                  </a:lnTo>
                  <a:lnTo>
                    <a:pt x="0" y="0"/>
                  </a:lnTo>
                  <a:close/>
                  <a:moveTo>
                    <a:pt x="6606966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6606966" y="59690"/>
                  </a:lnTo>
                  <a:lnTo>
                    <a:pt x="6606966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31561" y="271442"/>
            <a:ext cx="2377955" cy="1359011"/>
            <a:chOff x="0" y="0"/>
            <a:chExt cx="2849584" cy="1628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9584" cy="1628548"/>
            </a:xfrm>
            <a:custGeom>
              <a:avLst/>
              <a:gdLst/>
              <a:ahLst/>
              <a:cxnLst/>
              <a:rect r="r" b="b" t="t" l="l"/>
              <a:pathLst>
                <a:path h="1628548" w="2849584">
                  <a:moveTo>
                    <a:pt x="0" y="0"/>
                  </a:moveTo>
                  <a:lnTo>
                    <a:pt x="0" y="1628548"/>
                  </a:lnTo>
                  <a:lnTo>
                    <a:pt x="2849584" y="1628548"/>
                  </a:lnTo>
                  <a:lnTo>
                    <a:pt x="2849584" y="0"/>
                  </a:lnTo>
                  <a:lnTo>
                    <a:pt x="0" y="0"/>
                  </a:lnTo>
                  <a:close/>
                  <a:moveTo>
                    <a:pt x="2788624" y="1567588"/>
                  </a:moveTo>
                  <a:lnTo>
                    <a:pt x="59690" y="1567588"/>
                  </a:lnTo>
                  <a:lnTo>
                    <a:pt x="59690" y="59690"/>
                  </a:lnTo>
                  <a:lnTo>
                    <a:pt x="2788624" y="59690"/>
                  </a:lnTo>
                  <a:lnTo>
                    <a:pt x="2788624" y="156758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9510" y="6604621"/>
            <a:ext cx="6358757" cy="2396970"/>
            <a:chOff x="0" y="0"/>
            <a:chExt cx="8478343" cy="3195960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0" t="7764" r="0" b="7764"/>
            <a:stretch>
              <a:fillRect/>
            </a:stretch>
          </p:blipFill>
          <p:spPr>
            <a:xfrm flipH="false" flipV="false">
              <a:off x="0" y="0"/>
              <a:ext cx="8478343" cy="3195960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159510" y="2230626"/>
            <a:ext cx="4717432" cy="3112932"/>
            <a:chOff x="0" y="0"/>
            <a:chExt cx="1242451" cy="8198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2451" cy="819867"/>
            </a:xfrm>
            <a:custGeom>
              <a:avLst/>
              <a:gdLst/>
              <a:ahLst/>
              <a:cxnLst/>
              <a:rect r="r" b="b" t="t" l="l"/>
              <a:pathLst>
                <a:path h="819867" w="1242451">
                  <a:moveTo>
                    <a:pt x="0" y="0"/>
                  </a:moveTo>
                  <a:lnTo>
                    <a:pt x="1242451" y="0"/>
                  </a:lnTo>
                  <a:lnTo>
                    <a:pt x="1242451" y="819867"/>
                  </a:lnTo>
                  <a:lnTo>
                    <a:pt x="0" y="8198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42451" cy="791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9510" y="1796870"/>
            <a:ext cx="3403733" cy="460448"/>
            <a:chOff x="0" y="0"/>
            <a:chExt cx="4538311" cy="61393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538311" cy="613931"/>
              <a:chOff x="0" y="0"/>
              <a:chExt cx="896456" cy="1212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96456" cy="121270"/>
              </a:xfrm>
              <a:custGeom>
                <a:avLst/>
                <a:gdLst/>
                <a:ahLst/>
                <a:cxnLst/>
                <a:rect r="r" b="b" t="t" l="l"/>
                <a:pathLst>
                  <a:path h="121270" w="896456">
                    <a:moveTo>
                      <a:pt x="0" y="0"/>
                    </a:moveTo>
                    <a:lnTo>
                      <a:pt x="896456" y="0"/>
                    </a:lnTo>
                    <a:lnTo>
                      <a:pt x="896456" y="121270"/>
                    </a:lnTo>
                    <a:lnTo>
                      <a:pt x="0" y="121270"/>
                    </a:lnTo>
                    <a:close/>
                  </a:path>
                </a:pathLst>
              </a:custGeom>
              <a:solidFill>
                <a:srgbClr val="0049A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96456" cy="1784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61390" y="135261"/>
              <a:ext cx="3794557" cy="381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42"/>
                </a:lnSpc>
              </a:pPr>
              <a:r>
                <a:rPr lang="en-US" sz="21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SEGMENTATION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9510" y="6009299"/>
            <a:ext cx="3403733" cy="595322"/>
            <a:chOff x="0" y="0"/>
            <a:chExt cx="4538311" cy="79376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538311" cy="793763"/>
              <a:chOff x="0" y="0"/>
              <a:chExt cx="896456" cy="15679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96456" cy="156793"/>
              </a:xfrm>
              <a:custGeom>
                <a:avLst/>
                <a:gdLst/>
                <a:ahLst/>
                <a:cxnLst/>
                <a:rect r="r" b="b" t="t" l="l"/>
                <a:pathLst>
                  <a:path h="156793" w="896456">
                    <a:moveTo>
                      <a:pt x="0" y="0"/>
                    </a:moveTo>
                    <a:lnTo>
                      <a:pt x="896456" y="0"/>
                    </a:lnTo>
                    <a:lnTo>
                      <a:pt x="896456" y="156793"/>
                    </a:lnTo>
                    <a:lnTo>
                      <a:pt x="0" y="156793"/>
                    </a:lnTo>
                    <a:close/>
                  </a:path>
                </a:pathLst>
              </a:custGeom>
              <a:solidFill>
                <a:srgbClr val="0049A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896456" cy="2139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61390" y="144786"/>
              <a:ext cx="3794557" cy="55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0"/>
                </a:lnSpc>
              </a:pPr>
              <a:r>
                <a:rPr lang="en-US" sz="30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เว็บแอปพลิเคชัน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7738" y="2606797"/>
            <a:ext cx="1927366" cy="980237"/>
            <a:chOff x="0" y="0"/>
            <a:chExt cx="2569821" cy="130698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463426" cy="1306982"/>
              <a:chOff x="0" y="0"/>
              <a:chExt cx="486603" cy="2581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86603" cy="258169"/>
              </a:xfrm>
              <a:custGeom>
                <a:avLst/>
                <a:gdLst/>
                <a:ahLst/>
                <a:cxnLst/>
                <a:rect r="r" b="b" t="t" l="l"/>
                <a:pathLst>
                  <a:path h="258169" w="486603">
                    <a:moveTo>
                      <a:pt x="83807" y="0"/>
                    </a:moveTo>
                    <a:lnTo>
                      <a:pt x="402796" y="0"/>
                    </a:lnTo>
                    <a:cubicBezTo>
                      <a:pt x="449081" y="0"/>
                      <a:pt x="486603" y="37521"/>
                      <a:pt x="486603" y="83807"/>
                    </a:cubicBezTo>
                    <a:lnTo>
                      <a:pt x="486603" y="174363"/>
                    </a:lnTo>
                    <a:cubicBezTo>
                      <a:pt x="486603" y="220648"/>
                      <a:pt x="449081" y="258169"/>
                      <a:pt x="402796" y="258169"/>
                    </a:cubicBezTo>
                    <a:lnTo>
                      <a:pt x="83807" y="258169"/>
                    </a:lnTo>
                    <a:cubicBezTo>
                      <a:pt x="37521" y="258169"/>
                      <a:pt x="0" y="220648"/>
                      <a:pt x="0" y="174363"/>
                    </a:cubicBezTo>
                    <a:lnTo>
                      <a:pt x="0" y="83807"/>
                    </a:lnTo>
                    <a:cubicBezTo>
                      <a:pt x="0" y="37521"/>
                      <a:pt x="37521" y="0"/>
                      <a:pt x="83807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486603" cy="2295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36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SLIDING WINDOWS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1646037">
              <a:off x="1996310" y="85057"/>
              <a:ext cx="488455" cy="48845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EA9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90500" y="161925"/>
                <a:ext cx="431800" cy="460375"/>
              </a:xfrm>
              <a:prstGeom prst="rect">
                <a:avLst/>
              </a:prstGeom>
            </p:spPr>
            <p:txBody>
              <a:bodyPr anchor="ctr" rtlCol="false" tIns="69410" lIns="69410" bIns="69410" rIns="69410"/>
              <a:lstStyle/>
              <a:p>
                <a:pPr algn="l">
                  <a:lnSpc>
                    <a:spcPts val="1889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3615646" y="2581236"/>
            <a:ext cx="1895194" cy="1005798"/>
            <a:chOff x="0" y="0"/>
            <a:chExt cx="2526926" cy="134106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34082"/>
              <a:ext cx="2463426" cy="1306982"/>
              <a:chOff x="0" y="0"/>
              <a:chExt cx="486603" cy="25816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86603" cy="258169"/>
              </a:xfrm>
              <a:custGeom>
                <a:avLst/>
                <a:gdLst/>
                <a:ahLst/>
                <a:cxnLst/>
                <a:rect r="r" b="b" t="t" l="l"/>
                <a:pathLst>
                  <a:path h="258169" w="486603">
                    <a:moveTo>
                      <a:pt x="83807" y="0"/>
                    </a:moveTo>
                    <a:lnTo>
                      <a:pt x="402796" y="0"/>
                    </a:lnTo>
                    <a:cubicBezTo>
                      <a:pt x="449081" y="0"/>
                      <a:pt x="486603" y="37521"/>
                      <a:pt x="486603" y="83807"/>
                    </a:cubicBezTo>
                    <a:lnTo>
                      <a:pt x="486603" y="174363"/>
                    </a:lnTo>
                    <a:cubicBezTo>
                      <a:pt x="486603" y="220648"/>
                      <a:pt x="449081" y="258169"/>
                      <a:pt x="402796" y="258169"/>
                    </a:cubicBezTo>
                    <a:lnTo>
                      <a:pt x="83807" y="258169"/>
                    </a:lnTo>
                    <a:cubicBezTo>
                      <a:pt x="37521" y="258169"/>
                      <a:pt x="0" y="220648"/>
                      <a:pt x="0" y="174363"/>
                    </a:cubicBezTo>
                    <a:lnTo>
                      <a:pt x="0" y="83807"/>
                    </a:lnTo>
                    <a:cubicBezTo>
                      <a:pt x="0" y="37521"/>
                      <a:pt x="37521" y="0"/>
                      <a:pt x="83807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28575"/>
                <a:ext cx="486603" cy="2295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36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SLIDE AND SPLIT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1646037">
              <a:off x="1953414" y="85057"/>
              <a:ext cx="488455" cy="488455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EA9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90500" y="161925"/>
                <a:ext cx="431800" cy="460375"/>
              </a:xfrm>
              <a:prstGeom prst="rect">
                <a:avLst/>
              </a:prstGeom>
            </p:spPr>
            <p:txBody>
              <a:bodyPr anchor="ctr" rtlCol="false" tIns="69410" lIns="69410" bIns="69410" rIns="69410"/>
              <a:lstStyle/>
              <a:p>
                <a:pPr algn="l">
                  <a:lnSpc>
                    <a:spcPts val="1889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487738" y="3846157"/>
            <a:ext cx="1865526" cy="1005798"/>
            <a:chOff x="0" y="0"/>
            <a:chExt cx="2487368" cy="1341064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34082"/>
              <a:ext cx="2463426" cy="1306982"/>
              <a:chOff x="0" y="0"/>
              <a:chExt cx="486603" cy="25816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86603" cy="258169"/>
              </a:xfrm>
              <a:custGeom>
                <a:avLst/>
                <a:gdLst/>
                <a:ahLst/>
                <a:cxnLst/>
                <a:rect r="r" b="b" t="t" l="l"/>
                <a:pathLst>
                  <a:path h="258169" w="486603">
                    <a:moveTo>
                      <a:pt x="83807" y="0"/>
                    </a:moveTo>
                    <a:lnTo>
                      <a:pt x="402796" y="0"/>
                    </a:lnTo>
                    <a:cubicBezTo>
                      <a:pt x="449081" y="0"/>
                      <a:pt x="486603" y="37521"/>
                      <a:pt x="486603" y="83807"/>
                    </a:cubicBezTo>
                    <a:lnTo>
                      <a:pt x="486603" y="174363"/>
                    </a:lnTo>
                    <a:cubicBezTo>
                      <a:pt x="486603" y="220648"/>
                      <a:pt x="449081" y="258169"/>
                      <a:pt x="402796" y="258169"/>
                    </a:cubicBezTo>
                    <a:lnTo>
                      <a:pt x="83807" y="258169"/>
                    </a:lnTo>
                    <a:cubicBezTo>
                      <a:pt x="37521" y="258169"/>
                      <a:pt x="0" y="220648"/>
                      <a:pt x="0" y="174363"/>
                    </a:cubicBezTo>
                    <a:lnTo>
                      <a:pt x="0" y="83807"/>
                    </a:lnTo>
                    <a:cubicBezTo>
                      <a:pt x="0" y="37521"/>
                      <a:pt x="37521" y="0"/>
                      <a:pt x="83807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28575"/>
                <a:ext cx="486603" cy="2295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36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OVERLAPPING WINDOWS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1646037">
              <a:off x="1913857" y="85057"/>
              <a:ext cx="488455" cy="488455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EA96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90500" y="161925"/>
                <a:ext cx="431800" cy="460375"/>
              </a:xfrm>
              <a:prstGeom prst="rect">
                <a:avLst/>
              </a:prstGeom>
            </p:spPr>
            <p:txBody>
              <a:bodyPr anchor="ctr" rtlCol="false" tIns="69410" lIns="69410" bIns="69410" rIns="69410"/>
              <a:lstStyle/>
              <a:p>
                <a:pPr algn="l">
                  <a:lnSpc>
                    <a:spcPts val="1889"/>
                  </a:lnSpc>
                </a:pP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1028700" y="952888"/>
            <a:ext cx="750449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ขอบเขตของโครงงาน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52249" y="2926529"/>
            <a:ext cx="9102343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ศึกษาและทำการพัฒนา Algorithm การแบ่งส่วนเสียงของโมเดล ASR บน 2 โมเดล คือ Whisper และ Wav2Vec2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พัฒนาโปรแกรมถอดความจากไฟล์เสียงพูดในรูปแบบของ Web application โดยผู้ใช้งานสามารถเลือกโมเดลจาก ตัวเลือกในข้อ 1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วัดผลประสิทธิภาพของ Algorithm ที่ได้รับการพัฒนาแล้วด้วยการเปรียบเทียบโมเดลที่ใช้ Algorithm การตัดแบ่งเสียงตั้งต้น (ตัดทุก 30 วินาที) กับโมเดลที่ใช้ Algorithm การตัดแบ่งส่วนเสียงที่พัฒนาขึ้นมา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ดำเนินการวิธีการตัดแบ่งเสียงด้วยภาษา python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46" id="46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8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615646" y="3843566"/>
            <a:ext cx="1895194" cy="1008389"/>
            <a:chOff x="0" y="0"/>
            <a:chExt cx="2526926" cy="1344518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34082"/>
              <a:ext cx="2463426" cy="1310437"/>
              <a:chOff x="0" y="0"/>
              <a:chExt cx="486603" cy="258852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86603" cy="258852"/>
              </a:xfrm>
              <a:custGeom>
                <a:avLst/>
                <a:gdLst/>
                <a:ahLst/>
                <a:cxnLst/>
                <a:rect r="r" b="b" t="t" l="l"/>
                <a:pathLst>
                  <a:path h="258852" w="486603">
                    <a:moveTo>
                      <a:pt x="83807" y="0"/>
                    </a:moveTo>
                    <a:lnTo>
                      <a:pt x="402796" y="0"/>
                    </a:lnTo>
                    <a:cubicBezTo>
                      <a:pt x="449081" y="0"/>
                      <a:pt x="486603" y="37521"/>
                      <a:pt x="486603" y="83807"/>
                    </a:cubicBezTo>
                    <a:lnTo>
                      <a:pt x="486603" y="175045"/>
                    </a:lnTo>
                    <a:cubicBezTo>
                      <a:pt x="486603" y="221330"/>
                      <a:pt x="449081" y="258852"/>
                      <a:pt x="402796" y="258852"/>
                    </a:cubicBezTo>
                    <a:lnTo>
                      <a:pt x="83807" y="258852"/>
                    </a:lnTo>
                    <a:cubicBezTo>
                      <a:pt x="37521" y="258852"/>
                      <a:pt x="0" y="221330"/>
                      <a:pt x="0" y="175045"/>
                    </a:cubicBezTo>
                    <a:lnTo>
                      <a:pt x="0" y="83807"/>
                    </a:lnTo>
                    <a:cubicBezTo>
                      <a:pt x="0" y="37521"/>
                      <a:pt x="37521" y="0"/>
                      <a:pt x="83807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8575"/>
                <a:ext cx="486603" cy="2302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36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MINIMUM AVERAGE AMPLITUDE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1646037">
              <a:off x="1953414" y="85057"/>
              <a:ext cx="488455" cy="488455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EA96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190500" y="161925"/>
                <a:ext cx="431800" cy="460375"/>
              </a:xfrm>
              <a:prstGeom prst="rect">
                <a:avLst/>
              </a:prstGeom>
            </p:spPr>
            <p:txBody>
              <a:bodyPr anchor="ctr" rtlCol="false" tIns="69410" lIns="69410" bIns="69410" rIns="69410"/>
              <a:lstStyle/>
              <a:p>
                <a:pPr algn="l">
                  <a:lnSpc>
                    <a:spcPts val="188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5256454" cy="1229542"/>
            <a:chOff x="0" y="0"/>
            <a:chExt cx="6298985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98985" cy="1473402"/>
            </a:xfrm>
            <a:custGeom>
              <a:avLst/>
              <a:gdLst/>
              <a:ahLst/>
              <a:cxnLst/>
              <a:rect r="r" b="b" t="t" l="l"/>
              <a:pathLst>
                <a:path h="1473402" w="6298985">
                  <a:moveTo>
                    <a:pt x="0" y="0"/>
                  </a:moveTo>
                  <a:lnTo>
                    <a:pt x="0" y="1473402"/>
                  </a:lnTo>
                  <a:lnTo>
                    <a:pt x="6298985" y="1473402"/>
                  </a:lnTo>
                  <a:lnTo>
                    <a:pt x="6298985" y="0"/>
                  </a:lnTo>
                  <a:lnTo>
                    <a:pt x="0" y="0"/>
                  </a:lnTo>
                  <a:close/>
                  <a:moveTo>
                    <a:pt x="6238025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6238025" y="59690"/>
                  </a:lnTo>
                  <a:lnTo>
                    <a:pt x="6238025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5179" y="-333804"/>
            <a:ext cx="5564332" cy="747733"/>
            <a:chOff x="0" y="0"/>
            <a:chExt cx="6667926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67926" cy="896034"/>
            </a:xfrm>
            <a:custGeom>
              <a:avLst/>
              <a:gdLst/>
              <a:ahLst/>
              <a:cxnLst/>
              <a:rect r="r" b="b" t="t" l="l"/>
              <a:pathLst>
                <a:path h="896034" w="6667926">
                  <a:moveTo>
                    <a:pt x="0" y="0"/>
                  </a:moveTo>
                  <a:lnTo>
                    <a:pt x="0" y="896034"/>
                  </a:lnTo>
                  <a:lnTo>
                    <a:pt x="6667926" y="896034"/>
                  </a:lnTo>
                  <a:lnTo>
                    <a:pt x="6667926" y="0"/>
                  </a:lnTo>
                  <a:lnTo>
                    <a:pt x="0" y="0"/>
                  </a:lnTo>
                  <a:close/>
                  <a:moveTo>
                    <a:pt x="6606966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6606966" y="59690"/>
                  </a:lnTo>
                  <a:lnTo>
                    <a:pt x="6606966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31561" y="271442"/>
            <a:ext cx="2377955" cy="1359011"/>
            <a:chOff x="0" y="0"/>
            <a:chExt cx="2849584" cy="1628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9584" cy="1628548"/>
            </a:xfrm>
            <a:custGeom>
              <a:avLst/>
              <a:gdLst/>
              <a:ahLst/>
              <a:cxnLst/>
              <a:rect r="r" b="b" t="t" l="l"/>
              <a:pathLst>
                <a:path h="1628548" w="2849584">
                  <a:moveTo>
                    <a:pt x="0" y="0"/>
                  </a:moveTo>
                  <a:lnTo>
                    <a:pt x="0" y="1628548"/>
                  </a:lnTo>
                  <a:lnTo>
                    <a:pt x="2849584" y="1628548"/>
                  </a:lnTo>
                  <a:lnTo>
                    <a:pt x="2849584" y="0"/>
                  </a:lnTo>
                  <a:lnTo>
                    <a:pt x="0" y="0"/>
                  </a:lnTo>
                  <a:close/>
                  <a:moveTo>
                    <a:pt x="2788624" y="1567588"/>
                  </a:moveTo>
                  <a:lnTo>
                    <a:pt x="59690" y="1567588"/>
                  </a:lnTo>
                  <a:lnTo>
                    <a:pt x="59690" y="59690"/>
                  </a:lnTo>
                  <a:lnTo>
                    <a:pt x="2788624" y="59690"/>
                  </a:lnTo>
                  <a:lnTo>
                    <a:pt x="2788624" y="156758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9510" y="6009299"/>
            <a:ext cx="3403733" cy="595322"/>
            <a:chOff x="0" y="0"/>
            <a:chExt cx="4538311" cy="793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538311" cy="793763"/>
              <a:chOff x="0" y="0"/>
              <a:chExt cx="896456" cy="1567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96456" cy="156793"/>
              </a:xfrm>
              <a:custGeom>
                <a:avLst/>
                <a:gdLst/>
                <a:ahLst/>
                <a:cxnLst/>
                <a:rect r="r" b="b" t="t" l="l"/>
                <a:pathLst>
                  <a:path h="156793" w="896456">
                    <a:moveTo>
                      <a:pt x="0" y="0"/>
                    </a:moveTo>
                    <a:lnTo>
                      <a:pt x="896456" y="0"/>
                    </a:lnTo>
                    <a:lnTo>
                      <a:pt x="896456" y="156793"/>
                    </a:lnTo>
                    <a:lnTo>
                      <a:pt x="0" y="156793"/>
                    </a:lnTo>
                    <a:close/>
                  </a:path>
                </a:pathLst>
              </a:custGeom>
              <a:solidFill>
                <a:srgbClr val="0049A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896456" cy="2139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61390" y="144786"/>
              <a:ext cx="3794557" cy="55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0"/>
                </a:lnSpc>
              </a:pPr>
              <a:r>
                <a:rPr lang="en-US" sz="30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ข้อมูลที่ใช้ทดสอบ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842516"/>
            <a:ext cx="888647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ขอบเขตของโครงงาน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5649" y="3008326"/>
            <a:ext cx="9274890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การตัดแบ่งเสียงแต่ละท่อนจะมีความยาวไม่เกิน 30 วินาที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ทดสอบประสิทธิของโมเดลด้วยคลิปวิดีโอ กับ subtitles ของคลิปนั้น ๆ จำนวน 10 คลิป ยาวประมาณ 30 นาที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ลักษณะของไฟล์เสียงที่รับเข้าเป็น .wav และ .mp3 เท่านั้น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ในการดำเนินการทดสอบ จะใช้ข้อมูลเสียงที่เป็นภาษาอังกฤษเท่านั้น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จัดทำบทความวิจัยที่พร้อมสำหรับการส่งตีพิมพ์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59510" y="2422529"/>
            <a:ext cx="3403733" cy="595322"/>
            <a:chOff x="0" y="0"/>
            <a:chExt cx="4538311" cy="79376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538311" cy="793763"/>
              <a:chOff x="0" y="0"/>
              <a:chExt cx="896456" cy="15679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96456" cy="156793"/>
              </a:xfrm>
              <a:custGeom>
                <a:avLst/>
                <a:gdLst/>
                <a:ahLst/>
                <a:cxnLst/>
                <a:rect r="r" b="b" t="t" l="l"/>
                <a:pathLst>
                  <a:path h="156793" w="896456">
                    <a:moveTo>
                      <a:pt x="0" y="0"/>
                    </a:moveTo>
                    <a:lnTo>
                      <a:pt x="896456" y="0"/>
                    </a:lnTo>
                    <a:lnTo>
                      <a:pt x="896456" y="156793"/>
                    </a:lnTo>
                    <a:lnTo>
                      <a:pt x="0" y="156793"/>
                    </a:lnTo>
                    <a:close/>
                  </a:path>
                </a:pathLst>
              </a:custGeom>
              <a:solidFill>
                <a:srgbClr val="0049A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896456" cy="2139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61390" y="144786"/>
              <a:ext cx="3794557" cy="55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0"/>
                </a:lnSpc>
              </a:pPr>
              <a:r>
                <a:rPr lang="en-US" sz="30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การทดสอบ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9510" y="3017851"/>
            <a:ext cx="6358757" cy="2396970"/>
            <a:chOff x="0" y="0"/>
            <a:chExt cx="1674734" cy="6313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74734" cy="631301"/>
            </a:xfrm>
            <a:custGeom>
              <a:avLst/>
              <a:gdLst/>
              <a:ahLst/>
              <a:cxnLst/>
              <a:rect r="r" b="b" t="t" l="l"/>
              <a:pathLst>
                <a:path h="631301" w="1674734">
                  <a:moveTo>
                    <a:pt x="0" y="0"/>
                  </a:moveTo>
                  <a:lnTo>
                    <a:pt x="1674734" y="0"/>
                  </a:lnTo>
                  <a:lnTo>
                    <a:pt x="1674734" y="631301"/>
                  </a:lnTo>
                  <a:lnTo>
                    <a:pt x="0" y="6313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674734" cy="602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953980" y="3682936"/>
            <a:ext cx="126138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spc="35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53980" y="4444517"/>
            <a:ext cx="121766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spc="35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CER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81467" y="3726217"/>
            <a:ext cx="2023000" cy="980237"/>
            <a:chOff x="0" y="0"/>
            <a:chExt cx="532806" cy="2581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2806" cy="258169"/>
            </a:xfrm>
            <a:custGeom>
              <a:avLst/>
              <a:gdLst/>
              <a:ahLst/>
              <a:cxnLst/>
              <a:rect r="r" b="b" t="t" l="l"/>
              <a:pathLst>
                <a:path h="258169" w="532806">
                  <a:moveTo>
                    <a:pt x="76539" y="0"/>
                  </a:moveTo>
                  <a:lnTo>
                    <a:pt x="456267" y="0"/>
                  </a:lnTo>
                  <a:cubicBezTo>
                    <a:pt x="498539" y="0"/>
                    <a:pt x="532806" y="34268"/>
                    <a:pt x="532806" y="76539"/>
                  </a:cubicBezTo>
                  <a:lnTo>
                    <a:pt x="532806" y="181630"/>
                  </a:lnTo>
                  <a:cubicBezTo>
                    <a:pt x="532806" y="223902"/>
                    <a:pt x="498539" y="258169"/>
                    <a:pt x="456267" y="258169"/>
                  </a:cubicBezTo>
                  <a:lnTo>
                    <a:pt x="76539" y="258169"/>
                  </a:lnTo>
                  <a:cubicBezTo>
                    <a:pt x="34268" y="258169"/>
                    <a:pt x="0" y="223902"/>
                    <a:pt x="0" y="181630"/>
                  </a:cubicBezTo>
                  <a:lnTo>
                    <a:pt x="0" y="76539"/>
                  </a:lnTo>
                  <a:cubicBezTo>
                    <a:pt x="0" y="34268"/>
                    <a:pt x="34268" y="0"/>
                    <a:pt x="7653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532806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36"/>
                </a:lnSpc>
              </a:pPr>
              <a:r>
                <a:rPr lang="en-US" b="true" sz="18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 ALGORITHM</a:t>
              </a:r>
            </a:p>
            <a:p>
              <a:pPr algn="ctr">
                <a:lnSpc>
                  <a:spcPts val="1836"/>
                </a:lnSpc>
              </a:pPr>
              <a:r>
                <a:rPr lang="en-US" b="true" sz="18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SEGMENTATION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05438" y="3726217"/>
            <a:ext cx="1847569" cy="980237"/>
            <a:chOff x="0" y="0"/>
            <a:chExt cx="486603" cy="2581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6603" cy="258169"/>
            </a:xfrm>
            <a:custGeom>
              <a:avLst/>
              <a:gdLst/>
              <a:ahLst/>
              <a:cxnLst/>
              <a:rect r="r" b="b" t="t" l="l"/>
              <a:pathLst>
                <a:path h="258169" w="486603">
                  <a:moveTo>
                    <a:pt x="83807" y="0"/>
                  </a:moveTo>
                  <a:lnTo>
                    <a:pt x="402796" y="0"/>
                  </a:lnTo>
                  <a:cubicBezTo>
                    <a:pt x="449081" y="0"/>
                    <a:pt x="486603" y="37521"/>
                    <a:pt x="486603" y="83807"/>
                  </a:cubicBezTo>
                  <a:lnTo>
                    <a:pt x="486603" y="174363"/>
                  </a:lnTo>
                  <a:cubicBezTo>
                    <a:pt x="486603" y="220648"/>
                    <a:pt x="449081" y="258169"/>
                    <a:pt x="402796" y="258169"/>
                  </a:cubicBezTo>
                  <a:lnTo>
                    <a:pt x="83807" y="258169"/>
                  </a:lnTo>
                  <a:cubicBezTo>
                    <a:pt x="37521" y="258169"/>
                    <a:pt x="0" y="220648"/>
                    <a:pt x="0" y="174363"/>
                  </a:cubicBezTo>
                  <a:lnTo>
                    <a:pt x="0" y="83807"/>
                  </a:lnTo>
                  <a:cubicBezTo>
                    <a:pt x="0" y="37521"/>
                    <a:pt x="37521" y="0"/>
                    <a:pt x="83807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486603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36"/>
                </a:lnSpc>
              </a:pPr>
              <a:r>
                <a:rPr lang="en-US" b="true" sz="18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ASR MODEL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811219" y="6953095"/>
            <a:ext cx="2707048" cy="1624229"/>
          </a:xfrm>
          <a:custGeom>
            <a:avLst/>
            <a:gdLst/>
            <a:ahLst/>
            <a:cxnLst/>
            <a:rect r="r" b="b" t="t" l="l"/>
            <a:pathLst>
              <a:path h="1624229" w="2707048">
                <a:moveTo>
                  <a:pt x="0" y="0"/>
                </a:moveTo>
                <a:lnTo>
                  <a:pt x="2707049" y="0"/>
                </a:lnTo>
                <a:lnTo>
                  <a:pt x="2707049" y="1624229"/>
                </a:lnTo>
                <a:lnTo>
                  <a:pt x="0" y="1624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59510" y="6945890"/>
            <a:ext cx="2900326" cy="1631434"/>
          </a:xfrm>
          <a:custGeom>
            <a:avLst/>
            <a:gdLst/>
            <a:ahLst/>
            <a:cxnLst/>
            <a:rect r="r" b="b" t="t" l="l"/>
            <a:pathLst>
              <a:path h="1631434" w="2900326">
                <a:moveTo>
                  <a:pt x="0" y="0"/>
                </a:moveTo>
                <a:lnTo>
                  <a:pt x="2900327" y="0"/>
                </a:lnTo>
                <a:lnTo>
                  <a:pt x="2900327" y="1631434"/>
                </a:lnTo>
                <a:lnTo>
                  <a:pt x="0" y="1631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135947" y="7925749"/>
            <a:ext cx="591026" cy="651575"/>
          </a:xfrm>
          <a:custGeom>
            <a:avLst/>
            <a:gdLst/>
            <a:ahLst/>
            <a:cxnLst/>
            <a:rect r="r" b="b" t="t" l="l"/>
            <a:pathLst>
              <a:path h="651575" w="591026">
                <a:moveTo>
                  <a:pt x="0" y="0"/>
                </a:moveTo>
                <a:lnTo>
                  <a:pt x="591026" y="0"/>
                </a:lnTo>
                <a:lnTo>
                  <a:pt x="591026" y="651575"/>
                </a:lnTo>
                <a:lnTo>
                  <a:pt x="0" y="65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22" t="0" r="-5122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135947" y="6945890"/>
            <a:ext cx="599162" cy="701159"/>
          </a:xfrm>
          <a:custGeom>
            <a:avLst/>
            <a:gdLst/>
            <a:ahLst/>
            <a:cxnLst/>
            <a:rect r="r" b="b" t="t" l="l"/>
            <a:pathLst>
              <a:path h="701159" w="599162">
                <a:moveTo>
                  <a:pt x="0" y="0"/>
                </a:moveTo>
                <a:lnTo>
                  <a:pt x="599162" y="0"/>
                </a:lnTo>
                <a:lnTo>
                  <a:pt x="599162" y="701159"/>
                </a:lnTo>
                <a:lnTo>
                  <a:pt x="0" y="701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11" t="0" r="-8511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863349" cy="2038115"/>
            <a:chOff x="0" y="0"/>
            <a:chExt cx="1034580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4580" cy="2442342"/>
            </a:xfrm>
            <a:custGeom>
              <a:avLst/>
              <a:gdLst/>
              <a:ahLst/>
              <a:cxnLst/>
              <a:rect r="r" b="b" t="t" l="l"/>
              <a:pathLst>
                <a:path h="2442342" w="1034580">
                  <a:moveTo>
                    <a:pt x="0" y="0"/>
                  </a:moveTo>
                  <a:lnTo>
                    <a:pt x="0" y="2442342"/>
                  </a:lnTo>
                  <a:lnTo>
                    <a:pt x="1034580" y="2442342"/>
                  </a:lnTo>
                  <a:lnTo>
                    <a:pt x="1034580" y="0"/>
                  </a:lnTo>
                  <a:lnTo>
                    <a:pt x="0" y="0"/>
                  </a:lnTo>
                  <a:close/>
                  <a:moveTo>
                    <a:pt x="973620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973620" y="59690"/>
                  </a:lnTo>
                  <a:lnTo>
                    <a:pt x="973620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0685" y="9692920"/>
            <a:ext cx="8123399" cy="967946"/>
            <a:chOff x="0" y="0"/>
            <a:chExt cx="9734542" cy="11599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34541" cy="1159923"/>
            </a:xfrm>
            <a:custGeom>
              <a:avLst/>
              <a:gdLst/>
              <a:ahLst/>
              <a:cxnLst/>
              <a:rect r="r" b="b" t="t" l="l"/>
              <a:pathLst>
                <a:path h="1159923" w="9734541">
                  <a:moveTo>
                    <a:pt x="0" y="0"/>
                  </a:moveTo>
                  <a:lnTo>
                    <a:pt x="0" y="1159923"/>
                  </a:lnTo>
                  <a:lnTo>
                    <a:pt x="9734541" y="1159923"/>
                  </a:lnTo>
                  <a:lnTo>
                    <a:pt x="9734541" y="0"/>
                  </a:lnTo>
                  <a:lnTo>
                    <a:pt x="0" y="0"/>
                  </a:lnTo>
                  <a:close/>
                  <a:moveTo>
                    <a:pt x="9673582" y="1098962"/>
                  </a:moveTo>
                  <a:lnTo>
                    <a:pt x="59690" y="1098962"/>
                  </a:lnTo>
                  <a:lnTo>
                    <a:pt x="59690" y="59690"/>
                  </a:lnTo>
                  <a:lnTo>
                    <a:pt x="9673582" y="59690"/>
                  </a:lnTo>
                  <a:lnTo>
                    <a:pt x="9673582" y="109896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378833" y="4584065"/>
            <a:ext cx="7530333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45095" y="3210475"/>
            <a:ext cx="6197810" cy="4434557"/>
          </a:xfrm>
          <a:custGeom>
            <a:avLst/>
            <a:gdLst/>
            <a:ahLst/>
            <a:cxnLst/>
            <a:rect r="r" b="b" t="t" l="l"/>
            <a:pathLst>
              <a:path h="4434557" w="6197810">
                <a:moveTo>
                  <a:pt x="0" y="0"/>
                </a:moveTo>
                <a:lnTo>
                  <a:pt x="6197810" y="0"/>
                </a:lnTo>
                <a:lnTo>
                  <a:pt x="6197810" y="4434557"/>
                </a:lnTo>
                <a:lnTo>
                  <a:pt x="0" y="4434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188" t="-16946" r="-5098" b="-1527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47413" y="1301839"/>
            <a:ext cx="179317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spc="18" b="true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Whisper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73325" y="1909995"/>
            <a:ext cx="1314135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Whisper เป็นเทคโนโลยีการประมวลผลเสียงแบบเรียลไทม์ที่พัฒนาโดย OpenAI เป็นโมเดลการ</a:t>
            </a: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รู้จำคำพูด (ASR) ที่ใช้งานสำหรับเสียงทั่วๆไป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0124" y="3429010"/>
            <a:ext cx="380028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ใช้ Transformer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เทรนโดยใช้ข้อมูล Multitask training กว่า 680k ชม.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เรียนรู้แบบsupervised 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2772" y="7711707"/>
            <a:ext cx="864245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A. Radford, J. W. Kim, T. Xu, G. Brockman, C. McLeavey and I. Sutskever. “Robust Speech Recognition via Large-Scale Weak Supervision”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982487" y="3164549"/>
            <a:ext cx="8323027" cy="4205087"/>
          </a:xfrm>
          <a:custGeom>
            <a:avLst/>
            <a:gdLst/>
            <a:ahLst/>
            <a:cxnLst/>
            <a:rect r="r" b="b" t="t" l="l"/>
            <a:pathLst>
              <a:path h="4205087" w="8323027">
                <a:moveTo>
                  <a:pt x="0" y="0"/>
                </a:moveTo>
                <a:lnTo>
                  <a:pt x="8323026" y="0"/>
                </a:lnTo>
                <a:lnTo>
                  <a:pt x="8323026" y="4205087"/>
                </a:lnTo>
                <a:lnTo>
                  <a:pt x="0" y="4205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36" t="0" r="0" b="-1077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019580" y="1248988"/>
            <a:ext cx="22488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Futura Bold"/>
                <a:ea typeface="Futura Bold"/>
                <a:cs typeface="Futura Bold"/>
                <a:sym typeface="Futura Bold"/>
              </a:rPr>
              <a:t>Wav2Vec2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862370"/>
            <a:ext cx="13141350" cy="103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เป็นโมเดลปัญญาประดิษฐ์ (AI) จาก Facebook Research ที่ถูกออกแบบมาเพื่อแปลง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เสียงพูดให้เป็นข้อความ (Speech-to-Text) ด้วยความแม่นยำสูง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75619" y="4035524"/>
            <a:ext cx="3800283" cy="21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ใช้ Transformer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ประกอบไปด้วย 2 ส่วนหลัก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Encoder ทำหน้าที่แปลงเสียงพูด ให้โมเดลเข้าใจ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Decoder: ทำหน้าที่ แปลงข้อมูลที่ ได้จาก Encoder ไปเป็นข้อความ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70820" y="8073398"/>
            <a:ext cx="7946359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A. Baevski, H. Zhou, A. Mohamed and M. Auli. “Wav2Vec 2.0: A Framework for Self-Supervised Learning of Speech Representations”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674820" y="3579055"/>
            <a:ext cx="10938361" cy="4105848"/>
          </a:xfrm>
          <a:custGeom>
            <a:avLst/>
            <a:gdLst/>
            <a:ahLst/>
            <a:cxnLst/>
            <a:rect r="r" b="b" t="t" l="l"/>
            <a:pathLst>
              <a:path h="4105848" w="10938361">
                <a:moveTo>
                  <a:pt x="0" y="0"/>
                </a:moveTo>
                <a:lnTo>
                  <a:pt x="10938360" y="0"/>
                </a:lnTo>
                <a:lnTo>
                  <a:pt x="10938360" y="4105849"/>
                </a:lnTo>
                <a:lnTo>
                  <a:pt x="0" y="410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07230" y="1301839"/>
            <a:ext cx="4673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Deep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909995"/>
            <a:ext cx="1314135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คือสาขาแขนงหนึ่งของ Machine Learning ที่เลียนแบบการทำงาน จากระบบ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เซลล์ประสาทในสมองของมนุษย์(Neural Network) โดยโครงสร้างของ Neural Network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7230" y="1301839"/>
            <a:ext cx="4673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Transformer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909995"/>
            <a:ext cx="1314135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เป็นสถาปัตยกรรมนิวรัลเน็ตเวิร์กชนิดหนึ่งที่แปลงหรือเปลี่ยนลำดับอินพุตเป็นลำดับเอาต์พุต ซึ่งทำเช่นนี้ได้โดยการเรียนรู้บริบทและติดตามความสัมพันธ์ระหว่างองค์ประกอบตามลำดับ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416574" y="3219416"/>
            <a:ext cx="3454852" cy="4868602"/>
          </a:xfrm>
          <a:custGeom>
            <a:avLst/>
            <a:gdLst/>
            <a:ahLst/>
            <a:cxnLst/>
            <a:rect r="r" b="b" t="t" l="l"/>
            <a:pathLst>
              <a:path h="4868602" w="3454852">
                <a:moveTo>
                  <a:pt x="0" y="0"/>
                </a:moveTo>
                <a:lnTo>
                  <a:pt x="3454852" y="0"/>
                </a:lnTo>
                <a:lnTo>
                  <a:pt x="3454852" y="4868602"/>
                </a:lnTo>
                <a:lnTo>
                  <a:pt x="0" y="4868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127672" y="8364243"/>
            <a:ext cx="1003265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A. Vaswani, N. Shazeer, N. Parmar, J. Uszkoreit, L. Jones, A. N. Gomez, L. Kaiser and I. Polosukhin. “Attention Is All You Need”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7230" y="1301839"/>
            <a:ext cx="467354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Conformer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909995"/>
            <a:ext cx="1314135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เป็นสถาปัตยกรรมที่ถูกพัฒนาขึ้นมาจาก Transformer เพื่อเน้นใช้ในงานประเภทการประมวลผลเสียง (audio processing) โดยเฉพาะ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27672" y="8132220"/>
            <a:ext cx="1003265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A. Gulati, J. Qin, C.C. Chiu, N. Parmar, Y. Zhang, J. Yu, W. Han, S. Wang and et al. “Conformer: Convolution-augmented Transformer for Speech Recognition”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052651" y="3210475"/>
            <a:ext cx="4182697" cy="4696362"/>
          </a:xfrm>
          <a:custGeom>
            <a:avLst/>
            <a:gdLst/>
            <a:ahLst/>
            <a:cxnLst/>
            <a:rect r="r" b="b" t="t" l="l"/>
            <a:pathLst>
              <a:path h="4696362" w="4182697">
                <a:moveTo>
                  <a:pt x="0" y="0"/>
                </a:moveTo>
                <a:lnTo>
                  <a:pt x="4182698" y="0"/>
                </a:lnTo>
                <a:lnTo>
                  <a:pt x="4182698" y="4696362"/>
                </a:lnTo>
                <a:lnTo>
                  <a:pt x="0" y="4696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60388" y="1301839"/>
            <a:ext cx="616722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Speech segmentation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909995"/>
            <a:ext cx="1314135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การแบ่งส่วนคำพูด ซึ่งเป็นกระบวนการแบ่งลำดับเสียงพูดต่อเนื่องออกเป็นหน่วยย่อยๆ ที่มีความหมาย เช่น คำ วลี หรือประโยค เปรียบเสมือนการแยกตัวอักษรออกจากประโยคเพื่ออ่าน ซึ่งการแบ่งส่วนคำพูดมีความสำคัญต่อระบบประมวลผลภาษาพูดหลายประเภท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998864" y="3705775"/>
            <a:ext cx="8290271" cy="5134944"/>
          </a:xfrm>
          <a:custGeom>
            <a:avLst/>
            <a:gdLst/>
            <a:ahLst/>
            <a:cxnLst/>
            <a:rect r="r" b="b" t="t" l="l"/>
            <a:pathLst>
              <a:path h="5134944" w="8290271">
                <a:moveTo>
                  <a:pt x="0" y="0"/>
                </a:moveTo>
                <a:lnTo>
                  <a:pt x="8290272" y="0"/>
                </a:lnTo>
                <a:lnTo>
                  <a:pt x="8290272" y="5134944"/>
                </a:lnTo>
                <a:lnTo>
                  <a:pt x="0" y="5134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62979" y="1508916"/>
            <a:ext cx="816344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Voice Activity Detection (VAD)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74026" y="2500512"/>
            <a:ext cx="13141350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Voice Activity Detection (VAD) เป็นเทคโนโลยีที่จำเป็นในระบบการสื่อสารและประมวลผลเสียง มีจุดประสงค์เพื่อระบุว่าเสียงใดคือคำพูดของมนุษย์ ทำงานโดยการวิเคราะห์สัญญาณเสียงเพื่อแยกความแตกต่างระหว่างส่วนที่เป็นคำพูดและส่วนที่ไม่ใช่คำพูด โดยทั่วไปจะทำโดยการวัดระดับพลังงาน ปริมาณความถี่ และแพทเทิร์นในเสียง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74026" y="5953125"/>
            <a:ext cx="13345343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Energy Thresholds สำหรับตรวจสอบว่าสัญญาณที่ได้รับนั้นเป็นเสียงพูดหรือไม่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Zero Crossing Rate (ZCR) วัดอัตราที่สัญญาณเปลี่ยนจากบวกเป็นลบและลบเป็นบวก ซึ่งบ่งบอกถึงความถี่และการแสดงเสียงพูด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Mel-Frequency Cepstral Coefficients (MFCC) ใช้เพื่อบันทึกลักษณะเฉพาะของคำพูดของมนุษย์ ทำให้ระบบเรียนรู้แพทเทิร์นและสามารถคาดการณ์ได้อย่างแม่นยำ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6551" y="5124450"/>
            <a:ext cx="5956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ปัจจัยหลักที่สำคัญใน Voice Activity Detection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139224" y="4276640"/>
            <a:ext cx="6009553" cy="4507165"/>
          </a:xfrm>
          <a:custGeom>
            <a:avLst/>
            <a:gdLst/>
            <a:ahLst/>
            <a:cxnLst/>
            <a:rect r="r" b="b" t="t" l="l"/>
            <a:pathLst>
              <a:path h="4507165" w="6009553">
                <a:moveTo>
                  <a:pt x="0" y="0"/>
                </a:moveTo>
                <a:lnTo>
                  <a:pt x="6009552" y="0"/>
                </a:lnTo>
                <a:lnTo>
                  <a:pt x="6009552" y="4507165"/>
                </a:lnTo>
                <a:lnTo>
                  <a:pt x="0" y="4507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62278" y="1508916"/>
            <a:ext cx="816344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Levenshtein Distance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00048" y="2471335"/>
            <a:ext cx="14148652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Levenshtein distance เป็นการวัดความแตกต่างระหว่างสตริงสองตัว (หรือข้อความสองชุด) โดยนับจำนวนขั้นตอนขั้นต่ำที่ต้องใช้ในการแก้ไขข้อความหนึ่งให้กลายเป็นข้อความอีกข้อความหนึ่ง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ขั้นตอนเหล่านี้ประกอบด้วยการ แทรก (insert), ลบ (delete), หรือ แทนที่ (substitute) อักขระ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60388" y="1301839"/>
            <a:ext cx="616722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Word Error Rate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909995"/>
            <a:ext cx="1314135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WER หรือ Word Error Rate เป็นตัวชี้วัดที่ใช้ประเมินความแม่นยำของโมเดล ASR โดยคำนวณจาก จำนวนคำที่ผิดหารด้วยจำนวนคำทั้งหมดที่มี โดยผลลัพธ์ของ WER ที่มีค่าต่ำจะมีความหมายว่า โมเดล ASR นั้นๆ มีความแม่นยำสูง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58475" y="3905800"/>
            <a:ext cx="1199816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375AAD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WER = ((I + D + S) / N ) * 100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196" y="5937800"/>
            <a:ext cx="14527608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I (Insert word) คือคำที่ถูกเพิ่มเข้ามา แต่เราไม่ต้องการ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D (Delete word) คือคำที่หายไปจากประโยคนั้นๆ แต่เป็นคำที่เราต้องการ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S (Substituted word) คือคำที่สะกดผิดหรือคำที่มาแทนที่เป็นคำไม่ถูกต้องกับผลลัพธ์ที่ต้องการ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N คือ จำนวนคำทั้งหมดที่ถูกสร้างขึ้นมา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ทฤษฎีที่เกี่ยวข้อง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60388" y="1301839"/>
            <a:ext cx="616722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Character Error Rate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3325" y="1909995"/>
            <a:ext cx="1314135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CER หรือ Character Error Rate เป็นตัวชี้วัดที่ใช้ประเมินความแม่นยำของโมเดล ASR โดยคำนวณจาก จำนวนตัวอักษรที่ผิดหารด้วยจำนวนตัวอักษรทั้งหมดที่มี โดยผลลัพธ์ของ CER ที่มีค่าต่ำจะมีความหมายว่า โมเดล ASR นั้นๆ มีความแม่นยำสูง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42473" y="3905800"/>
            <a:ext cx="1183017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375AAD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CER = ((I + D + S) / N ) * 100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4271" y="5937800"/>
            <a:ext cx="15539459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I (Insert character) คือคำที่ถูกเพิ่มเข้ามา แต่เราไม่ต้องการ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D (Delete character) คือคำที่หายไปจากประโยคนั้นๆ แต่เป็นคำที่เราต้องการ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S (Substituted character) คือคำที่สะกดผิดหรือคำที่มาแทนที่เป็นคำไม่ถูกต้องกับผลลัพธ์ที่ต้องการ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N คือ จำนวนคำทั้งหมดที่ถูกสร้างขึ้นมา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863349" cy="2038115"/>
            <a:chOff x="0" y="0"/>
            <a:chExt cx="1034580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4580" cy="2442342"/>
            </a:xfrm>
            <a:custGeom>
              <a:avLst/>
              <a:gdLst/>
              <a:ahLst/>
              <a:cxnLst/>
              <a:rect r="r" b="b" t="t" l="l"/>
              <a:pathLst>
                <a:path h="2442342" w="1034580">
                  <a:moveTo>
                    <a:pt x="0" y="0"/>
                  </a:moveTo>
                  <a:lnTo>
                    <a:pt x="0" y="2442342"/>
                  </a:lnTo>
                  <a:lnTo>
                    <a:pt x="1034580" y="2442342"/>
                  </a:lnTo>
                  <a:lnTo>
                    <a:pt x="1034580" y="0"/>
                  </a:lnTo>
                  <a:lnTo>
                    <a:pt x="0" y="0"/>
                  </a:lnTo>
                  <a:close/>
                  <a:moveTo>
                    <a:pt x="973620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973620" y="59690"/>
                  </a:lnTo>
                  <a:lnTo>
                    <a:pt x="973620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0685" y="9692920"/>
            <a:ext cx="8123399" cy="967946"/>
            <a:chOff x="0" y="0"/>
            <a:chExt cx="9734542" cy="11599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34541" cy="1159923"/>
            </a:xfrm>
            <a:custGeom>
              <a:avLst/>
              <a:gdLst/>
              <a:ahLst/>
              <a:cxnLst/>
              <a:rect r="r" b="b" t="t" l="l"/>
              <a:pathLst>
                <a:path h="1159923" w="9734541">
                  <a:moveTo>
                    <a:pt x="0" y="0"/>
                  </a:moveTo>
                  <a:lnTo>
                    <a:pt x="0" y="1159923"/>
                  </a:lnTo>
                  <a:lnTo>
                    <a:pt x="9734541" y="1159923"/>
                  </a:lnTo>
                  <a:lnTo>
                    <a:pt x="9734541" y="0"/>
                  </a:lnTo>
                  <a:lnTo>
                    <a:pt x="0" y="0"/>
                  </a:lnTo>
                  <a:close/>
                  <a:moveTo>
                    <a:pt x="9673582" y="1098962"/>
                  </a:moveTo>
                  <a:lnTo>
                    <a:pt x="59690" y="1098962"/>
                  </a:lnTo>
                  <a:lnTo>
                    <a:pt x="59690" y="59690"/>
                  </a:lnTo>
                  <a:lnTo>
                    <a:pt x="9673582" y="59690"/>
                  </a:lnTo>
                  <a:lnTo>
                    <a:pt x="9673582" y="109896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378833" y="4584065"/>
            <a:ext cx="7530333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งานวิจัยที่เกี่ยวข้อง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5256454" cy="1229542"/>
            <a:chOff x="0" y="0"/>
            <a:chExt cx="6298985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98985" cy="1473402"/>
            </a:xfrm>
            <a:custGeom>
              <a:avLst/>
              <a:gdLst/>
              <a:ahLst/>
              <a:cxnLst/>
              <a:rect r="r" b="b" t="t" l="l"/>
              <a:pathLst>
                <a:path h="1473402" w="6298985">
                  <a:moveTo>
                    <a:pt x="0" y="0"/>
                  </a:moveTo>
                  <a:lnTo>
                    <a:pt x="0" y="1473402"/>
                  </a:lnTo>
                  <a:lnTo>
                    <a:pt x="6298985" y="1473402"/>
                  </a:lnTo>
                  <a:lnTo>
                    <a:pt x="6298985" y="0"/>
                  </a:lnTo>
                  <a:lnTo>
                    <a:pt x="0" y="0"/>
                  </a:lnTo>
                  <a:close/>
                  <a:moveTo>
                    <a:pt x="6238025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6238025" y="59690"/>
                  </a:lnTo>
                  <a:lnTo>
                    <a:pt x="6238025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5179" y="-333804"/>
            <a:ext cx="5564332" cy="747733"/>
            <a:chOff x="0" y="0"/>
            <a:chExt cx="6667926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67926" cy="896034"/>
            </a:xfrm>
            <a:custGeom>
              <a:avLst/>
              <a:gdLst/>
              <a:ahLst/>
              <a:cxnLst/>
              <a:rect r="r" b="b" t="t" l="l"/>
              <a:pathLst>
                <a:path h="896034" w="6667926">
                  <a:moveTo>
                    <a:pt x="0" y="0"/>
                  </a:moveTo>
                  <a:lnTo>
                    <a:pt x="0" y="896034"/>
                  </a:lnTo>
                  <a:lnTo>
                    <a:pt x="6667926" y="896034"/>
                  </a:lnTo>
                  <a:lnTo>
                    <a:pt x="6667926" y="0"/>
                  </a:lnTo>
                  <a:lnTo>
                    <a:pt x="0" y="0"/>
                  </a:lnTo>
                  <a:close/>
                  <a:moveTo>
                    <a:pt x="6606966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6606966" y="59690"/>
                  </a:lnTo>
                  <a:lnTo>
                    <a:pt x="6606966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31561" y="271442"/>
            <a:ext cx="2377955" cy="1359011"/>
            <a:chOff x="0" y="0"/>
            <a:chExt cx="2849584" cy="1628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9584" cy="1628548"/>
            </a:xfrm>
            <a:custGeom>
              <a:avLst/>
              <a:gdLst/>
              <a:ahLst/>
              <a:cxnLst/>
              <a:rect r="r" b="b" t="t" l="l"/>
              <a:pathLst>
                <a:path h="1628548" w="2849584">
                  <a:moveTo>
                    <a:pt x="0" y="0"/>
                  </a:moveTo>
                  <a:lnTo>
                    <a:pt x="0" y="1628548"/>
                  </a:lnTo>
                  <a:lnTo>
                    <a:pt x="2849584" y="1628548"/>
                  </a:lnTo>
                  <a:lnTo>
                    <a:pt x="2849584" y="0"/>
                  </a:lnTo>
                  <a:lnTo>
                    <a:pt x="0" y="0"/>
                  </a:lnTo>
                  <a:close/>
                  <a:moveTo>
                    <a:pt x="2788624" y="1567588"/>
                  </a:moveTo>
                  <a:lnTo>
                    <a:pt x="59690" y="1567588"/>
                  </a:lnTo>
                  <a:lnTo>
                    <a:pt x="59690" y="59690"/>
                  </a:lnTo>
                  <a:lnTo>
                    <a:pt x="2788624" y="59690"/>
                  </a:lnTo>
                  <a:lnTo>
                    <a:pt x="2788624" y="156758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120208" y="3021261"/>
            <a:ext cx="12047583" cy="4034697"/>
          </a:xfrm>
          <a:custGeom>
            <a:avLst/>
            <a:gdLst/>
            <a:ahLst/>
            <a:cxnLst/>
            <a:rect r="r" b="b" t="t" l="l"/>
            <a:pathLst>
              <a:path h="4034697" w="12047583">
                <a:moveTo>
                  <a:pt x="0" y="0"/>
                </a:moveTo>
                <a:lnTo>
                  <a:pt x="12047584" y="0"/>
                </a:lnTo>
                <a:lnTo>
                  <a:pt x="12047584" y="4034697"/>
                </a:lnTo>
                <a:lnTo>
                  <a:pt x="0" y="4034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8242" y="1974577"/>
            <a:ext cx="14417173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E2E Segmenter: Joint Segmenting and Decoding for Long - Form ASR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6597" y="7963826"/>
            <a:ext cx="1133480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W. R. Huang, S. Chang, D. Rybach, R. Prabhavalkar, T. N. Sainath, C. Allauzen, C. Peyser and Z. Lu. “E2E Segmenter: Joint Segmenting and Decoding for Long-Form ASR”. Figure 1. Page 2. 2022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งานวิจัยที่เกี่ยวข้อง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5256454" cy="1229542"/>
            <a:chOff x="0" y="0"/>
            <a:chExt cx="6298985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98985" cy="1473402"/>
            </a:xfrm>
            <a:custGeom>
              <a:avLst/>
              <a:gdLst/>
              <a:ahLst/>
              <a:cxnLst/>
              <a:rect r="r" b="b" t="t" l="l"/>
              <a:pathLst>
                <a:path h="1473402" w="6298985">
                  <a:moveTo>
                    <a:pt x="0" y="0"/>
                  </a:moveTo>
                  <a:lnTo>
                    <a:pt x="0" y="1473402"/>
                  </a:lnTo>
                  <a:lnTo>
                    <a:pt x="6298985" y="1473402"/>
                  </a:lnTo>
                  <a:lnTo>
                    <a:pt x="6298985" y="0"/>
                  </a:lnTo>
                  <a:lnTo>
                    <a:pt x="0" y="0"/>
                  </a:lnTo>
                  <a:close/>
                  <a:moveTo>
                    <a:pt x="6238025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6238025" y="59690"/>
                  </a:lnTo>
                  <a:lnTo>
                    <a:pt x="6238025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5179" y="-333804"/>
            <a:ext cx="5564332" cy="747733"/>
            <a:chOff x="0" y="0"/>
            <a:chExt cx="6667926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67926" cy="896034"/>
            </a:xfrm>
            <a:custGeom>
              <a:avLst/>
              <a:gdLst/>
              <a:ahLst/>
              <a:cxnLst/>
              <a:rect r="r" b="b" t="t" l="l"/>
              <a:pathLst>
                <a:path h="896034" w="6667926">
                  <a:moveTo>
                    <a:pt x="0" y="0"/>
                  </a:moveTo>
                  <a:lnTo>
                    <a:pt x="0" y="896034"/>
                  </a:lnTo>
                  <a:lnTo>
                    <a:pt x="6667926" y="896034"/>
                  </a:lnTo>
                  <a:lnTo>
                    <a:pt x="6667926" y="0"/>
                  </a:lnTo>
                  <a:lnTo>
                    <a:pt x="0" y="0"/>
                  </a:lnTo>
                  <a:close/>
                  <a:moveTo>
                    <a:pt x="6606966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6606966" y="59690"/>
                  </a:lnTo>
                  <a:lnTo>
                    <a:pt x="6606966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31561" y="271442"/>
            <a:ext cx="2377955" cy="1359011"/>
            <a:chOff x="0" y="0"/>
            <a:chExt cx="2849584" cy="1628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9584" cy="1628548"/>
            </a:xfrm>
            <a:custGeom>
              <a:avLst/>
              <a:gdLst/>
              <a:ahLst/>
              <a:cxnLst/>
              <a:rect r="r" b="b" t="t" l="l"/>
              <a:pathLst>
                <a:path h="1628548" w="2849584">
                  <a:moveTo>
                    <a:pt x="0" y="0"/>
                  </a:moveTo>
                  <a:lnTo>
                    <a:pt x="0" y="1628548"/>
                  </a:lnTo>
                  <a:lnTo>
                    <a:pt x="2849584" y="1628548"/>
                  </a:lnTo>
                  <a:lnTo>
                    <a:pt x="2849584" y="0"/>
                  </a:lnTo>
                  <a:lnTo>
                    <a:pt x="0" y="0"/>
                  </a:lnTo>
                  <a:close/>
                  <a:moveTo>
                    <a:pt x="2788624" y="1567588"/>
                  </a:moveTo>
                  <a:lnTo>
                    <a:pt x="59690" y="1567588"/>
                  </a:lnTo>
                  <a:lnTo>
                    <a:pt x="59690" y="59690"/>
                  </a:lnTo>
                  <a:lnTo>
                    <a:pt x="2788624" y="59690"/>
                  </a:lnTo>
                  <a:lnTo>
                    <a:pt x="2788624" y="156758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11759" y="3242570"/>
            <a:ext cx="16230600" cy="3801859"/>
          </a:xfrm>
          <a:custGeom>
            <a:avLst/>
            <a:gdLst/>
            <a:ahLst/>
            <a:cxnLst/>
            <a:rect r="r" b="b" t="t" l="l"/>
            <a:pathLst>
              <a:path h="3801859" w="16230600">
                <a:moveTo>
                  <a:pt x="0" y="0"/>
                </a:moveTo>
                <a:lnTo>
                  <a:pt x="16230600" y="0"/>
                </a:lnTo>
                <a:lnTo>
                  <a:pt x="16230600" y="3801860"/>
                </a:lnTo>
                <a:lnTo>
                  <a:pt x="0" y="380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2295" y="2272717"/>
            <a:ext cx="16220480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Smart Speech Segmentation using Acousto - Linguistic Features with look - ahead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8704" y="7657836"/>
            <a:ext cx="1140766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P. Behre, N. Parihar, S. Tan, A. Shah, E. Sharma, G. Liu, S. Chang, H. Khalil and et al. “Smart Speech Segmentation using Acousto-Linguistic Features with look-ahead”. Figure 1. Page 2. 2022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งานวิจัยที่เกี่ยวข้อง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863349" cy="2038115"/>
            <a:chOff x="0" y="0"/>
            <a:chExt cx="1034580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4580" cy="2442342"/>
            </a:xfrm>
            <a:custGeom>
              <a:avLst/>
              <a:gdLst/>
              <a:ahLst/>
              <a:cxnLst/>
              <a:rect r="r" b="b" t="t" l="l"/>
              <a:pathLst>
                <a:path h="2442342" w="1034580">
                  <a:moveTo>
                    <a:pt x="0" y="0"/>
                  </a:moveTo>
                  <a:lnTo>
                    <a:pt x="0" y="2442342"/>
                  </a:lnTo>
                  <a:lnTo>
                    <a:pt x="1034580" y="2442342"/>
                  </a:lnTo>
                  <a:lnTo>
                    <a:pt x="1034580" y="0"/>
                  </a:lnTo>
                  <a:lnTo>
                    <a:pt x="0" y="0"/>
                  </a:lnTo>
                  <a:close/>
                  <a:moveTo>
                    <a:pt x="973620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973620" y="59690"/>
                  </a:lnTo>
                  <a:lnTo>
                    <a:pt x="973620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0685" y="9692920"/>
            <a:ext cx="8123399" cy="967946"/>
            <a:chOff x="0" y="0"/>
            <a:chExt cx="9734542" cy="11599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34541" cy="1159923"/>
            </a:xfrm>
            <a:custGeom>
              <a:avLst/>
              <a:gdLst/>
              <a:ahLst/>
              <a:cxnLst/>
              <a:rect r="r" b="b" t="t" l="l"/>
              <a:pathLst>
                <a:path h="1159923" w="9734541">
                  <a:moveTo>
                    <a:pt x="0" y="0"/>
                  </a:moveTo>
                  <a:lnTo>
                    <a:pt x="0" y="1159923"/>
                  </a:lnTo>
                  <a:lnTo>
                    <a:pt x="9734541" y="1159923"/>
                  </a:lnTo>
                  <a:lnTo>
                    <a:pt x="9734541" y="0"/>
                  </a:lnTo>
                  <a:lnTo>
                    <a:pt x="0" y="0"/>
                  </a:lnTo>
                  <a:close/>
                  <a:moveTo>
                    <a:pt x="9673582" y="1098962"/>
                  </a:moveTo>
                  <a:lnTo>
                    <a:pt x="59690" y="1098962"/>
                  </a:lnTo>
                  <a:lnTo>
                    <a:pt x="59690" y="59690"/>
                  </a:lnTo>
                  <a:lnTo>
                    <a:pt x="9673582" y="59690"/>
                  </a:lnTo>
                  <a:lnTo>
                    <a:pt x="9673582" y="109896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2214" y="4584065"/>
            <a:ext cx="8043571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รายละเอียดการพัฒนา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การเตรียมการพัฒนาโมเดล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08973" y="2644568"/>
            <a:ext cx="1081975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โมเดลที่ใช้ร่วมกับการพัฒนา Speech segmentation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555759" y="3765677"/>
            <a:ext cx="4009437" cy="1180589"/>
            <a:chOff x="0" y="0"/>
            <a:chExt cx="5345916" cy="157411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345916" cy="1574118"/>
              <a:chOff x="0" y="0"/>
              <a:chExt cx="1055983" cy="31093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55983" cy="310937"/>
              </a:xfrm>
              <a:custGeom>
                <a:avLst/>
                <a:gdLst/>
                <a:ahLst/>
                <a:cxnLst/>
                <a:rect r="r" b="b" t="t" l="l"/>
                <a:pathLst>
                  <a:path h="310937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272318"/>
                    </a:lnTo>
                    <a:cubicBezTo>
                      <a:pt x="1055983" y="293647"/>
                      <a:pt x="1038693" y="310937"/>
                      <a:pt x="1017365" y="310937"/>
                    </a:cubicBezTo>
                    <a:lnTo>
                      <a:pt x="38618" y="310937"/>
                    </a:lnTo>
                    <a:cubicBezTo>
                      <a:pt x="28376" y="310937"/>
                      <a:pt x="18553" y="306868"/>
                      <a:pt x="11311" y="299626"/>
                    </a:cubicBezTo>
                    <a:cubicBezTo>
                      <a:pt x="4069" y="292383"/>
                      <a:pt x="0" y="282561"/>
                      <a:pt x="0" y="272318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1055983" cy="339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08896" y="365441"/>
              <a:ext cx="3328124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Whisper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26688" y="3765677"/>
            <a:ext cx="3734695" cy="1180589"/>
            <a:chOff x="0" y="0"/>
            <a:chExt cx="4979594" cy="157411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979594" cy="1574118"/>
              <a:chOff x="0" y="0"/>
              <a:chExt cx="983624" cy="31093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83623" cy="310937"/>
              </a:xfrm>
              <a:custGeom>
                <a:avLst/>
                <a:gdLst/>
                <a:ahLst/>
                <a:cxnLst/>
                <a:rect r="r" b="b" t="t" l="l"/>
                <a:pathLst>
                  <a:path h="310937" w="983623">
                    <a:moveTo>
                      <a:pt x="41459" y="0"/>
                    </a:moveTo>
                    <a:lnTo>
                      <a:pt x="942164" y="0"/>
                    </a:lnTo>
                    <a:cubicBezTo>
                      <a:pt x="965061" y="0"/>
                      <a:pt x="983623" y="18562"/>
                      <a:pt x="983623" y="41459"/>
                    </a:cubicBezTo>
                    <a:lnTo>
                      <a:pt x="983623" y="269477"/>
                    </a:lnTo>
                    <a:cubicBezTo>
                      <a:pt x="983623" y="292375"/>
                      <a:pt x="965061" y="310937"/>
                      <a:pt x="942164" y="310937"/>
                    </a:cubicBezTo>
                    <a:lnTo>
                      <a:pt x="41459" y="310937"/>
                    </a:lnTo>
                    <a:cubicBezTo>
                      <a:pt x="18562" y="310937"/>
                      <a:pt x="0" y="292375"/>
                      <a:pt x="0" y="269477"/>
                    </a:cubicBezTo>
                    <a:lnTo>
                      <a:pt x="0" y="41459"/>
                    </a:lnTo>
                    <a:cubicBezTo>
                      <a:pt x="0" y="18562"/>
                      <a:pt x="18562" y="0"/>
                      <a:pt x="41459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983624" cy="339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939763" y="365419"/>
              <a:ext cx="3100069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Wav2vec2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59764" y="5536568"/>
            <a:ext cx="4770139" cy="2683203"/>
          </a:xfrm>
          <a:custGeom>
            <a:avLst/>
            <a:gdLst/>
            <a:ahLst/>
            <a:cxnLst/>
            <a:rect r="r" b="b" t="t" l="l"/>
            <a:pathLst>
              <a:path h="2683203" w="4770139">
                <a:moveTo>
                  <a:pt x="0" y="0"/>
                </a:moveTo>
                <a:lnTo>
                  <a:pt x="4770139" y="0"/>
                </a:lnTo>
                <a:lnTo>
                  <a:pt x="4770139" y="2683203"/>
                </a:lnTo>
                <a:lnTo>
                  <a:pt x="0" y="2683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59333" y="5536568"/>
            <a:ext cx="4770139" cy="2683203"/>
          </a:xfrm>
          <a:custGeom>
            <a:avLst/>
            <a:gdLst/>
            <a:ahLst/>
            <a:cxnLst/>
            <a:rect r="r" b="b" t="t" l="l"/>
            <a:pathLst>
              <a:path h="2683203" w="4770139">
                <a:moveTo>
                  <a:pt x="0" y="0"/>
                </a:moveTo>
                <a:lnTo>
                  <a:pt x="4770139" y="0"/>
                </a:lnTo>
                <a:lnTo>
                  <a:pt x="4770139" y="2683203"/>
                </a:lnTo>
                <a:lnTo>
                  <a:pt x="0" y="2683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58097" y="5536568"/>
            <a:ext cx="4770139" cy="2683203"/>
          </a:xfrm>
          <a:custGeom>
            <a:avLst/>
            <a:gdLst/>
            <a:ahLst/>
            <a:cxnLst/>
            <a:rect r="r" b="b" t="t" l="l"/>
            <a:pathLst>
              <a:path h="2683203" w="4770139">
                <a:moveTo>
                  <a:pt x="0" y="0"/>
                </a:moveTo>
                <a:lnTo>
                  <a:pt x="4770139" y="0"/>
                </a:lnTo>
                <a:lnTo>
                  <a:pt x="4770139" y="2683203"/>
                </a:lnTo>
                <a:lnTo>
                  <a:pt x="0" y="2683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การเตรียมการพัฒนาโมเดล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6670" y="2440004"/>
            <a:ext cx="1173466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การเตรียมข้อมูลสำหรับใช้ในการวัดประสิทธิภาพของโมเดล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76670" y="4851285"/>
            <a:ext cx="1173466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ไฟล์เสียงจากคริป Youtube กับไฟล์ subtitle ของคลิปนั้นๆ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7906" y="3251534"/>
            <a:ext cx="1447218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ข้อมูลที่ใช้ในการทดสอบนั้น ต้องเป็นข้อมูลไฟล์เสียงที่มีตัวอักษรกำกับและต้องมี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ความถูกต้องน่าเชื่อถือ โดยข้อมูลที่นำมาใช้ในการทดสอบมีดังนี้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82925" y="8484842"/>
            <a:ext cx="5233316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 spc="7">
                <a:solidFill>
                  <a:srgbClr val="697B83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ตัวอย่างของภาพยนตร์ที่อาจจะนำมาทดสอบ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87387"/>
            <a:ext cx="619794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รายละเอียดการพัฒนา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73467" y="2440594"/>
            <a:ext cx="816344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8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ขั้นตอนการพัฒนาการตัดแบ่งเสียง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88402" y="3299749"/>
            <a:ext cx="14533575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คิดค้นและพัฒนา Algorithm ที่จะใช้ในการทำ Speech segmentation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นำโมเดล Pretrain ที่เลือกมาใช้และทำการเพิ่ม Speech segmentation ก่อนที่โมเดลจะนำเสียงไปเข้า Encoder ของโมเดล ซึ่งวิธีการที่เป็นไปได้ในการทำ Speech segmentation มีดังนี้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7574024" y="5636416"/>
            <a:ext cx="3764644" cy="1344120"/>
            <a:chOff x="0" y="0"/>
            <a:chExt cx="991511" cy="3540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1511" cy="354007"/>
            </a:xfrm>
            <a:custGeom>
              <a:avLst/>
              <a:gdLst/>
              <a:ahLst/>
              <a:cxnLst/>
              <a:rect r="r" b="b" t="t" l="l"/>
              <a:pathLst>
                <a:path h="354007" w="991511">
                  <a:moveTo>
                    <a:pt x="41130" y="0"/>
                  </a:moveTo>
                  <a:lnTo>
                    <a:pt x="950382" y="0"/>
                  </a:lnTo>
                  <a:cubicBezTo>
                    <a:pt x="961290" y="0"/>
                    <a:pt x="971751" y="4333"/>
                    <a:pt x="979465" y="12047"/>
                  </a:cubicBezTo>
                  <a:cubicBezTo>
                    <a:pt x="987178" y="19760"/>
                    <a:pt x="991511" y="30221"/>
                    <a:pt x="991511" y="41130"/>
                  </a:cubicBezTo>
                  <a:lnTo>
                    <a:pt x="991511" y="312877"/>
                  </a:lnTo>
                  <a:cubicBezTo>
                    <a:pt x="991511" y="335592"/>
                    <a:pt x="973097" y="354007"/>
                    <a:pt x="950382" y="354007"/>
                  </a:cubicBezTo>
                  <a:lnTo>
                    <a:pt x="41130" y="354007"/>
                  </a:lnTo>
                  <a:cubicBezTo>
                    <a:pt x="18414" y="354007"/>
                    <a:pt x="0" y="335592"/>
                    <a:pt x="0" y="312877"/>
                  </a:cubicBezTo>
                  <a:lnTo>
                    <a:pt x="0" y="41130"/>
                  </a:lnTo>
                  <a:cubicBezTo>
                    <a:pt x="0" y="18414"/>
                    <a:pt x="18414" y="0"/>
                    <a:pt x="4113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91511" cy="325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SLIDING WINDOWS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40329" y="5636416"/>
            <a:ext cx="3764644" cy="1344120"/>
            <a:chOff x="0" y="0"/>
            <a:chExt cx="991511" cy="3540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1511" cy="354007"/>
            </a:xfrm>
            <a:custGeom>
              <a:avLst/>
              <a:gdLst/>
              <a:ahLst/>
              <a:cxnLst/>
              <a:rect r="r" b="b" t="t" l="l"/>
              <a:pathLst>
                <a:path h="354007" w="991511">
                  <a:moveTo>
                    <a:pt x="41130" y="0"/>
                  </a:moveTo>
                  <a:lnTo>
                    <a:pt x="950382" y="0"/>
                  </a:lnTo>
                  <a:cubicBezTo>
                    <a:pt x="961290" y="0"/>
                    <a:pt x="971751" y="4333"/>
                    <a:pt x="979465" y="12047"/>
                  </a:cubicBezTo>
                  <a:cubicBezTo>
                    <a:pt x="987178" y="19760"/>
                    <a:pt x="991511" y="30221"/>
                    <a:pt x="991511" y="41130"/>
                  </a:cubicBezTo>
                  <a:lnTo>
                    <a:pt x="991511" y="312877"/>
                  </a:lnTo>
                  <a:cubicBezTo>
                    <a:pt x="991511" y="335592"/>
                    <a:pt x="973097" y="354007"/>
                    <a:pt x="950382" y="354007"/>
                  </a:cubicBezTo>
                  <a:lnTo>
                    <a:pt x="41130" y="354007"/>
                  </a:lnTo>
                  <a:cubicBezTo>
                    <a:pt x="18414" y="354007"/>
                    <a:pt x="0" y="335592"/>
                    <a:pt x="0" y="312877"/>
                  </a:cubicBezTo>
                  <a:lnTo>
                    <a:pt x="0" y="41130"/>
                  </a:lnTo>
                  <a:cubicBezTo>
                    <a:pt x="0" y="18414"/>
                    <a:pt x="18414" y="0"/>
                    <a:pt x="4113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991511" cy="325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SLIDE AND SPLIT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74024" y="7342486"/>
            <a:ext cx="3764644" cy="1344120"/>
            <a:chOff x="0" y="0"/>
            <a:chExt cx="991511" cy="3540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1511" cy="354007"/>
            </a:xfrm>
            <a:custGeom>
              <a:avLst/>
              <a:gdLst/>
              <a:ahLst/>
              <a:cxnLst/>
              <a:rect r="r" b="b" t="t" l="l"/>
              <a:pathLst>
                <a:path h="354007" w="991511">
                  <a:moveTo>
                    <a:pt x="41130" y="0"/>
                  </a:moveTo>
                  <a:lnTo>
                    <a:pt x="950382" y="0"/>
                  </a:lnTo>
                  <a:cubicBezTo>
                    <a:pt x="961290" y="0"/>
                    <a:pt x="971751" y="4333"/>
                    <a:pt x="979465" y="12047"/>
                  </a:cubicBezTo>
                  <a:cubicBezTo>
                    <a:pt x="987178" y="19760"/>
                    <a:pt x="991511" y="30221"/>
                    <a:pt x="991511" y="41130"/>
                  </a:cubicBezTo>
                  <a:lnTo>
                    <a:pt x="991511" y="312877"/>
                  </a:lnTo>
                  <a:cubicBezTo>
                    <a:pt x="991511" y="335592"/>
                    <a:pt x="973097" y="354007"/>
                    <a:pt x="950382" y="354007"/>
                  </a:cubicBezTo>
                  <a:lnTo>
                    <a:pt x="41130" y="354007"/>
                  </a:lnTo>
                  <a:cubicBezTo>
                    <a:pt x="18414" y="354007"/>
                    <a:pt x="0" y="335592"/>
                    <a:pt x="0" y="312877"/>
                  </a:cubicBezTo>
                  <a:lnTo>
                    <a:pt x="0" y="41130"/>
                  </a:lnTo>
                  <a:cubicBezTo>
                    <a:pt x="0" y="18414"/>
                    <a:pt x="18414" y="0"/>
                    <a:pt x="4113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991511" cy="325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OVERLAPING WINDOWS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314080" y="6519643"/>
            <a:ext cx="3764644" cy="1344120"/>
            <a:chOff x="0" y="0"/>
            <a:chExt cx="991511" cy="3540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1511" cy="354007"/>
            </a:xfrm>
            <a:custGeom>
              <a:avLst/>
              <a:gdLst/>
              <a:ahLst/>
              <a:cxnLst/>
              <a:rect r="r" b="b" t="t" l="l"/>
              <a:pathLst>
                <a:path h="354007" w="991511">
                  <a:moveTo>
                    <a:pt x="41130" y="0"/>
                  </a:moveTo>
                  <a:lnTo>
                    <a:pt x="950382" y="0"/>
                  </a:lnTo>
                  <a:cubicBezTo>
                    <a:pt x="961290" y="0"/>
                    <a:pt x="971751" y="4333"/>
                    <a:pt x="979465" y="12047"/>
                  </a:cubicBezTo>
                  <a:cubicBezTo>
                    <a:pt x="987178" y="19760"/>
                    <a:pt x="991511" y="30221"/>
                    <a:pt x="991511" y="41130"/>
                  </a:cubicBezTo>
                  <a:lnTo>
                    <a:pt x="991511" y="312877"/>
                  </a:lnTo>
                  <a:cubicBezTo>
                    <a:pt x="991511" y="335592"/>
                    <a:pt x="973097" y="354007"/>
                    <a:pt x="950382" y="354007"/>
                  </a:cubicBezTo>
                  <a:lnTo>
                    <a:pt x="41130" y="354007"/>
                  </a:lnTo>
                  <a:cubicBezTo>
                    <a:pt x="18414" y="354007"/>
                    <a:pt x="0" y="335592"/>
                    <a:pt x="0" y="312877"/>
                  </a:cubicBezTo>
                  <a:lnTo>
                    <a:pt x="0" y="41130"/>
                  </a:lnTo>
                  <a:cubicBezTo>
                    <a:pt x="0" y="18414"/>
                    <a:pt x="18414" y="0"/>
                    <a:pt x="41130" y="0"/>
                  </a:cubicBezTo>
                  <a:close/>
                </a:path>
              </a:pathLst>
            </a:custGeom>
            <a:solidFill>
              <a:srgbClr val="819ED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991511" cy="325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FIX-SEIZED</a:t>
              </a:r>
            </a:p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 AUDIO CHUNK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31655" y="7342486"/>
            <a:ext cx="3764644" cy="1344120"/>
            <a:chOff x="0" y="0"/>
            <a:chExt cx="991511" cy="3540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1511" cy="354007"/>
            </a:xfrm>
            <a:custGeom>
              <a:avLst/>
              <a:gdLst/>
              <a:ahLst/>
              <a:cxnLst/>
              <a:rect r="r" b="b" t="t" l="l"/>
              <a:pathLst>
                <a:path h="354007" w="991511">
                  <a:moveTo>
                    <a:pt x="41130" y="0"/>
                  </a:moveTo>
                  <a:lnTo>
                    <a:pt x="950382" y="0"/>
                  </a:lnTo>
                  <a:cubicBezTo>
                    <a:pt x="961290" y="0"/>
                    <a:pt x="971751" y="4333"/>
                    <a:pt x="979465" y="12047"/>
                  </a:cubicBezTo>
                  <a:cubicBezTo>
                    <a:pt x="987178" y="19760"/>
                    <a:pt x="991511" y="30221"/>
                    <a:pt x="991511" y="41130"/>
                  </a:cubicBezTo>
                  <a:lnTo>
                    <a:pt x="991511" y="312877"/>
                  </a:lnTo>
                  <a:cubicBezTo>
                    <a:pt x="991511" y="335592"/>
                    <a:pt x="973097" y="354007"/>
                    <a:pt x="950382" y="354007"/>
                  </a:cubicBezTo>
                  <a:lnTo>
                    <a:pt x="41130" y="354007"/>
                  </a:lnTo>
                  <a:cubicBezTo>
                    <a:pt x="18414" y="354007"/>
                    <a:pt x="0" y="335592"/>
                    <a:pt x="0" y="312877"/>
                  </a:cubicBezTo>
                  <a:lnTo>
                    <a:pt x="0" y="41130"/>
                  </a:lnTo>
                  <a:cubicBezTo>
                    <a:pt x="0" y="18414"/>
                    <a:pt x="18414" y="0"/>
                    <a:pt x="4113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28575"/>
              <a:ext cx="991511" cy="325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MINIMUM AVERAGE AMPLITUDE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FIX-SIZED AUDIO CHUNK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28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49333" y="1786890"/>
            <a:ext cx="12389334" cy="4672965"/>
          </a:xfrm>
          <a:custGeom>
            <a:avLst/>
            <a:gdLst/>
            <a:ahLst/>
            <a:cxnLst/>
            <a:rect r="r" b="b" t="t" l="l"/>
            <a:pathLst>
              <a:path h="4672965" w="12389334">
                <a:moveTo>
                  <a:pt x="0" y="0"/>
                </a:moveTo>
                <a:lnTo>
                  <a:pt x="12389334" y="0"/>
                </a:lnTo>
                <a:lnTo>
                  <a:pt x="12389334" y="4672965"/>
                </a:lnTo>
                <a:lnTo>
                  <a:pt x="0" y="467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66" r="0" b="-692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38500" y="5886406"/>
            <a:ext cx="842792" cy="1049699"/>
            <a:chOff x="0" y="0"/>
            <a:chExt cx="221970" cy="2764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970" cy="276464"/>
            </a:xfrm>
            <a:custGeom>
              <a:avLst/>
              <a:gdLst/>
              <a:ahLst/>
              <a:cxnLst/>
              <a:rect r="r" b="b" t="t" l="l"/>
              <a:pathLst>
                <a:path h="276464" w="221970">
                  <a:moveTo>
                    <a:pt x="0" y="0"/>
                  </a:moveTo>
                  <a:lnTo>
                    <a:pt x="221970" y="0"/>
                  </a:lnTo>
                  <a:lnTo>
                    <a:pt x="221970" y="276464"/>
                  </a:lnTo>
                  <a:lnTo>
                    <a:pt x="0" y="2764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221970" cy="247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817315"/>
            <a:ext cx="628732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FIX-SIZED AUDIO CHUNK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7360" y="6869430"/>
            <a:ext cx="1235328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ข้อดี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ง่ายและรวดเร็ว เพราะเพียงแค่กำหนดขนาดของ chunk แล้วตัดตามขนาดนั้น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9333" y="8168591"/>
            <a:ext cx="1412206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ปัญหา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มีโอกาสสูงที่จะตัดเสียงในขณะพูดกลางคำ ทำให้ ASR อาจรู้จำคำผิดพลาด นอกจากนี้วิธีนี้ยังไม่คำนึงถึงตำแหน่งที่แอมพลิจูดของเสียงต่ำสุด จึงอาจพลาดจุดตัดที่เหมาะสม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49661" y="5974657"/>
            <a:ext cx="181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=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SLIDING WINDOWS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30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7081" y="2072796"/>
            <a:ext cx="15373838" cy="6413880"/>
            <a:chOff x="0" y="0"/>
            <a:chExt cx="2381810" cy="99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1810" cy="993678"/>
            </a:xfrm>
            <a:custGeom>
              <a:avLst/>
              <a:gdLst/>
              <a:ahLst/>
              <a:cxnLst/>
              <a:rect r="r" b="b" t="t" l="l"/>
              <a:pathLst>
                <a:path h="993678" w="2381810">
                  <a:moveTo>
                    <a:pt x="0" y="0"/>
                  </a:moveTo>
                  <a:lnTo>
                    <a:pt x="2381810" y="0"/>
                  </a:lnTo>
                  <a:lnTo>
                    <a:pt x="2381810" y="993678"/>
                  </a:lnTo>
                  <a:lnTo>
                    <a:pt x="0" y="993678"/>
                  </a:lnTo>
                  <a:close/>
                </a:path>
              </a:pathLst>
            </a:custGeom>
            <a:blipFill>
              <a:blip r:embed="rId2"/>
              <a:stretch>
                <a:fillRect l="0" t="-2251" r="0" b="-441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52977" y="817315"/>
            <a:ext cx="4642247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SLIDING WINDOWS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7081" y="2072796"/>
            <a:ext cx="15373838" cy="6413880"/>
            <a:chOff x="0" y="0"/>
            <a:chExt cx="2381810" cy="99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1810" cy="993678"/>
            </a:xfrm>
            <a:custGeom>
              <a:avLst/>
              <a:gdLst/>
              <a:ahLst/>
              <a:cxnLst/>
              <a:rect r="r" b="b" t="t" l="l"/>
              <a:pathLst>
                <a:path h="993678" w="2381810">
                  <a:moveTo>
                    <a:pt x="0" y="0"/>
                  </a:moveTo>
                  <a:lnTo>
                    <a:pt x="2381810" y="0"/>
                  </a:lnTo>
                  <a:lnTo>
                    <a:pt x="2381810" y="993678"/>
                  </a:lnTo>
                  <a:lnTo>
                    <a:pt x="0" y="993678"/>
                  </a:lnTo>
                  <a:close/>
                </a:path>
              </a:pathLst>
            </a:custGeom>
            <a:blipFill>
              <a:blip r:embed="rId2"/>
              <a:stretch>
                <a:fillRect l="0" t="-2492" r="0" b="-357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817315"/>
            <a:ext cx="469080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SLIDING WINDOWS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7081" y="2072796"/>
            <a:ext cx="15373838" cy="6413880"/>
            <a:chOff x="0" y="0"/>
            <a:chExt cx="2381810" cy="99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1810" cy="993678"/>
            </a:xfrm>
            <a:custGeom>
              <a:avLst/>
              <a:gdLst/>
              <a:ahLst/>
              <a:cxnLst/>
              <a:rect r="r" b="b" t="t" l="l"/>
              <a:pathLst>
                <a:path h="993678" w="2381810">
                  <a:moveTo>
                    <a:pt x="0" y="0"/>
                  </a:moveTo>
                  <a:lnTo>
                    <a:pt x="2381810" y="0"/>
                  </a:lnTo>
                  <a:lnTo>
                    <a:pt x="2381810" y="993678"/>
                  </a:lnTo>
                  <a:lnTo>
                    <a:pt x="0" y="993678"/>
                  </a:lnTo>
                  <a:close/>
                </a:path>
              </a:pathLst>
            </a:custGeom>
            <a:blipFill>
              <a:blip r:embed="rId2"/>
              <a:stretch>
                <a:fillRect l="0" t="-3482" r="0" b="-348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817315"/>
            <a:ext cx="469080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SLIDING WINDOWS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7081" y="2072796"/>
            <a:ext cx="15373838" cy="6413880"/>
            <a:chOff x="0" y="0"/>
            <a:chExt cx="2381810" cy="99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1810" cy="993678"/>
            </a:xfrm>
            <a:custGeom>
              <a:avLst/>
              <a:gdLst/>
              <a:ahLst/>
              <a:cxnLst/>
              <a:rect r="r" b="b" t="t" l="l"/>
              <a:pathLst>
                <a:path h="993678" w="2381810">
                  <a:moveTo>
                    <a:pt x="0" y="0"/>
                  </a:moveTo>
                  <a:lnTo>
                    <a:pt x="2381810" y="0"/>
                  </a:lnTo>
                  <a:lnTo>
                    <a:pt x="2381810" y="993678"/>
                  </a:lnTo>
                  <a:lnTo>
                    <a:pt x="0" y="993678"/>
                  </a:lnTo>
                  <a:close/>
                </a:path>
              </a:pathLst>
            </a:custGeom>
            <a:blipFill>
              <a:blip r:embed="rId2"/>
              <a:stretch>
                <a:fillRect l="0" t="-4567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34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817315"/>
            <a:ext cx="469080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SLIDING WINDOWS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817315"/>
            <a:ext cx="469080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SLIDING WINDOWS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26395" y="4219987"/>
            <a:ext cx="11211004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ปัญหา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จำนวน chunk ที่ได้อาจมากเกินไป ทำให้การคำนวณเพิ่มขึ้น (chunk เล็กเกินไปอาจทำให้โมเดล whisper เกิด overhead)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chunk </a:t>
            </a: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เสียงมีแนวโน้มจะมีขนาดเล็ก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อาจพลาดจุดแอมพลิจูดต่ำสุดในช่วงเวลาที่กำหนด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26395" y="2513206"/>
            <a:ext cx="10949732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ข้อดี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มีความยืดหยุ่นในการหาจุดตัด โดยสามารถปรับขนาดของหน้าต่างได้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35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36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072796"/>
            <a:ext cx="15447932" cy="5491723"/>
            <a:chOff x="0" y="0"/>
            <a:chExt cx="2393289" cy="8508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850812"/>
            </a:xfrm>
            <a:custGeom>
              <a:avLst/>
              <a:gdLst/>
              <a:ahLst/>
              <a:cxnLst/>
              <a:rect r="r" b="b" t="t" l="l"/>
              <a:pathLst>
                <a:path h="850812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850812"/>
                  </a:lnTo>
                  <a:lnTo>
                    <a:pt x="0" y="850812"/>
                  </a:lnTo>
                  <a:close/>
                </a:path>
              </a:pathLst>
            </a:custGeom>
            <a:blipFill>
              <a:blip r:embed="rId2"/>
              <a:stretch>
                <a:fillRect l="-604" t="0" r="-60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034" y="7716919"/>
            <a:ext cx="16044091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ใช้หน้าต่างสองชุด (คือหน้าต่างซ้ายและขวา)ที่มีความยาวครึ่งหนึ่งของขนาดกรอบที่ต้องการ (เช่น 15 วินาที สำหรับขนาดกรอบสูงสุด 30 วินาที) โดยจัดเรียงจากซ้ายไปขวา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ในแต่ละหน้าต่าง ให้ทำการหา amplitude ที่ต่ำกว่าค่า threshold และอยู่ทางขวาสุด เพื่อใช้เลือกเป็นจุดตัด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หากหน้าต่างไหนไม่มีจุด amplitude ที่ต่ำกว่าค่า threshold ให้ข้ามโดยไม่มีจุดตัด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6253" y="1411993"/>
            <a:ext cx="209769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หลักการ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37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436248"/>
            <a:ext cx="15447932" cy="5023873"/>
            <a:chOff x="0" y="0"/>
            <a:chExt cx="2393289" cy="778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778329"/>
            </a:xfrm>
            <a:custGeom>
              <a:avLst/>
              <a:gdLst/>
              <a:ahLst/>
              <a:cxnLst/>
              <a:rect r="r" b="b" t="t" l="l"/>
              <a:pathLst>
                <a:path h="778329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778329"/>
                  </a:lnTo>
                  <a:lnTo>
                    <a:pt x="0" y="778329"/>
                  </a:lnTo>
                  <a:close/>
                </a:path>
              </a:pathLst>
            </a:custGeom>
            <a:blipFill>
              <a:blip r:embed="rId2"/>
              <a:stretch>
                <a:fillRect l="0" t="-351" r="0" b="-35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034" y="7755396"/>
            <a:ext cx="15839266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เลือกจุดตัดของหน้าตางทางขวาก่อนเสมอ (ถ้ามีจุดที่ตัดได้) หากหน้าต่าทางขวาไม่มีจุดตัดให้เลือกหน้าต่างทางซ้ายแทน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หากทั้ง 2 หน้าต่างไม่มีจุดที่ต่ำกว่า threshold หรือจุดที่ตัดได้ เลย ให้เลือกจุดที่ amplitude ต่ำที่สุดของหน้าต่างขวา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10418"/>
            <a:ext cx="41953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กฏการเลือกจุดตัด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38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255273"/>
            <a:ext cx="15447932" cy="5385823"/>
            <a:chOff x="0" y="0"/>
            <a:chExt cx="2393289" cy="8344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834405"/>
            </a:xfrm>
            <a:custGeom>
              <a:avLst/>
              <a:gdLst/>
              <a:ahLst/>
              <a:cxnLst/>
              <a:rect r="r" b="b" t="t" l="l"/>
              <a:pathLst>
                <a:path h="834405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834405"/>
                  </a:lnTo>
                  <a:lnTo>
                    <a:pt x="0" y="834405"/>
                  </a:lnTo>
                  <a:close/>
                </a:path>
              </a:pathLst>
            </a:custGeom>
            <a:blipFill>
              <a:blip r:embed="rId2"/>
              <a:stretch>
                <a:fillRect l="-711" t="0" r="-71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034" y="8222121"/>
            <a:ext cx="158392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หากจุดตัดอยู่หน้าต่างขวาให้ขยายหน้าต่างที่เหลืออยู่ของหน้าต่างด้านขวาออกไปให้เป็น 15 วินาที กลายเป็นหน้าต่างซ้ายใหม่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08916"/>
            <a:ext cx="41953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การเลื่อนหน้าต่าง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39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368071"/>
            <a:ext cx="15447932" cy="5385823"/>
            <a:chOff x="0" y="0"/>
            <a:chExt cx="2393289" cy="8344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834405"/>
            </a:xfrm>
            <a:custGeom>
              <a:avLst/>
              <a:gdLst/>
              <a:ahLst/>
              <a:cxnLst/>
              <a:rect r="r" b="b" t="t" l="l"/>
              <a:pathLst>
                <a:path h="834405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834405"/>
                  </a:lnTo>
                  <a:lnTo>
                    <a:pt x="0" y="834405"/>
                  </a:lnTo>
                  <a:close/>
                </a:path>
              </a:pathLst>
            </a:custGeom>
            <a:blipFill>
              <a:blip r:embed="rId2"/>
              <a:stretch>
                <a:fillRect l="0" t="-2166" r="0" b="-216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034" y="8222121"/>
            <a:ext cx="1583926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และเพิ่มหน้าต่างที่ 2 อีก 15 วินาทีกลายเป็นหน้าต่างขวาใหม่ จะได้เป็นกรอบ 30 วินาที 2หน้าต่างดังเดิม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08916"/>
            <a:ext cx="41953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การเลื่อนหน้าต่าง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40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272038"/>
            <a:ext cx="15447932" cy="5819017"/>
            <a:chOff x="0" y="0"/>
            <a:chExt cx="2393289" cy="9015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901518"/>
            </a:xfrm>
            <a:custGeom>
              <a:avLst/>
              <a:gdLst/>
              <a:ahLst/>
              <a:cxnLst/>
              <a:rect r="r" b="b" t="t" l="l"/>
              <a:pathLst>
                <a:path h="901518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901518"/>
                  </a:lnTo>
                  <a:lnTo>
                    <a:pt x="0" y="901518"/>
                  </a:lnTo>
                  <a:close/>
                </a:path>
              </a:pathLst>
            </a:custGeom>
            <a:blipFill>
              <a:blip r:embed="rId2"/>
              <a:stretch>
                <a:fillRect l="0" t="-605" r="0" b="-60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034" y="8222121"/>
            <a:ext cx="158392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หากจุดตัดอยู่อยู่ในหน้าต่างด้านซ้าย ให้เลื่อนจุดเริ่มต้นของกรอบหน้าต่างทั้งหมดไปที่จุดตัด และหาจุดตัดจุดต่อไป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08916"/>
            <a:ext cx="41953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การเลื่อนหน้าต่าง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272038"/>
            <a:ext cx="15447932" cy="6016758"/>
            <a:chOff x="0" y="0"/>
            <a:chExt cx="2393289" cy="9321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932153"/>
            </a:xfrm>
            <a:custGeom>
              <a:avLst/>
              <a:gdLst/>
              <a:ahLst/>
              <a:cxnLst/>
              <a:rect r="r" b="b" t="t" l="l"/>
              <a:pathLst>
                <a:path h="932153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932153"/>
                  </a:lnTo>
                  <a:lnTo>
                    <a:pt x="0" y="932153"/>
                  </a:lnTo>
                  <a:close/>
                </a:path>
              </a:pathLst>
            </a:custGeom>
            <a:blipFill>
              <a:blip r:embed="rId2"/>
              <a:stretch>
                <a:fillRect l="0" t="-547" r="0" b="-54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034" y="8422146"/>
            <a:ext cx="158392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หากทั้ง 2 หน้าต่างไม่มีจุดที่ amplitude ต่ำกว่าค่า threshold เลย ให้ตัดที่จุดที่ amplitude ต่ำที่สุดของหน้าต่างด้านขวา และเลื่อนกรอบด้วยวิธีเลื่อนกรอบของหน้าต่างขวา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08916"/>
            <a:ext cx="41953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การเลื่อนหน้าต่าง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272038"/>
            <a:ext cx="15447932" cy="6016758"/>
            <a:chOff x="0" y="0"/>
            <a:chExt cx="2393289" cy="9321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932153"/>
            </a:xfrm>
            <a:custGeom>
              <a:avLst/>
              <a:gdLst/>
              <a:ahLst/>
              <a:cxnLst/>
              <a:rect r="r" b="b" t="t" l="l"/>
              <a:pathLst>
                <a:path h="932153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932153"/>
                  </a:lnTo>
                  <a:lnTo>
                    <a:pt x="0" y="932153"/>
                  </a:lnTo>
                  <a:close/>
                </a:path>
              </a:pathLst>
            </a:custGeom>
            <a:blipFill>
              <a:blip r:embed="rId2"/>
              <a:stretch>
                <a:fillRect l="-418" t="0" r="-41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80237" y="1364368"/>
            <a:ext cx="888773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Window size = Max Chunk Size/2 = 30 sec./2 = 15 sec.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6395" y="4219987"/>
            <a:ext cx="1121100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ข้อเสีย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อาจจะมีการตัดกลางคำ ทำให้การถอดความจากเสียงพูดเกิดความผิดพลาดได้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26395" y="2513206"/>
            <a:ext cx="1121100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ข้อดี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 ลดจำนวนของ chunk และทำให้ chunk มีขนาดกลางไปจนถึงขนาดใหญ่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44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676364"/>
            <a:ext cx="451438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SLIDE AND SPLIT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OVERLAPPING WINDOWS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45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034" y="2307713"/>
            <a:ext cx="15447932" cy="5671573"/>
            <a:chOff x="0" y="0"/>
            <a:chExt cx="2393289" cy="878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3289" cy="878675"/>
            </a:xfrm>
            <a:custGeom>
              <a:avLst/>
              <a:gdLst/>
              <a:ahLst/>
              <a:cxnLst/>
              <a:rect r="r" b="b" t="t" l="l"/>
              <a:pathLst>
                <a:path h="878675" w="2393289">
                  <a:moveTo>
                    <a:pt x="0" y="0"/>
                  </a:moveTo>
                  <a:lnTo>
                    <a:pt x="2393289" y="0"/>
                  </a:lnTo>
                  <a:lnTo>
                    <a:pt x="2393289" y="878675"/>
                  </a:lnTo>
                  <a:lnTo>
                    <a:pt x="0" y="878675"/>
                  </a:lnTo>
                  <a:close/>
                </a:path>
              </a:pathLst>
            </a:custGeom>
            <a:blipFill>
              <a:blip r:embed="rId2"/>
              <a:stretch>
                <a:fillRect l="-293" t="0" r="-293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631993" y="8513957"/>
            <a:ext cx="11301259" cy="1158379"/>
          </a:xfrm>
          <a:custGeom>
            <a:avLst/>
            <a:gdLst/>
            <a:ahLst/>
            <a:cxnLst/>
            <a:rect r="r" b="b" t="t" l="l"/>
            <a:pathLst>
              <a:path h="1158379" w="11301259">
                <a:moveTo>
                  <a:pt x="0" y="0"/>
                </a:moveTo>
                <a:lnTo>
                  <a:pt x="11301259" y="0"/>
                </a:lnTo>
                <a:lnTo>
                  <a:pt x="11301259" y="1158379"/>
                </a:lnTo>
                <a:lnTo>
                  <a:pt x="0" y="115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97870" y="8054217"/>
            <a:ext cx="1492260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13">
                <a:solidFill>
                  <a:srgbClr val="2B2C3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ตัวอย่าง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17315"/>
            <a:ext cx="621567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OVERLAPPING WINDOWS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46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446397" y="1907293"/>
            <a:ext cx="9395206" cy="5693009"/>
          </a:xfrm>
          <a:custGeom>
            <a:avLst/>
            <a:gdLst/>
            <a:ahLst/>
            <a:cxnLst/>
            <a:rect r="r" b="b" t="t" l="l"/>
            <a:pathLst>
              <a:path h="5693009" w="9395206">
                <a:moveTo>
                  <a:pt x="0" y="0"/>
                </a:moveTo>
                <a:lnTo>
                  <a:pt x="9395206" y="0"/>
                </a:lnTo>
                <a:lnTo>
                  <a:pt x="9395206" y="5693009"/>
                </a:lnTo>
                <a:lnTo>
                  <a:pt x="0" y="5693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028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73640" y="7898139"/>
            <a:ext cx="14148652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Levenshtein distance เป็นการวัดความแตกต่างระหว่างสตริงสองตัว (หรือข้อความสองชุด)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โดยนับจำนวนขั้นตอนขั้นต่ำที่ต้องใช้ในการแก้ไขข้อความหนึ่งให้กลายเป็นข้อความอีกข้อความหนึ่ง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ขั้นตอนเหล่านี้ประกอบด้วยการ แทรก (insert), ลบ (delete), หรือ แทนที่ (substitute) อักขระ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17315"/>
            <a:ext cx="621567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OVERLAPPING WINDOWS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47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781695" y="2663618"/>
            <a:ext cx="9110252" cy="1575365"/>
          </a:xfrm>
          <a:custGeom>
            <a:avLst/>
            <a:gdLst/>
            <a:ahLst/>
            <a:cxnLst/>
            <a:rect r="r" b="b" t="t" l="l"/>
            <a:pathLst>
              <a:path h="1575365" w="9110252">
                <a:moveTo>
                  <a:pt x="0" y="0"/>
                </a:moveTo>
                <a:lnTo>
                  <a:pt x="9110251" y="0"/>
                </a:lnTo>
                <a:lnTo>
                  <a:pt x="9110251" y="1575366"/>
                </a:lnTo>
                <a:lnTo>
                  <a:pt x="0" y="157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23653" y="5143500"/>
            <a:ext cx="1240694" cy="12406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17315"/>
            <a:ext cx="621567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OVERLAPPING WINDOWS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10125" y="7289069"/>
            <a:ext cx="10453390" cy="853619"/>
            <a:chOff x="0" y="0"/>
            <a:chExt cx="13937854" cy="11381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9174686" y="148833"/>
              <a:ext cx="4763168" cy="913126"/>
            </a:xfrm>
            <a:custGeom>
              <a:avLst/>
              <a:gdLst/>
              <a:ahLst/>
              <a:cxnLst/>
              <a:rect r="r" b="b" t="t" l="l"/>
              <a:pathLst>
                <a:path h="913126" w="4763168">
                  <a:moveTo>
                    <a:pt x="0" y="0"/>
                  </a:moveTo>
                  <a:lnTo>
                    <a:pt x="4763168" y="0"/>
                  </a:lnTo>
                  <a:lnTo>
                    <a:pt x="4763168" y="913126"/>
                  </a:lnTo>
                  <a:lnTo>
                    <a:pt x="0" y="913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5153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48833"/>
              <a:ext cx="5745605" cy="913126"/>
            </a:xfrm>
            <a:custGeom>
              <a:avLst/>
              <a:gdLst/>
              <a:ahLst/>
              <a:cxnLst/>
              <a:rect r="r" b="b" t="t" l="l"/>
              <a:pathLst>
                <a:path h="913126" w="5745605">
                  <a:moveTo>
                    <a:pt x="0" y="0"/>
                  </a:moveTo>
                  <a:lnTo>
                    <a:pt x="5745605" y="0"/>
                  </a:lnTo>
                  <a:lnTo>
                    <a:pt x="5745605" y="913126"/>
                  </a:lnTo>
                  <a:lnTo>
                    <a:pt x="0" y="913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0271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5814127" y="271651"/>
              <a:ext cx="3286442" cy="570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990" spc="89">
                  <a:solidFill>
                    <a:srgbClr val="000000"/>
                  </a:solidFill>
                  <a:latin typeface="Boston Angel"/>
                  <a:ea typeface="Boston Angel"/>
                  <a:cs typeface="Boston Angel"/>
                  <a:sym typeface="Boston Angel"/>
                </a:rPr>
                <a:t>when the flakes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5720951" y="0"/>
              <a:ext cx="3512830" cy="1138159"/>
              <a:chOff x="0" y="0"/>
              <a:chExt cx="693892" cy="22482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93892" cy="224821"/>
              </a:xfrm>
              <a:custGeom>
                <a:avLst/>
                <a:gdLst/>
                <a:ahLst/>
                <a:cxnLst/>
                <a:rect r="r" b="b" t="t" l="l"/>
                <a:pathLst>
                  <a:path h="224821" w="693892">
                    <a:moveTo>
                      <a:pt x="0" y="0"/>
                    </a:moveTo>
                    <a:lnTo>
                      <a:pt x="693892" y="0"/>
                    </a:lnTo>
                    <a:lnTo>
                      <a:pt x="693892" y="224821"/>
                    </a:lnTo>
                    <a:lnTo>
                      <a:pt x="0" y="2248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28575"/>
                <a:ext cx="693892" cy="196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738148" y="2882131"/>
            <a:ext cx="12090936" cy="5682740"/>
          </a:xfrm>
          <a:custGeom>
            <a:avLst/>
            <a:gdLst/>
            <a:ahLst/>
            <a:cxnLst/>
            <a:rect r="r" b="b" t="t" l="l"/>
            <a:pathLst>
              <a:path h="5682740" w="12090936">
                <a:moveTo>
                  <a:pt x="0" y="0"/>
                </a:moveTo>
                <a:lnTo>
                  <a:pt x="12090935" y="0"/>
                </a:lnTo>
                <a:lnTo>
                  <a:pt x="12090935" y="5682739"/>
                </a:lnTo>
                <a:lnTo>
                  <a:pt x="0" y="5682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185015" y="1794031"/>
            <a:ext cx="59179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หากไม่มี STEP  ใดมีค่า DIstance เป็น 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17315"/>
            <a:ext cx="6215673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OVERLAPPING WINDOWS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64812" y="9203045"/>
            <a:ext cx="10158376" cy="666169"/>
            <a:chOff x="0" y="0"/>
            <a:chExt cx="13544502" cy="8882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15526" cy="888226"/>
            </a:xfrm>
            <a:custGeom>
              <a:avLst/>
              <a:gdLst/>
              <a:ahLst/>
              <a:cxnLst/>
              <a:rect r="r" b="b" t="t" l="l"/>
              <a:pathLst>
                <a:path h="888226" w="9215526">
                  <a:moveTo>
                    <a:pt x="0" y="0"/>
                  </a:moveTo>
                  <a:lnTo>
                    <a:pt x="9215526" y="0"/>
                  </a:lnTo>
                  <a:lnTo>
                    <a:pt x="9215526" y="888226"/>
                  </a:lnTo>
                  <a:lnTo>
                    <a:pt x="0" y="888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79318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152026" y="0"/>
              <a:ext cx="4392476" cy="888226"/>
            </a:xfrm>
            <a:custGeom>
              <a:avLst/>
              <a:gdLst/>
              <a:ahLst/>
              <a:cxnLst/>
              <a:rect r="r" b="b" t="t" l="l"/>
              <a:pathLst>
                <a:path h="888226" w="4392476">
                  <a:moveTo>
                    <a:pt x="0" y="0"/>
                  </a:moveTo>
                  <a:lnTo>
                    <a:pt x="4392476" y="0"/>
                  </a:lnTo>
                  <a:lnTo>
                    <a:pt x="4392476" y="888226"/>
                  </a:lnTo>
                  <a:lnTo>
                    <a:pt x="0" y="888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6214" t="0" r="0" b="0"/>
              </a:stretch>
            </a:blipFill>
          </p:spPr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007849" y="3504013"/>
            <a:ext cx="10272302" cy="3278973"/>
          </a:xfrm>
          <a:custGeom>
            <a:avLst/>
            <a:gdLst/>
            <a:ahLst/>
            <a:cxnLst/>
            <a:rect r="r" b="b" t="t" l="l"/>
            <a:pathLst>
              <a:path h="3278973" w="10272302">
                <a:moveTo>
                  <a:pt x="0" y="0"/>
                </a:moveTo>
                <a:lnTo>
                  <a:pt x="10272302" y="0"/>
                </a:lnTo>
                <a:lnTo>
                  <a:pt x="10272302" y="3278974"/>
                </a:lnTo>
                <a:lnTo>
                  <a:pt x="0" y="3278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716473" y="6782987"/>
            <a:ext cx="1240694" cy="12406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26683" y="8470161"/>
            <a:ext cx="10453390" cy="853619"/>
            <a:chOff x="0" y="0"/>
            <a:chExt cx="13937854" cy="1138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174686" y="148833"/>
              <a:ext cx="4763168" cy="913126"/>
            </a:xfrm>
            <a:custGeom>
              <a:avLst/>
              <a:gdLst/>
              <a:ahLst/>
              <a:cxnLst/>
              <a:rect r="r" b="b" t="t" l="l"/>
              <a:pathLst>
                <a:path h="913126" w="4763168">
                  <a:moveTo>
                    <a:pt x="0" y="0"/>
                  </a:moveTo>
                  <a:lnTo>
                    <a:pt x="4763168" y="0"/>
                  </a:lnTo>
                  <a:lnTo>
                    <a:pt x="4763168" y="913126"/>
                  </a:lnTo>
                  <a:lnTo>
                    <a:pt x="0" y="913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5153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48833"/>
              <a:ext cx="5745605" cy="913126"/>
            </a:xfrm>
            <a:custGeom>
              <a:avLst/>
              <a:gdLst/>
              <a:ahLst/>
              <a:cxnLst/>
              <a:rect r="r" b="b" t="t" l="l"/>
              <a:pathLst>
                <a:path h="913126" w="5745605">
                  <a:moveTo>
                    <a:pt x="0" y="0"/>
                  </a:moveTo>
                  <a:lnTo>
                    <a:pt x="5745605" y="0"/>
                  </a:lnTo>
                  <a:lnTo>
                    <a:pt x="5745605" y="913126"/>
                  </a:lnTo>
                  <a:lnTo>
                    <a:pt x="0" y="913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0271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5814127" y="271651"/>
              <a:ext cx="3286442" cy="570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990" spc="89">
                  <a:solidFill>
                    <a:srgbClr val="000000"/>
                  </a:solidFill>
                  <a:latin typeface="Boston Angel"/>
                  <a:ea typeface="Boston Angel"/>
                  <a:cs typeface="Boston Angel"/>
                  <a:sym typeface="Boston Angel"/>
                </a:rPr>
                <a:t>when the flakes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5720951" y="0"/>
              <a:ext cx="3512830" cy="1138159"/>
              <a:chOff x="0" y="0"/>
              <a:chExt cx="693892" cy="22482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93892" cy="224821"/>
              </a:xfrm>
              <a:custGeom>
                <a:avLst/>
                <a:gdLst/>
                <a:ahLst/>
                <a:cxnLst/>
                <a:rect r="r" b="b" t="t" l="l"/>
                <a:pathLst>
                  <a:path h="224821" w="693892">
                    <a:moveTo>
                      <a:pt x="0" y="0"/>
                    </a:moveTo>
                    <a:lnTo>
                      <a:pt x="693892" y="0"/>
                    </a:lnTo>
                    <a:lnTo>
                      <a:pt x="693892" y="224821"/>
                    </a:lnTo>
                    <a:lnTo>
                      <a:pt x="0" y="2248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693892" cy="196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2286963" y="2137203"/>
            <a:ext cx="1371407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ไม่เลือกคำที่ถูกตัด นั่นคือ คำสุดท้ายของชุดข้อความแรก และ คำแรกของชุดข้อความที่สอง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เลือกคำในตำแหน่งเดียวกันของอีกชุดข้อความแทน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817315"/>
            <a:ext cx="6353035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OVERLAPPING WINDOWS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721203" y="4728093"/>
            <a:ext cx="8845593" cy="78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4851" spc="24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52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63477" y="2430483"/>
            <a:ext cx="13561047" cy="6034666"/>
          </a:xfrm>
          <a:custGeom>
            <a:avLst/>
            <a:gdLst/>
            <a:ahLst/>
            <a:cxnLst/>
            <a:rect r="r" b="b" t="t" l="l"/>
            <a:pathLst>
              <a:path h="6034666" w="13561047">
                <a:moveTo>
                  <a:pt x="0" y="0"/>
                </a:moveTo>
                <a:lnTo>
                  <a:pt x="13561046" y="0"/>
                </a:lnTo>
                <a:lnTo>
                  <a:pt x="13561046" y="6034666"/>
                </a:lnTo>
                <a:lnTo>
                  <a:pt x="0" y="6034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17315"/>
            <a:ext cx="729261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08597" y="2663618"/>
            <a:ext cx="13670806" cy="5468322"/>
          </a:xfrm>
          <a:custGeom>
            <a:avLst/>
            <a:gdLst/>
            <a:ahLst/>
            <a:cxnLst/>
            <a:rect r="r" b="b" t="t" l="l"/>
            <a:pathLst>
              <a:path h="5468322" w="13670806">
                <a:moveTo>
                  <a:pt x="0" y="0"/>
                </a:moveTo>
                <a:lnTo>
                  <a:pt x="13670806" y="0"/>
                </a:lnTo>
                <a:lnTo>
                  <a:pt x="13670806" y="5468323"/>
                </a:lnTo>
                <a:lnTo>
                  <a:pt x="0" y="5468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17315"/>
            <a:ext cx="729261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54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05189" y="2421468"/>
            <a:ext cx="14077622" cy="6563691"/>
          </a:xfrm>
          <a:custGeom>
            <a:avLst/>
            <a:gdLst/>
            <a:ahLst/>
            <a:cxnLst/>
            <a:rect r="r" b="b" t="t" l="l"/>
            <a:pathLst>
              <a:path h="6563691" w="14077622">
                <a:moveTo>
                  <a:pt x="0" y="0"/>
                </a:moveTo>
                <a:lnTo>
                  <a:pt x="14077622" y="0"/>
                </a:lnTo>
                <a:lnTo>
                  <a:pt x="14077622" y="6563692"/>
                </a:lnTo>
                <a:lnTo>
                  <a:pt x="0" y="6563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17315"/>
            <a:ext cx="729261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60173" y="2072796"/>
            <a:ext cx="13567654" cy="6359838"/>
          </a:xfrm>
          <a:custGeom>
            <a:avLst/>
            <a:gdLst/>
            <a:ahLst/>
            <a:cxnLst/>
            <a:rect r="r" b="b" t="t" l="l"/>
            <a:pathLst>
              <a:path h="6359838" w="13567654">
                <a:moveTo>
                  <a:pt x="0" y="0"/>
                </a:moveTo>
                <a:lnTo>
                  <a:pt x="13567654" y="0"/>
                </a:lnTo>
                <a:lnTo>
                  <a:pt x="13567654" y="6359838"/>
                </a:lnTo>
                <a:lnTo>
                  <a:pt x="0" y="6359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17315"/>
            <a:ext cx="729261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56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47262" y="2663618"/>
            <a:ext cx="14393476" cy="5721407"/>
          </a:xfrm>
          <a:custGeom>
            <a:avLst/>
            <a:gdLst/>
            <a:ahLst/>
            <a:cxnLst/>
            <a:rect r="r" b="b" t="t" l="l"/>
            <a:pathLst>
              <a:path h="5721407" w="14393476">
                <a:moveTo>
                  <a:pt x="0" y="0"/>
                </a:moveTo>
                <a:lnTo>
                  <a:pt x="14393476" y="0"/>
                </a:lnTo>
                <a:lnTo>
                  <a:pt x="14393476" y="5721407"/>
                </a:lnTo>
                <a:lnTo>
                  <a:pt x="0" y="572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17315"/>
            <a:ext cx="729261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57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817315"/>
            <a:ext cx="7292611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Minimum Average Amplitude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66114" y="3096044"/>
            <a:ext cx="1121100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ข้อดี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 ลดจำนวนของ chunk และทำให้ chunk มีขนาดไม่เล็กเกินไปและใกล้เคียงกัน 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66114" y="5006124"/>
            <a:ext cx="1121100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ข้อเสีย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จุดที่เป็น Minimum Average Amplitude อาจะอยู่นอก analysis length 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การนำไปใช้กับโมเดล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58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990600"/>
            <a:ext cx="511692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999" spc="19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การนำไปใช้กับโมเดล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252550" y="3062529"/>
            <a:ext cx="13782901" cy="4161942"/>
            <a:chOff x="0" y="0"/>
            <a:chExt cx="18377201" cy="554925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7366831" y="0"/>
              <a:ext cx="3643538" cy="1792159"/>
              <a:chOff x="0" y="0"/>
              <a:chExt cx="719711" cy="35400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19711" cy="354007"/>
              </a:xfrm>
              <a:custGeom>
                <a:avLst/>
                <a:gdLst/>
                <a:ahLst/>
                <a:cxnLst/>
                <a:rect r="r" b="b" t="t" l="l"/>
                <a:pathLst>
                  <a:path h="354007" w="719711">
                    <a:moveTo>
                      <a:pt x="56662" y="0"/>
                    </a:moveTo>
                    <a:lnTo>
                      <a:pt x="663049" y="0"/>
                    </a:lnTo>
                    <a:cubicBezTo>
                      <a:pt x="678077" y="0"/>
                      <a:pt x="692489" y="5970"/>
                      <a:pt x="703115" y="16596"/>
                    </a:cubicBezTo>
                    <a:cubicBezTo>
                      <a:pt x="713742" y="27222"/>
                      <a:pt x="719711" y="41635"/>
                      <a:pt x="719711" y="56662"/>
                    </a:cubicBezTo>
                    <a:lnTo>
                      <a:pt x="719711" y="297345"/>
                    </a:lnTo>
                    <a:cubicBezTo>
                      <a:pt x="719711" y="328638"/>
                      <a:pt x="694343" y="354007"/>
                      <a:pt x="663049" y="354007"/>
                    </a:cubicBezTo>
                    <a:lnTo>
                      <a:pt x="56662" y="354007"/>
                    </a:lnTo>
                    <a:cubicBezTo>
                      <a:pt x="41635" y="354007"/>
                      <a:pt x="27222" y="348037"/>
                      <a:pt x="16596" y="337411"/>
                    </a:cubicBezTo>
                    <a:cubicBezTo>
                      <a:pt x="5970" y="326785"/>
                      <a:pt x="0" y="312372"/>
                      <a:pt x="0" y="297345"/>
                    </a:cubicBezTo>
                    <a:lnTo>
                      <a:pt x="0" y="56662"/>
                    </a:lnTo>
                    <a:cubicBezTo>
                      <a:pt x="0" y="41635"/>
                      <a:pt x="5970" y="27222"/>
                      <a:pt x="16596" y="16596"/>
                    </a:cubicBezTo>
                    <a:cubicBezTo>
                      <a:pt x="27222" y="5970"/>
                      <a:pt x="41635" y="0"/>
                      <a:pt x="5666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28575"/>
                <a:ext cx="719711" cy="32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Clean data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733663" y="0"/>
              <a:ext cx="3643538" cy="1792159"/>
              <a:chOff x="0" y="0"/>
              <a:chExt cx="719711" cy="35400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19711" cy="354007"/>
              </a:xfrm>
              <a:custGeom>
                <a:avLst/>
                <a:gdLst/>
                <a:ahLst/>
                <a:cxnLst/>
                <a:rect r="r" b="b" t="t" l="l"/>
                <a:pathLst>
                  <a:path h="354007" w="719711">
                    <a:moveTo>
                      <a:pt x="56662" y="0"/>
                    </a:moveTo>
                    <a:lnTo>
                      <a:pt x="663049" y="0"/>
                    </a:lnTo>
                    <a:cubicBezTo>
                      <a:pt x="678077" y="0"/>
                      <a:pt x="692489" y="5970"/>
                      <a:pt x="703115" y="16596"/>
                    </a:cubicBezTo>
                    <a:cubicBezTo>
                      <a:pt x="713742" y="27222"/>
                      <a:pt x="719711" y="41635"/>
                      <a:pt x="719711" y="56662"/>
                    </a:cubicBezTo>
                    <a:lnTo>
                      <a:pt x="719711" y="297345"/>
                    </a:lnTo>
                    <a:cubicBezTo>
                      <a:pt x="719711" y="328638"/>
                      <a:pt x="694343" y="354007"/>
                      <a:pt x="663049" y="354007"/>
                    </a:cubicBezTo>
                    <a:lnTo>
                      <a:pt x="56662" y="354007"/>
                    </a:lnTo>
                    <a:cubicBezTo>
                      <a:pt x="41635" y="354007"/>
                      <a:pt x="27222" y="348037"/>
                      <a:pt x="16596" y="337411"/>
                    </a:cubicBezTo>
                    <a:cubicBezTo>
                      <a:pt x="5970" y="326785"/>
                      <a:pt x="0" y="312372"/>
                      <a:pt x="0" y="297345"/>
                    </a:cubicBezTo>
                    <a:lnTo>
                      <a:pt x="0" y="56662"/>
                    </a:lnTo>
                    <a:cubicBezTo>
                      <a:pt x="0" y="41635"/>
                      <a:pt x="5970" y="27222"/>
                      <a:pt x="16596" y="16596"/>
                    </a:cubicBezTo>
                    <a:cubicBezTo>
                      <a:pt x="27222" y="5970"/>
                      <a:pt x="41635" y="0"/>
                      <a:pt x="5666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28575"/>
                <a:ext cx="719711" cy="32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VAD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733663" y="3757097"/>
              <a:ext cx="3643538" cy="1792159"/>
              <a:chOff x="0" y="0"/>
              <a:chExt cx="719711" cy="35400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19711" cy="354007"/>
              </a:xfrm>
              <a:custGeom>
                <a:avLst/>
                <a:gdLst/>
                <a:ahLst/>
                <a:cxnLst/>
                <a:rect r="r" b="b" t="t" l="l"/>
                <a:pathLst>
                  <a:path h="354007" w="719711">
                    <a:moveTo>
                      <a:pt x="56662" y="0"/>
                    </a:moveTo>
                    <a:lnTo>
                      <a:pt x="663049" y="0"/>
                    </a:lnTo>
                    <a:cubicBezTo>
                      <a:pt x="678077" y="0"/>
                      <a:pt x="692489" y="5970"/>
                      <a:pt x="703115" y="16596"/>
                    </a:cubicBezTo>
                    <a:cubicBezTo>
                      <a:pt x="713742" y="27222"/>
                      <a:pt x="719711" y="41635"/>
                      <a:pt x="719711" y="56662"/>
                    </a:cubicBezTo>
                    <a:lnTo>
                      <a:pt x="719711" y="297345"/>
                    </a:lnTo>
                    <a:cubicBezTo>
                      <a:pt x="719711" y="328638"/>
                      <a:pt x="694343" y="354007"/>
                      <a:pt x="663049" y="354007"/>
                    </a:cubicBezTo>
                    <a:lnTo>
                      <a:pt x="56662" y="354007"/>
                    </a:lnTo>
                    <a:cubicBezTo>
                      <a:pt x="41635" y="354007"/>
                      <a:pt x="27222" y="348037"/>
                      <a:pt x="16596" y="337411"/>
                    </a:cubicBezTo>
                    <a:cubicBezTo>
                      <a:pt x="5970" y="326785"/>
                      <a:pt x="0" y="312372"/>
                      <a:pt x="0" y="297345"/>
                    </a:cubicBezTo>
                    <a:lnTo>
                      <a:pt x="0" y="56662"/>
                    </a:lnTo>
                    <a:cubicBezTo>
                      <a:pt x="0" y="41635"/>
                      <a:pt x="5970" y="27222"/>
                      <a:pt x="16596" y="16596"/>
                    </a:cubicBezTo>
                    <a:cubicBezTo>
                      <a:pt x="27222" y="5970"/>
                      <a:pt x="41635" y="0"/>
                      <a:pt x="5666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719711" cy="32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Segmentation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291962" y="3757097"/>
              <a:ext cx="3643538" cy="1792159"/>
              <a:chOff x="0" y="0"/>
              <a:chExt cx="719711" cy="35400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19711" cy="354007"/>
              </a:xfrm>
              <a:custGeom>
                <a:avLst/>
                <a:gdLst/>
                <a:ahLst/>
                <a:cxnLst/>
                <a:rect r="r" b="b" t="t" l="l"/>
                <a:pathLst>
                  <a:path h="354007" w="719711">
                    <a:moveTo>
                      <a:pt x="56662" y="0"/>
                    </a:moveTo>
                    <a:lnTo>
                      <a:pt x="663049" y="0"/>
                    </a:lnTo>
                    <a:cubicBezTo>
                      <a:pt x="678077" y="0"/>
                      <a:pt x="692489" y="5970"/>
                      <a:pt x="703115" y="16596"/>
                    </a:cubicBezTo>
                    <a:cubicBezTo>
                      <a:pt x="713742" y="27222"/>
                      <a:pt x="719711" y="41635"/>
                      <a:pt x="719711" y="56662"/>
                    </a:cubicBezTo>
                    <a:lnTo>
                      <a:pt x="719711" y="297345"/>
                    </a:lnTo>
                    <a:cubicBezTo>
                      <a:pt x="719711" y="328638"/>
                      <a:pt x="694343" y="354007"/>
                      <a:pt x="663049" y="354007"/>
                    </a:cubicBezTo>
                    <a:lnTo>
                      <a:pt x="56662" y="354007"/>
                    </a:lnTo>
                    <a:cubicBezTo>
                      <a:pt x="41635" y="354007"/>
                      <a:pt x="27222" y="348037"/>
                      <a:pt x="16596" y="337411"/>
                    </a:cubicBezTo>
                    <a:cubicBezTo>
                      <a:pt x="5970" y="326785"/>
                      <a:pt x="0" y="312372"/>
                      <a:pt x="0" y="297345"/>
                    </a:cubicBezTo>
                    <a:lnTo>
                      <a:pt x="0" y="56662"/>
                    </a:lnTo>
                    <a:cubicBezTo>
                      <a:pt x="0" y="41635"/>
                      <a:pt x="5970" y="27222"/>
                      <a:pt x="16596" y="16596"/>
                    </a:cubicBezTo>
                    <a:cubicBezTo>
                      <a:pt x="27222" y="5970"/>
                      <a:pt x="41635" y="0"/>
                      <a:pt x="5666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719711" cy="32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Model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3757097"/>
              <a:ext cx="3643538" cy="1792159"/>
              <a:chOff x="0" y="0"/>
              <a:chExt cx="719711" cy="35400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19711" cy="354007"/>
              </a:xfrm>
              <a:custGeom>
                <a:avLst/>
                <a:gdLst/>
                <a:ahLst/>
                <a:cxnLst/>
                <a:rect r="r" b="b" t="t" l="l"/>
                <a:pathLst>
                  <a:path h="354007" w="719711">
                    <a:moveTo>
                      <a:pt x="56662" y="0"/>
                    </a:moveTo>
                    <a:lnTo>
                      <a:pt x="663049" y="0"/>
                    </a:lnTo>
                    <a:cubicBezTo>
                      <a:pt x="678077" y="0"/>
                      <a:pt x="692489" y="5970"/>
                      <a:pt x="703115" y="16596"/>
                    </a:cubicBezTo>
                    <a:cubicBezTo>
                      <a:pt x="713742" y="27222"/>
                      <a:pt x="719711" y="41635"/>
                      <a:pt x="719711" y="56662"/>
                    </a:cubicBezTo>
                    <a:lnTo>
                      <a:pt x="719711" y="297345"/>
                    </a:lnTo>
                    <a:cubicBezTo>
                      <a:pt x="719711" y="328638"/>
                      <a:pt x="694343" y="354007"/>
                      <a:pt x="663049" y="354007"/>
                    </a:cubicBezTo>
                    <a:lnTo>
                      <a:pt x="56662" y="354007"/>
                    </a:lnTo>
                    <a:cubicBezTo>
                      <a:pt x="41635" y="354007"/>
                      <a:pt x="27222" y="348037"/>
                      <a:pt x="16596" y="337411"/>
                    </a:cubicBezTo>
                    <a:cubicBezTo>
                      <a:pt x="5970" y="326785"/>
                      <a:pt x="0" y="312372"/>
                      <a:pt x="0" y="297345"/>
                    </a:cubicBezTo>
                    <a:lnTo>
                      <a:pt x="0" y="56662"/>
                    </a:lnTo>
                    <a:cubicBezTo>
                      <a:pt x="0" y="41635"/>
                      <a:pt x="5970" y="27222"/>
                      <a:pt x="16596" y="16596"/>
                    </a:cubicBezTo>
                    <a:cubicBezTo>
                      <a:pt x="27222" y="5970"/>
                      <a:pt x="41635" y="0"/>
                      <a:pt x="5666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719711" cy="32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Result</a:t>
                </a:r>
              </a:p>
            </p:txBody>
          </p:sp>
        </p:grpSp>
        <p:sp>
          <p:nvSpPr>
            <p:cNvPr name="AutoShape 27" id="27"/>
            <p:cNvSpPr/>
            <p:nvPr/>
          </p:nvSpPr>
          <p:spPr>
            <a:xfrm>
              <a:off x="3643538" y="896080"/>
              <a:ext cx="3723293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1010370" y="896080"/>
              <a:ext cx="3723293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3643538" cy="1792159"/>
              <a:chOff x="0" y="0"/>
              <a:chExt cx="719711" cy="35400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19711" cy="354007"/>
              </a:xfrm>
              <a:custGeom>
                <a:avLst/>
                <a:gdLst/>
                <a:ahLst/>
                <a:cxnLst/>
                <a:rect r="r" b="b" t="t" l="l"/>
                <a:pathLst>
                  <a:path h="354007" w="719711">
                    <a:moveTo>
                      <a:pt x="56662" y="0"/>
                    </a:moveTo>
                    <a:lnTo>
                      <a:pt x="663049" y="0"/>
                    </a:lnTo>
                    <a:cubicBezTo>
                      <a:pt x="678077" y="0"/>
                      <a:pt x="692489" y="5970"/>
                      <a:pt x="703115" y="16596"/>
                    </a:cubicBezTo>
                    <a:cubicBezTo>
                      <a:pt x="713742" y="27222"/>
                      <a:pt x="719711" y="41635"/>
                      <a:pt x="719711" y="56662"/>
                    </a:cubicBezTo>
                    <a:lnTo>
                      <a:pt x="719711" y="297345"/>
                    </a:lnTo>
                    <a:cubicBezTo>
                      <a:pt x="719711" y="328638"/>
                      <a:pt x="694343" y="354007"/>
                      <a:pt x="663049" y="354007"/>
                    </a:cubicBezTo>
                    <a:lnTo>
                      <a:pt x="56662" y="354007"/>
                    </a:lnTo>
                    <a:cubicBezTo>
                      <a:pt x="41635" y="354007"/>
                      <a:pt x="27222" y="348037"/>
                      <a:pt x="16596" y="337411"/>
                    </a:cubicBezTo>
                    <a:cubicBezTo>
                      <a:pt x="5970" y="326785"/>
                      <a:pt x="0" y="312372"/>
                      <a:pt x="0" y="297345"/>
                    </a:cubicBezTo>
                    <a:lnTo>
                      <a:pt x="0" y="56662"/>
                    </a:lnTo>
                    <a:cubicBezTo>
                      <a:pt x="0" y="41635"/>
                      <a:pt x="5970" y="27222"/>
                      <a:pt x="16596" y="16596"/>
                    </a:cubicBezTo>
                    <a:cubicBezTo>
                      <a:pt x="27222" y="5970"/>
                      <a:pt x="41635" y="0"/>
                      <a:pt x="56662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28575"/>
                <a:ext cx="719711" cy="325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48"/>
                  </a:lnSpc>
                </a:pPr>
                <a:r>
                  <a:rPr lang="en-US" sz="2400" b="true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Audio &amp;</a:t>
                </a:r>
              </a:p>
              <a:p>
                <a:pPr algn="ctr">
                  <a:lnSpc>
                    <a:spcPts val="2448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Bai Jamjuree Bold"/>
                    <a:ea typeface="Bai Jamjuree Bold"/>
                    <a:cs typeface="Bai Jamjuree Bold"/>
                    <a:sym typeface="Bai Jamjuree Bold"/>
                  </a:rPr>
                  <a:t>Transcription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2066938" y="99226"/>
              <a:ext cx="1610157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400" spc="12">
                  <a:solidFill>
                    <a:srgbClr val="2B2C3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audio</a:t>
              </a:r>
            </a:p>
          </p:txBody>
        </p:sp>
        <p:sp>
          <p:nvSpPr>
            <p:cNvPr name="AutoShape 33" id="33"/>
            <p:cNvSpPr/>
            <p:nvPr/>
          </p:nvSpPr>
          <p:spPr>
            <a:xfrm>
              <a:off x="16555432" y="1792159"/>
              <a:ext cx="0" cy="196493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34" id="34"/>
            <p:cNvSpPr/>
            <p:nvPr/>
          </p:nvSpPr>
          <p:spPr>
            <a:xfrm flipH="true">
              <a:off x="10935500" y="4653176"/>
              <a:ext cx="3798163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11160900" y="3718997"/>
              <a:ext cx="3422232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400" spc="12">
                  <a:solidFill>
                    <a:srgbClr val="2B2C3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Segments audio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756634" y="3718997"/>
              <a:ext cx="3422232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400" spc="12">
                  <a:solidFill>
                    <a:srgbClr val="2B2C3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Text</a:t>
              </a:r>
            </a:p>
          </p:txBody>
        </p:sp>
        <p:sp>
          <p:nvSpPr>
            <p:cNvPr name="AutoShape 37" id="37"/>
            <p:cNvSpPr/>
            <p:nvPr/>
          </p:nvSpPr>
          <p:spPr>
            <a:xfrm flipH="true">
              <a:off x="3643538" y="4653176"/>
              <a:ext cx="3648423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2321376" y="7924694"/>
            <a:ext cx="1371407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ดำเนินการบนภาษา python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59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การทดสอบประสิทธิภาพ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178178" y="8486148"/>
            <a:ext cx="1230735" cy="2038115"/>
            <a:chOff x="0" y="0"/>
            <a:chExt cx="1474831" cy="24423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20162" y="9106902"/>
            <a:ext cx="6452929" cy="921321"/>
            <a:chOff x="0" y="0"/>
            <a:chExt cx="7732761" cy="1104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60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9282" y="3833353"/>
            <a:ext cx="4009437" cy="1180589"/>
            <a:chOff x="0" y="0"/>
            <a:chExt cx="5345916" cy="157411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345916" cy="1574118"/>
              <a:chOff x="0" y="0"/>
              <a:chExt cx="1055983" cy="31093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55983" cy="310937"/>
              </a:xfrm>
              <a:custGeom>
                <a:avLst/>
                <a:gdLst/>
                <a:ahLst/>
                <a:cxnLst/>
                <a:rect r="r" b="b" t="t" l="l"/>
                <a:pathLst>
                  <a:path h="310937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272318"/>
                    </a:lnTo>
                    <a:cubicBezTo>
                      <a:pt x="1055983" y="293647"/>
                      <a:pt x="1038693" y="310937"/>
                      <a:pt x="1017365" y="310937"/>
                    </a:cubicBezTo>
                    <a:lnTo>
                      <a:pt x="38618" y="310937"/>
                    </a:lnTo>
                    <a:cubicBezTo>
                      <a:pt x="28376" y="310937"/>
                      <a:pt x="18553" y="306868"/>
                      <a:pt x="11311" y="299626"/>
                    </a:cubicBezTo>
                    <a:cubicBezTo>
                      <a:pt x="4069" y="292383"/>
                      <a:pt x="0" y="282561"/>
                      <a:pt x="0" y="272318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055983" cy="339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008896" y="365441"/>
              <a:ext cx="3328124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Result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36374" y="6986388"/>
            <a:ext cx="4009437" cy="1818764"/>
            <a:chOff x="0" y="0"/>
            <a:chExt cx="5345916" cy="242501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345916" cy="2425018"/>
              <a:chOff x="0" y="0"/>
              <a:chExt cx="1055983" cy="47901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55983" cy="479016"/>
              </a:xfrm>
              <a:custGeom>
                <a:avLst/>
                <a:gdLst/>
                <a:ahLst/>
                <a:cxnLst/>
                <a:rect r="r" b="b" t="t" l="l"/>
                <a:pathLst>
                  <a:path h="479016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440397"/>
                    </a:lnTo>
                    <a:cubicBezTo>
                      <a:pt x="1055983" y="450640"/>
                      <a:pt x="1051915" y="460462"/>
                      <a:pt x="1044672" y="467705"/>
                    </a:cubicBezTo>
                    <a:cubicBezTo>
                      <a:pt x="1037430" y="474947"/>
                      <a:pt x="1027607" y="479016"/>
                      <a:pt x="1017365" y="479016"/>
                    </a:cubicBezTo>
                    <a:lnTo>
                      <a:pt x="38618" y="479016"/>
                    </a:lnTo>
                    <a:cubicBezTo>
                      <a:pt x="28376" y="479016"/>
                      <a:pt x="18553" y="474947"/>
                      <a:pt x="11311" y="467705"/>
                    </a:cubicBezTo>
                    <a:cubicBezTo>
                      <a:pt x="4069" y="460462"/>
                      <a:pt x="0" y="450640"/>
                      <a:pt x="0" y="440397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055983" cy="507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008896" y="365441"/>
              <a:ext cx="3328124" cy="1637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Run Time Average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42189" y="6986388"/>
            <a:ext cx="4009437" cy="1818764"/>
            <a:chOff x="0" y="0"/>
            <a:chExt cx="5345916" cy="242501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345916" cy="2425018"/>
              <a:chOff x="0" y="0"/>
              <a:chExt cx="1055983" cy="47901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55983" cy="479016"/>
              </a:xfrm>
              <a:custGeom>
                <a:avLst/>
                <a:gdLst/>
                <a:ahLst/>
                <a:cxnLst/>
                <a:rect r="r" b="b" t="t" l="l"/>
                <a:pathLst>
                  <a:path h="479016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440397"/>
                    </a:lnTo>
                    <a:cubicBezTo>
                      <a:pt x="1055983" y="450640"/>
                      <a:pt x="1051915" y="460462"/>
                      <a:pt x="1044672" y="467705"/>
                    </a:cubicBezTo>
                    <a:cubicBezTo>
                      <a:pt x="1037430" y="474947"/>
                      <a:pt x="1027607" y="479016"/>
                      <a:pt x="1017365" y="479016"/>
                    </a:cubicBezTo>
                    <a:lnTo>
                      <a:pt x="38618" y="479016"/>
                    </a:lnTo>
                    <a:cubicBezTo>
                      <a:pt x="28376" y="479016"/>
                      <a:pt x="18553" y="474947"/>
                      <a:pt x="11311" y="467705"/>
                    </a:cubicBezTo>
                    <a:cubicBezTo>
                      <a:pt x="4069" y="460462"/>
                      <a:pt x="0" y="450640"/>
                      <a:pt x="0" y="440397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1055983" cy="507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008896" y="365441"/>
              <a:ext cx="3328124" cy="1637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Word Error Rate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990600"/>
            <a:ext cx="6683705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การทดสอบประสิทธิภาพ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18477" y="2351898"/>
            <a:ext cx="659569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การทดลองนี้วัดประสิทธิภาพของโมเดล ASR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144000" y="5013942"/>
            <a:ext cx="0" cy="9818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9144000" y="5995788"/>
            <a:ext cx="43970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4746907" y="5995788"/>
            <a:ext cx="43970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4746907" y="5995788"/>
            <a:ext cx="0" cy="990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3541093" y="5995788"/>
            <a:ext cx="0" cy="990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39282" y="6986388"/>
            <a:ext cx="4009437" cy="1818764"/>
            <a:chOff x="0" y="0"/>
            <a:chExt cx="5345916" cy="242501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5345916" cy="2425018"/>
              <a:chOff x="0" y="0"/>
              <a:chExt cx="1055983" cy="47901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55983" cy="479016"/>
              </a:xfrm>
              <a:custGeom>
                <a:avLst/>
                <a:gdLst/>
                <a:ahLst/>
                <a:cxnLst/>
                <a:rect r="r" b="b" t="t" l="l"/>
                <a:pathLst>
                  <a:path h="479016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440397"/>
                    </a:lnTo>
                    <a:cubicBezTo>
                      <a:pt x="1055983" y="450640"/>
                      <a:pt x="1051915" y="460462"/>
                      <a:pt x="1044672" y="467705"/>
                    </a:cubicBezTo>
                    <a:cubicBezTo>
                      <a:pt x="1037430" y="474947"/>
                      <a:pt x="1027607" y="479016"/>
                      <a:pt x="1017365" y="479016"/>
                    </a:cubicBezTo>
                    <a:lnTo>
                      <a:pt x="38618" y="479016"/>
                    </a:lnTo>
                    <a:cubicBezTo>
                      <a:pt x="28376" y="479016"/>
                      <a:pt x="18553" y="474947"/>
                      <a:pt x="11311" y="467705"/>
                    </a:cubicBezTo>
                    <a:cubicBezTo>
                      <a:pt x="4069" y="460462"/>
                      <a:pt x="0" y="450640"/>
                      <a:pt x="0" y="440397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1055983" cy="507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008896" y="365441"/>
              <a:ext cx="3328124" cy="1637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Character error Rate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9144000" y="5995788"/>
            <a:ext cx="0" cy="990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73958" y="2034696"/>
            <a:ext cx="8301566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spc="13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พัฒนา</a:t>
            </a:r>
            <a:r>
              <a:rPr lang="en-US" sz="2799" spc="13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เว็บแอปพลิเคชัน</a:t>
            </a:r>
          </a:p>
          <a:p>
            <a:pPr algn="ctr">
              <a:lnSpc>
                <a:spcPts val="3639"/>
              </a:lnSpc>
            </a:pPr>
            <a:r>
              <a:rPr lang="en-US" sz="2799" spc="13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เพื่อใช้ในการตรวจสอบประสิทธิภาพ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28891" y="5475592"/>
            <a:ext cx="2462152" cy="1116883"/>
            <a:chOff x="0" y="0"/>
            <a:chExt cx="3282869" cy="148917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282869" cy="1489178"/>
              <a:chOff x="0" y="0"/>
              <a:chExt cx="1055983" cy="47901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55983" cy="479016"/>
              </a:xfrm>
              <a:custGeom>
                <a:avLst/>
                <a:gdLst/>
                <a:ahLst/>
                <a:cxnLst/>
                <a:rect r="r" b="b" t="t" l="l"/>
                <a:pathLst>
                  <a:path h="479016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440397"/>
                    </a:lnTo>
                    <a:cubicBezTo>
                      <a:pt x="1055983" y="450640"/>
                      <a:pt x="1051915" y="460462"/>
                      <a:pt x="1044672" y="467705"/>
                    </a:cubicBezTo>
                    <a:cubicBezTo>
                      <a:pt x="1037430" y="474947"/>
                      <a:pt x="1027607" y="479016"/>
                      <a:pt x="1017365" y="479016"/>
                    </a:cubicBezTo>
                    <a:lnTo>
                      <a:pt x="38618" y="479016"/>
                    </a:lnTo>
                    <a:cubicBezTo>
                      <a:pt x="28376" y="479016"/>
                      <a:pt x="18553" y="474947"/>
                      <a:pt x="11311" y="467705"/>
                    </a:cubicBezTo>
                    <a:cubicBezTo>
                      <a:pt x="4069" y="460462"/>
                      <a:pt x="0" y="450640"/>
                      <a:pt x="0" y="440397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83C4F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1055983" cy="507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19552" y="221409"/>
              <a:ext cx="2043765" cy="100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95"/>
                </a:lnSpc>
                <a:spcBef>
                  <a:spcPct val="0"/>
                </a:spcBef>
              </a:pPr>
              <a:r>
                <a:rPr lang="en-US" b="true" sz="221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Web aplication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999" y="1038381"/>
            <a:ext cx="944021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เครื่องมือที่ใช้ในการตรวจสอบประสิทธิภาพ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80202" y="5517555"/>
            <a:ext cx="2277139" cy="1032957"/>
            <a:chOff x="0" y="0"/>
            <a:chExt cx="3036185" cy="137727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036185" cy="1377276"/>
              <a:chOff x="0" y="0"/>
              <a:chExt cx="1055983" cy="47901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55983" cy="479016"/>
              </a:xfrm>
              <a:custGeom>
                <a:avLst/>
                <a:gdLst/>
                <a:ahLst/>
                <a:cxnLst/>
                <a:rect r="r" b="b" t="t" l="l"/>
                <a:pathLst>
                  <a:path h="479016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440397"/>
                    </a:lnTo>
                    <a:cubicBezTo>
                      <a:pt x="1055983" y="450640"/>
                      <a:pt x="1051915" y="460462"/>
                      <a:pt x="1044672" y="467705"/>
                    </a:cubicBezTo>
                    <a:cubicBezTo>
                      <a:pt x="1037430" y="474947"/>
                      <a:pt x="1027607" y="479016"/>
                      <a:pt x="1017365" y="479016"/>
                    </a:cubicBezTo>
                    <a:lnTo>
                      <a:pt x="38618" y="479016"/>
                    </a:lnTo>
                    <a:cubicBezTo>
                      <a:pt x="28376" y="479016"/>
                      <a:pt x="18553" y="474947"/>
                      <a:pt x="11311" y="467705"/>
                    </a:cubicBezTo>
                    <a:cubicBezTo>
                      <a:pt x="4069" y="460462"/>
                      <a:pt x="0" y="450640"/>
                      <a:pt x="0" y="440397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055983" cy="507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72997" y="201908"/>
              <a:ext cx="1890191" cy="935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2"/>
                </a:lnSpc>
              </a:pPr>
              <a:r>
                <a:rPr lang="en-US" sz="2044" b="true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ASR</a:t>
              </a:r>
            </a:p>
            <a:p>
              <a:pPr algn="ctr">
                <a:lnSpc>
                  <a:spcPts val="2862"/>
                </a:lnSpc>
                <a:spcBef>
                  <a:spcPct val="0"/>
                </a:spcBef>
              </a:pPr>
              <a:r>
                <a:rPr lang="en-US" b="true" sz="2044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Model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20938" y="5543915"/>
            <a:ext cx="2875552" cy="980237"/>
            <a:chOff x="0" y="0"/>
            <a:chExt cx="3834069" cy="130698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834069" cy="1306982"/>
              <a:chOff x="0" y="0"/>
              <a:chExt cx="1405206" cy="47901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05206" cy="479016"/>
              </a:xfrm>
              <a:custGeom>
                <a:avLst/>
                <a:gdLst/>
                <a:ahLst/>
                <a:cxnLst/>
                <a:rect r="r" b="b" t="t" l="l"/>
                <a:pathLst>
                  <a:path h="479016" w="1405206">
                    <a:moveTo>
                      <a:pt x="29021" y="0"/>
                    </a:moveTo>
                    <a:lnTo>
                      <a:pt x="1376185" y="0"/>
                    </a:lnTo>
                    <a:cubicBezTo>
                      <a:pt x="1383882" y="0"/>
                      <a:pt x="1391264" y="3058"/>
                      <a:pt x="1396706" y="8500"/>
                    </a:cubicBezTo>
                    <a:cubicBezTo>
                      <a:pt x="1402149" y="13943"/>
                      <a:pt x="1405206" y="21324"/>
                      <a:pt x="1405206" y="29021"/>
                    </a:cubicBezTo>
                    <a:lnTo>
                      <a:pt x="1405206" y="449995"/>
                    </a:lnTo>
                    <a:cubicBezTo>
                      <a:pt x="1405206" y="457692"/>
                      <a:pt x="1402149" y="465073"/>
                      <a:pt x="1396706" y="470516"/>
                    </a:cubicBezTo>
                    <a:cubicBezTo>
                      <a:pt x="1391264" y="475958"/>
                      <a:pt x="1383882" y="479016"/>
                      <a:pt x="1376185" y="479016"/>
                    </a:cubicBezTo>
                    <a:lnTo>
                      <a:pt x="29021" y="479016"/>
                    </a:lnTo>
                    <a:cubicBezTo>
                      <a:pt x="21324" y="479016"/>
                      <a:pt x="13943" y="475958"/>
                      <a:pt x="8500" y="470516"/>
                    </a:cubicBezTo>
                    <a:cubicBezTo>
                      <a:pt x="3058" y="465073"/>
                      <a:pt x="0" y="457692"/>
                      <a:pt x="0" y="449995"/>
                    </a:cubicBezTo>
                    <a:lnTo>
                      <a:pt x="0" y="29021"/>
                    </a:lnTo>
                    <a:cubicBezTo>
                      <a:pt x="0" y="21324"/>
                      <a:pt x="3058" y="13943"/>
                      <a:pt x="8500" y="8500"/>
                    </a:cubicBezTo>
                    <a:cubicBezTo>
                      <a:pt x="13943" y="3058"/>
                      <a:pt x="21324" y="0"/>
                      <a:pt x="29021" y="0"/>
                    </a:cubicBezTo>
                    <a:close/>
                  </a:path>
                </a:pathLst>
              </a:custGeom>
              <a:solidFill>
                <a:srgbClr val="FF7D2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1405206" cy="507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723576" y="189659"/>
              <a:ext cx="2386917" cy="889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b="true" sz="1940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Speech segmentation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5999" y="1985031"/>
            <a:ext cx="3086100" cy="8098005"/>
            <a:chOff x="0" y="0"/>
            <a:chExt cx="812800" cy="2132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2132808"/>
            </a:xfrm>
            <a:custGeom>
              <a:avLst/>
              <a:gdLst/>
              <a:ahLst/>
              <a:cxnLst/>
              <a:rect r="r" b="b" t="t" l="l"/>
              <a:pathLst>
                <a:path h="213280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04867"/>
                  </a:lnTo>
                  <a:cubicBezTo>
                    <a:pt x="812800" y="2038799"/>
                    <a:pt x="799321" y="2071341"/>
                    <a:pt x="775327" y="2095335"/>
                  </a:cubicBezTo>
                  <a:cubicBezTo>
                    <a:pt x="751333" y="2119329"/>
                    <a:pt x="718791" y="2132808"/>
                    <a:pt x="684859" y="2132808"/>
                  </a:cubicBezTo>
                  <a:lnTo>
                    <a:pt x="127941" y="2132808"/>
                  </a:lnTo>
                  <a:cubicBezTo>
                    <a:pt x="94009" y="2132808"/>
                    <a:pt x="61467" y="2119329"/>
                    <a:pt x="37473" y="2095335"/>
                  </a:cubicBezTo>
                  <a:cubicBezTo>
                    <a:pt x="13479" y="2071341"/>
                    <a:pt x="0" y="2038799"/>
                    <a:pt x="0" y="200486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812800" cy="210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3846" y="3971047"/>
            <a:ext cx="2430407" cy="980237"/>
            <a:chOff x="0" y="0"/>
            <a:chExt cx="640107" cy="2581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SLIDING WINDOWS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3846" y="5475159"/>
            <a:ext cx="2430407" cy="980237"/>
            <a:chOff x="0" y="0"/>
            <a:chExt cx="640107" cy="2581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SLIDE </a:t>
              </a:r>
            </a:p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AND SPLIT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3846" y="6974625"/>
            <a:ext cx="2430407" cy="980237"/>
            <a:chOff x="0" y="0"/>
            <a:chExt cx="640107" cy="2581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OVERLAP</a:t>
              </a:r>
            </a:p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WINDOWS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926175" y="4402801"/>
            <a:ext cx="2277139" cy="670509"/>
            <a:chOff x="0" y="0"/>
            <a:chExt cx="3036185" cy="8940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3036185" cy="894012"/>
              <a:chOff x="0" y="0"/>
              <a:chExt cx="1055983" cy="31093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055983" cy="310937"/>
              </a:xfrm>
              <a:custGeom>
                <a:avLst/>
                <a:gdLst/>
                <a:ahLst/>
                <a:cxnLst/>
                <a:rect r="r" b="b" t="t" l="l"/>
                <a:pathLst>
                  <a:path h="310937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272318"/>
                    </a:lnTo>
                    <a:cubicBezTo>
                      <a:pt x="1055983" y="293647"/>
                      <a:pt x="1038693" y="310937"/>
                      <a:pt x="1017365" y="310937"/>
                    </a:cubicBezTo>
                    <a:lnTo>
                      <a:pt x="38618" y="310937"/>
                    </a:lnTo>
                    <a:cubicBezTo>
                      <a:pt x="28376" y="310937"/>
                      <a:pt x="18553" y="306868"/>
                      <a:pt x="11311" y="299626"/>
                    </a:cubicBezTo>
                    <a:cubicBezTo>
                      <a:pt x="4069" y="292383"/>
                      <a:pt x="0" y="282561"/>
                      <a:pt x="0" y="272318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83C4F4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1055983" cy="339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572997" y="201908"/>
              <a:ext cx="1890191" cy="452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2"/>
                </a:lnSpc>
                <a:spcBef>
                  <a:spcPct val="0"/>
                </a:spcBef>
              </a:pPr>
              <a:r>
                <a:rPr lang="en-US" b="true" sz="2044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034862" y="6949736"/>
            <a:ext cx="2277139" cy="670509"/>
            <a:chOff x="0" y="0"/>
            <a:chExt cx="3036185" cy="894012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036185" cy="894012"/>
              <a:chOff x="0" y="0"/>
              <a:chExt cx="1055983" cy="31093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55983" cy="310937"/>
              </a:xfrm>
              <a:custGeom>
                <a:avLst/>
                <a:gdLst/>
                <a:ahLst/>
                <a:cxnLst/>
                <a:rect r="r" b="b" t="t" l="l"/>
                <a:pathLst>
                  <a:path h="310937" w="1055983">
                    <a:moveTo>
                      <a:pt x="38618" y="0"/>
                    </a:moveTo>
                    <a:lnTo>
                      <a:pt x="1017365" y="0"/>
                    </a:lnTo>
                    <a:cubicBezTo>
                      <a:pt x="1027607" y="0"/>
                      <a:pt x="1037430" y="4069"/>
                      <a:pt x="1044672" y="11311"/>
                    </a:cubicBezTo>
                    <a:cubicBezTo>
                      <a:pt x="1051915" y="18553"/>
                      <a:pt x="1055983" y="28376"/>
                      <a:pt x="1055983" y="38618"/>
                    </a:cubicBezTo>
                    <a:lnTo>
                      <a:pt x="1055983" y="272318"/>
                    </a:lnTo>
                    <a:cubicBezTo>
                      <a:pt x="1055983" y="293647"/>
                      <a:pt x="1038693" y="310937"/>
                      <a:pt x="1017365" y="310937"/>
                    </a:cubicBezTo>
                    <a:lnTo>
                      <a:pt x="38618" y="310937"/>
                    </a:lnTo>
                    <a:cubicBezTo>
                      <a:pt x="28376" y="310937"/>
                      <a:pt x="18553" y="306868"/>
                      <a:pt x="11311" y="299626"/>
                    </a:cubicBezTo>
                    <a:cubicBezTo>
                      <a:pt x="4069" y="292383"/>
                      <a:pt x="0" y="282561"/>
                      <a:pt x="0" y="272318"/>
                    </a:cubicBezTo>
                    <a:lnTo>
                      <a:pt x="0" y="38618"/>
                    </a:lnTo>
                    <a:cubicBezTo>
                      <a:pt x="0" y="28376"/>
                      <a:pt x="4069" y="18553"/>
                      <a:pt x="11311" y="11311"/>
                    </a:cubicBezTo>
                    <a:cubicBezTo>
                      <a:pt x="18553" y="4069"/>
                      <a:pt x="28376" y="0"/>
                      <a:pt x="38618" y="0"/>
                    </a:cubicBezTo>
                    <a:close/>
                  </a:path>
                </a:pathLst>
              </a:custGeom>
              <a:solidFill>
                <a:srgbClr val="83C4F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8575"/>
                <a:ext cx="1055983" cy="3395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572997" y="201908"/>
              <a:ext cx="1890191" cy="452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2"/>
                </a:lnSpc>
                <a:spcBef>
                  <a:spcPct val="0"/>
                </a:spcBef>
              </a:pPr>
              <a:r>
                <a:rPr lang="en-US" b="true" sz="2044">
                  <a:solidFill>
                    <a:srgbClr val="FFFFFF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Wave form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flipV="true">
            <a:off x="14591043" y="4738056"/>
            <a:ext cx="335132" cy="12959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14591043" y="6034033"/>
            <a:ext cx="443819" cy="12509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4062099" y="6034033"/>
            <a:ext cx="10588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4" id="54"/>
          <p:cNvSpPr/>
          <p:nvPr/>
        </p:nvSpPr>
        <p:spPr>
          <a:xfrm>
            <a:off x="7996490" y="6034033"/>
            <a:ext cx="88371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 flipV="true">
            <a:off x="11157341" y="6034033"/>
            <a:ext cx="97155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6" id="56"/>
          <p:cNvGrpSpPr/>
          <p:nvPr/>
        </p:nvGrpSpPr>
        <p:grpSpPr>
          <a:xfrm rot="0">
            <a:off x="1303846" y="2466935"/>
            <a:ext cx="2430407" cy="980237"/>
            <a:chOff x="0" y="0"/>
            <a:chExt cx="640107" cy="25816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0107" cy="258169"/>
            </a:xfrm>
            <a:custGeom>
              <a:avLst/>
              <a:gdLst/>
              <a:ahLst/>
              <a:cxnLst/>
              <a:rect r="r" b="b" t="t" l="l"/>
              <a:pathLst>
                <a:path h="258169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194461"/>
                  </a:lnTo>
                  <a:cubicBezTo>
                    <a:pt x="640107" y="229646"/>
                    <a:pt x="611584" y="258169"/>
                    <a:pt x="576398" y="258169"/>
                  </a:cubicBezTo>
                  <a:lnTo>
                    <a:pt x="63709" y="258169"/>
                  </a:lnTo>
                  <a:cubicBezTo>
                    <a:pt x="28523" y="258169"/>
                    <a:pt x="0" y="229646"/>
                    <a:pt x="0" y="194461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28575"/>
              <a:ext cx="640107" cy="229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FIX-SIZED AUDIO CHUNK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03846" y="8316095"/>
            <a:ext cx="2430407" cy="1285037"/>
            <a:chOff x="0" y="0"/>
            <a:chExt cx="640107" cy="33844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0107" cy="338446"/>
            </a:xfrm>
            <a:custGeom>
              <a:avLst/>
              <a:gdLst/>
              <a:ahLst/>
              <a:cxnLst/>
              <a:rect r="r" b="b" t="t" l="l"/>
              <a:pathLst>
                <a:path h="338446" w="640107">
                  <a:moveTo>
                    <a:pt x="63709" y="0"/>
                  </a:moveTo>
                  <a:lnTo>
                    <a:pt x="576398" y="0"/>
                  </a:lnTo>
                  <a:cubicBezTo>
                    <a:pt x="611584" y="0"/>
                    <a:pt x="640107" y="28523"/>
                    <a:pt x="640107" y="63709"/>
                  </a:cubicBezTo>
                  <a:lnTo>
                    <a:pt x="640107" y="274737"/>
                  </a:lnTo>
                  <a:cubicBezTo>
                    <a:pt x="640107" y="309923"/>
                    <a:pt x="611584" y="338446"/>
                    <a:pt x="576398" y="338446"/>
                  </a:cubicBezTo>
                  <a:lnTo>
                    <a:pt x="63709" y="338446"/>
                  </a:lnTo>
                  <a:cubicBezTo>
                    <a:pt x="28523" y="338446"/>
                    <a:pt x="0" y="309923"/>
                    <a:pt x="0" y="274737"/>
                  </a:cubicBezTo>
                  <a:lnTo>
                    <a:pt x="0" y="63709"/>
                  </a:lnTo>
                  <a:cubicBezTo>
                    <a:pt x="0" y="28523"/>
                    <a:pt x="28523" y="0"/>
                    <a:pt x="6370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28575"/>
              <a:ext cx="640107" cy="309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8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i Jamjuree Bold"/>
                  <a:ea typeface="Bai Jamjuree Bold"/>
                  <a:cs typeface="Bai Jamjuree Bold"/>
                  <a:sym typeface="Bai Jamjuree Bold"/>
                </a:rPr>
                <a:t>MINIMUM AVERAGE AMPLITUDE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63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814591" y="2931369"/>
            <a:ext cx="12658818" cy="6582585"/>
          </a:xfrm>
          <a:custGeom>
            <a:avLst/>
            <a:gdLst/>
            <a:ahLst/>
            <a:cxnLst/>
            <a:rect r="r" b="b" t="t" l="l"/>
            <a:pathLst>
              <a:path h="6582585" w="12658818">
                <a:moveTo>
                  <a:pt x="0" y="0"/>
                </a:moveTo>
                <a:lnTo>
                  <a:pt x="12658818" y="0"/>
                </a:lnTo>
                <a:lnTo>
                  <a:pt x="12658818" y="6582585"/>
                </a:lnTo>
                <a:lnTo>
                  <a:pt x="0" y="6582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1904794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ผลการทดลอง WER และ CER ของโมเดล Whisper ด้วยวิธีการตัดแบ่งเสียงวิธีต่าง ๆ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42244" y="2991220"/>
            <a:ext cx="12803512" cy="6657826"/>
          </a:xfrm>
          <a:custGeom>
            <a:avLst/>
            <a:gdLst/>
            <a:ahLst/>
            <a:cxnLst/>
            <a:rect r="r" b="b" t="t" l="l"/>
            <a:pathLst>
              <a:path h="6657826" w="12803512">
                <a:moveTo>
                  <a:pt x="0" y="0"/>
                </a:moveTo>
                <a:lnTo>
                  <a:pt x="12803512" y="0"/>
                </a:lnTo>
                <a:lnTo>
                  <a:pt x="12803512" y="6657827"/>
                </a:lnTo>
                <a:lnTo>
                  <a:pt x="0" y="6657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9547" y="2099738"/>
            <a:ext cx="16328906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ผลการทดลอง WER และ CER ของโมเดล Wav2Vec2 ด้วยวิธีการตัดแบ่งเสียงวิธีต่าง ๆ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679538" y="2918768"/>
            <a:ext cx="12928925" cy="6723041"/>
          </a:xfrm>
          <a:custGeom>
            <a:avLst/>
            <a:gdLst/>
            <a:ahLst/>
            <a:cxnLst/>
            <a:rect r="r" b="b" t="t" l="l"/>
            <a:pathLst>
              <a:path h="6723041" w="12928925">
                <a:moveTo>
                  <a:pt x="0" y="0"/>
                </a:moveTo>
                <a:lnTo>
                  <a:pt x="12928924" y="0"/>
                </a:lnTo>
                <a:lnTo>
                  <a:pt x="12928924" y="6723041"/>
                </a:lnTo>
                <a:lnTo>
                  <a:pt x="0" y="6723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6899" y="1799341"/>
            <a:ext cx="1531352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ประสิทธิภาพเวลาที่ใช้ในการทำงานของแต่ละการตัดแบ่งเสียงของโมเดล Whisper 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676667" y="2931951"/>
            <a:ext cx="12934666" cy="6709858"/>
          </a:xfrm>
          <a:custGeom>
            <a:avLst/>
            <a:gdLst/>
            <a:ahLst/>
            <a:cxnLst/>
            <a:rect r="r" b="b" t="t" l="l"/>
            <a:pathLst>
              <a:path h="6709858" w="12934666">
                <a:moveTo>
                  <a:pt x="0" y="0"/>
                </a:moveTo>
                <a:lnTo>
                  <a:pt x="12934666" y="0"/>
                </a:lnTo>
                <a:lnTo>
                  <a:pt x="12934666" y="6709858"/>
                </a:lnTo>
                <a:lnTo>
                  <a:pt x="0" y="6709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ประสิทธิภาพเวลาที่ใช้ในการทำงานของแต่ละการตัดแบ่งเสียงของโมเดล Wav2Vec2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379818" y="3054785"/>
            <a:ext cx="11528364" cy="6484705"/>
          </a:xfrm>
          <a:custGeom>
            <a:avLst/>
            <a:gdLst/>
            <a:ahLst/>
            <a:cxnLst/>
            <a:rect r="r" b="b" t="t" l="l"/>
            <a:pathLst>
              <a:path h="6484705" w="11528364">
                <a:moveTo>
                  <a:pt x="0" y="0"/>
                </a:moveTo>
                <a:lnTo>
                  <a:pt x="11528364" y="0"/>
                </a:lnTo>
                <a:lnTo>
                  <a:pt x="11528364" y="6484705"/>
                </a:lnTo>
                <a:lnTo>
                  <a:pt x="0" y="6484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ตัวอย่างเปรียบเทียบจุดตัดที่วิธีการตัดแบ่งเสียงเลือก จากผลลัพธ์ตัวอย่างที่ 1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348961" y="3077031"/>
            <a:ext cx="13590078" cy="6440212"/>
          </a:xfrm>
          <a:custGeom>
            <a:avLst/>
            <a:gdLst/>
            <a:ahLst/>
            <a:cxnLst/>
            <a:rect r="r" b="b" t="t" l="l"/>
            <a:pathLst>
              <a:path h="6440212" w="13590078">
                <a:moveTo>
                  <a:pt x="0" y="0"/>
                </a:moveTo>
                <a:lnTo>
                  <a:pt x="13590078" y="0"/>
                </a:lnTo>
                <a:lnTo>
                  <a:pt x="13590078" y="6440212"/>
                </a:lnTo>
                <a:lnTo>
                  <a:pt x="0" y="6440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9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ข้อความที่โมเดลถอดข้อความจากแต่ละวิธีการตัดแบ่งเสียง จากผลลัพธ์ตัวอย่างที่ 1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005810" y="2844406"/>
            <a:ext cx="12276379" cy="6905463"/>
          </a:xfrm>
          <a:custGeom>
            <a:avLst/>
            <a:gdLst/>
            <a:ahLst/>
            <a:cxnLst/>
            <a:rect r="r" b="b" t="t" l="l"/>
            <a:pathLst>
              <a:path h="6905463" w="12276379">
                <a:moveTo>
                  <a:pt x="0" y="0"/>
                </a:moveTo>
                <a:lnTo>
                  <a:pt x="12276380" y="0"/>
                </a:lnTo>
                <a:lnTo>
                  <a:pt x="12276380" y="6905463"/>
                </a:lnTo>
                <a:lnTo>
                  <a:pt x="0" y="6905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ตัวอย่างเปรียบเทียบจุดตัดที่วิธีการตัดแบ่งเสียงเลือก จากผลลัพธ์ตัวอย่างที่ 2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529697" y="2935066"/>
            <a:ext cx="13228607" cy="6323234"/>
          </a:xfrm>
          <a:custGeom>
            <a:avLst/>
            <a:gdLst/>
            <a:ahLst/>
            <a:cxnLst/>
            <a:rect r="r" b="b" t="t" l="l"/>
            <a:pathLst>
              <a:path h="6323234" w="13228607">
                <a:moveTo>
                  <a:pt x="0" y="0"/>
                </a:moveTo>
                <a:lnTo>
                  <a:pt x="13228606" y="0"/>
                </a:lnTo>
                <a:lnTo>
                  <a:pt x="13228606" y="6323234"/>
                </a:lnTo>
                <a:lnTo>
                  <a:pt x="0" y="6323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767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ข้อความที่โมเดลถอดข้อความจากแต่ละวิธีการตัดแบ่งเสียง จากผลลัพธ์ตัวอย่างที่ 2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024343" y="2757195"/>
            <a:ext cx="12239313" cy="6884614"/>
          </a:xfrm>
          <a:custGeom>
            <a:avLst/>
            <a:gdLst/>
            <a:ahLst/>
            <a:cxnLst/>
            <a:rect r="r" b="b" t="t" l="l"/>
            <a:pathLst>
              <a:path h="6884614" w="12239313">
                <a:moveTo>
                  <a:pt x="0" y="0"/>
                </a:moveTo>
                <a:lnTo>
                  <a:pt x="12239314" y="0"/>
                </a:lnTo>
                <a:lnTo>
                  <a:pt x="12239314" y="6884614"/>
                </a:lnTo>
                <a:lnTo>
                  <a:pt x="0" y="6884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ตัวอย่างเปรียบเทียบจุดตัดที่วิธีการตัดแบ่งเสียงเลือก จากผลลัพธ์ตัวอย่างที่ 3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438213" y="2931951"/>
            <a:ext cx="13411575" cy="6551736"/>
          </a:xfrm>
          <a:custGeom>
            <a:avLst/>
            <a:gdLst/>
            <a:ahLst/>
            <a:cxnLst/>
            <a:rect r="r" b="b" t="t" l="l"/>
            <a:pathLst>
              <a:path h="6551736" w="13411575">
                <a:moveTo>
                  <a:pt x="0" y="0"/>
                </a:moveTo>
                <a:lnTo>
                  <a:pt x="13411574" y="0"/>
                </a:lnTo>
                <a:lnTo>
                  <a:pt x="13411574" y="6551736"/>
                </a:lnTo>
                <a:lnTo>
                  <a:pt x="0" y="655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14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ข้อความที่โมเดลถอดข้อความจากแต่ละวิธีการตัดแบ่งเสียง จากผลลัพธ์ตัวอย่างที่ 3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254278" y="2931951"/>
            <a:ext cx="11779444" cy="6625938"/>
          </a:xfrm>
          <a:custGeom>
            <a:avLst/>
            <a:gdLst/>
            <a:ahLst/>
            <a:cxnLst/>
            <a:rect r="r" b="b" t="t" l="l"/>
            <a:pathLst>
              <a:path h="6625938" w="11779444">
                <a:moveTo>
                  <a:pt x="0" y="0"/>
                </a:moveTo>
                <a:lnTo>
                  <a:pt x="11779444" y="0"/>
                </a:lnTo>
                <a:lnTo>
                  <a:pt x="11779444" y="6625938"/>
                </a:lnTo>
                <a:lnTo>
                  <a:pt x="0" y="6625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ตัวอย่างเปรียบเทียบจุดตัดที่วิธีการตัดแบ่งเสียงเลือก จากผลลัพธ์ตัวอย่างที่ 4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625265" y="3110087"/>
            <a:ext cx="13037469" cy="6288731"/>
          </a:xfrm>
          <a:custGeom>
            <a:avLst/>
            <a:gdLst/>
            <a:ahLst/>
            <a:cxnLst/>
            <a:rect r="r" b="b" t="t" l="l"/>
            <a:pathLst>
              <a:path h="6288731" w="13037469">
                <a:moveTo>
                  <a:pt x="0" y="0"/>
                </a:moveTo>
                <a:lnTo>
                  <a:pt x="13037470" y="0"/>
                </a:lnTo>
                <a:lnTo>
                  <a:pt x="13037470" y="6288731"/>
                </a:lnTo>
                <a:lnTo>
                  <a:pt x="0" y="6288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61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ข้อความที่โมเดลถอดข้อความจากแต่ละวิธีการตัดแบ่งเสียง จากผลลัพธ์ตัวอย่างที่ 4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065377" y="2877912"/>
            <a:ext cx="12157246" cy="6838451"/>
          </a:xfrm>
          <a:custGeom>
            <a:avLst/>
            <a:gdLst/>
            <a:ahLst/>
            <a:cxnLst/>
            <a:rect r="r" b="b" t="t" l="l"/>
            <a:pathLst>
              <a:path h="6838451" w="12157246">
                <a:moveTo>
                  <a:pt x="0" y="0"/>
                </a:moveTo>
                <a:lnTo>
                  <a:pt x="12157246" y="0"/>
                </a:lnTo>
                <a:lnTo>
                  <a:pt x="12157246" y="6838451"/>
                </a:lnTo>
                <a:lnTo>
                  <a:pt x="0" y="6838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ตัวอย่างเปรียบเทียบจุดตัดที่วิธีการตัดแบ่งเสียงเลือก จากผลลัพธ์ตัวอย่างที่ 5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615279" y="3120314"/>
            <a:ext cx="13057442" cy="6353647"/>
          </a:xfrm>
          <a:custGeom>
            <a:avLst/>
            <a:gdLst/>
            <a:ahLst/>
            <a:cxnLst/>
            <a:rect r="r" b="b" t="t" l="l"/>
            <a:pathLst>
              <a:path h="6353647" w="13057442">
                <a:moveTo>
                  <a:pt x="0" y="0"/>
                </a:moveTo>
                <a:lnTo>
                  <a:pt x="13057442" y="0"/>
                </a:lnTo>
                <a:lnTo>
                  <a:pt x="13057442" y="6353647"/>
                </a:lnTo>
                <a:lnTo>
                  <a:pt x="0" y="6353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59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ข้อความที่โมเดลถอดข้อความจากแต่ละวิธีการตัดแบ่งเสียง จากผลลัพธ์ตัวอย่างที่ 5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823229" y="2741704"/>
            <a:ext cx="12641541" cy="7110867"/>
          </a:xfrm>
          <a:custGeom>
            <a:avLst/>
            <a:gdLst/>
            <a:ahLst/>
            <a:cxnLst/>
            <a:rect r="r" b="b" t="t" l="l"/>
            <a:pathLst>
              <a:path h="7110867" w="12641541">
                <a:moveTo>
                  <a:pt x="0" y="0"/>
                </a:moveTo>
                <a:lnTo>
                  <a:pt x="12641542" y="0"/>
                </a:lnTo>
                <a:lnTo>
                  <a:pt x="12641542" y="7110867"/>
                </a:lnTo>
                <a:lnTo>
                  <a:pt x="0" y="711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ตัวอย่างเปรียบเทียบจุดตัดที่วิธีการตัดแบ่งเสียงเลือก จากผลลัพธ์ตัวอย่างที่ 6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930353" y="9398818"/>
            <a:ext cx="3860705" cy="1155661"/>
            <a:chOff x="0" y="0"/>
            <a:chExt cx="4626412" cy="1384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438213" y="2958025"/>
            <a:ext cx="13411575" cy="6440793"/>
          </a:xfrm>
          <a:custGeom>
            <a:avLst/>
            <a:gdLst/>
            <a:ahLst/>
            <a:cxnLst/>
            <a:rect r="r" b="b" t="t" l="l"/>
            <a:pathLst>
              <a:path h="6440793" w="13411575">
                <a:moveTo>
                  <a:pt x="0" y="0"/>
                </a:moveTo>
                <a:lnTo>
                  <a:pt x="13411574" y="0"/>
                </a:lnTo>
                <a:lnTo>
                  <a:pt x="13411574" y="6440793"/>
                </a:lnTo>
                <a:lnTo>
                  <a:pt x="0" y="6440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712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87387"/>
            <a:ext cx="401792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 b="true">
                <a:solidFill>
                  <a:srgbClr val="4C6FB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ผลการทดลอง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552" y="2053746"/>
            <a:ext cx="158788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8">
                <a:solidFill>
                  <a:srgbClr val="2B2C30"/>
                </a:solidFill>
                <a:latin typeface="Bai Jamjuree"/>
                <a:ea typeface="Bai Jamjuree"/>
                <a:cs typeface="Bai Jamjuree"/>
                <a:sym typeface="Bai Jamjuree"/>
              </a:rPr>
              <a:t>ข้อความที่โมเดลถอดข้อความจากแต่ละวิธีการตัดแบ่งเสียง จากผลลัพธ์ตัวอย่างที่ 6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DEMO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80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8139" y="-343329"/>
            <a:ext cx="4323839" cy="1229542"/>
            <a:chOff x="0" y="0"/>
            <a:chExt cx="5181401" cy="1473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401" cy="1473402"/>
            </a:xfrm>
            <a:custGeom>
              <a:avLst/>
              <a:gdLst/>
              <a:ahLst/>
              <a:cxnLst/>
              <a:rect r="r" b="b" t="t" l="l"/>
              <a:pathLst>
                <a:path h="1473402" w="5181401">
                  <a:moveTo>
                    <a:pt x="0" y="0"/>
                  </a:moveTo>
                  <a:lnTo>
                    <a:pt x="0" y="1473402"/>
                  </a:lnTo>
                  <a:lnTo>
                    <a:pt x="5181401" y="1473402"/>
                  </a:lnTo>
                  <a:lnTo>
                    <a:pt x="5181401" y="0"/>
                  </a:lnTo>
                  <a:lnTo>
                    <a:pt x="0" y="0"/>
                  </a:lnTo>
                  <a:close/>
                  <a:moveTo>
                    <a:pt x="5120441" y="1412442"/>
                  </a:moveTo>
                  <a:lnTo>
                    <a:pt x="59690" y="1412442"/>
                  </a:lnTo>
                  <a:lnTo>
                    <a:pt x="59690" y="59690"/>
                  </a:lnTo>
                  <a:lnTo>
                    <a:pt x="5120441" y="59690"/>
                  </a:lnTo>
                  <a:lnTo>
                    <a:pt x="5120441" y="141244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68919" y="-333804"/>
            <a:ext cx="7983303" cy="747733"/>
            <a:chOff x="0" y="0"/>
            <a:chExt cx="9566659" cy="89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66659" cy="896034"/>
            </a:xfrm>
            <a:custGeom>
              <a:avLst/>
              <a:gdLst/>
              <a:ahLst/>
              <a:cxnLst/>
              <a:rect r="r" b="b" t="t" l="l"/>
              <a:pathLst>
                <a:path h="896034" w="9566659">
                  <a:moveTo>
                    <a:pt x="0" y="0"/>
                  </a:moveTo>
                  <a:lnTo>
                    <a:pt x="0" y="896034"/>
                  </a:lnTo>
                  <a:lnTo>
                    <a:pt x="9566659" y="896034"/>
                  </a:lnTo>
                  <a:lnTo>
                    <a:pt x="9566659" y="0"/>
                  </a:lnTo>
                  <a:lnTo>
                    <a:pt x="0" y="0"/>
                  </a:lnTo>
                  <a:close/>
                  <a:moveTo>
                    <a:pt x="9505700" y="835074"/>
                  </a:moveTo>
                  <a:lnTo>
                    <a:pt x="59690" y="835074"/>
                  </a:lnTo>
                  <a:lnTo>
                    <a:pt x="59690" y="59690"/>
                  </a:lnTo>
                  <a:lnTo>
                    <a:pt x="9505700" y="59690"/>
                  </a:lnTo>
                  <a:lnTo>
                    <a:pt x="9505700" y="835074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64177" y="568981"/>
            <a:ext cx="1445340" cy="1503815"/>
            <a:chOff x="0" y="0"/>
            <a:chExt cx="1732000" cy="1802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2000" cy="1802072"/>
            </a:xfrm>
            <a:custGeom>
              <a:avLst/>
              <a:gdLst/>
              <a:ahLst/>
              <a:cxnLst/>
              <a:rect r="r" b="b" t="t" l="l"/>
              <a:pathLst>
                <a:path h="1802072" w="1732000">
                  <a:moveTo>
                    <a:pt x="0" y="0"/>
                  </a:moveTo>
                  <a:lnTo>
                    <a:pt x="0" y="1802072"/>
                  </a:lnTo>
                  <a:lnTo>
                    <a:pt x="1732000" y="1802072"/>
                  </a:lnTo>
                  <a:lnTo>
                    <a:pt x="1732000" y="0"/>
                  </a:lnTo>
                  <a:lnTo>
                    <a:pt x="0" y="0"/>
                  </a:lnTo>
                  <a:close/>
                  <a:moveTo>
                    <a:pt x="1671040" y="1741112"/>
                  </a:moveTo>
                  <a:lnTo>
                    <a:pt x="59690" y="1741112"/>
                  </a:lnTo>
                  <a:lnTo>
                    <a:pt x="59690" y="59690"/>
                  </a:lnTo>
                  <a:lnTo>
                    <a:pt x="1671040" y="59690"/>
                  </a:lnTo>
                  <a:lnTo>
                    <a:pt x="1671040" y="1741112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77627" y="849970"/>
            <a:ext cx="831890" cy="3627297"/>
            <a:chOff x="0" y="0"/>
            <a:chExt cx="996882" cy="4346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6881" cy="4346712"/>
            </a:xfrm>
            <a:custGeom>
              <a:avLst/>
              <a:gdLst/>
              <a:ahLst/>
              <a:cxnLst/>
              <a:rect r="r" b="b" t="t" l="l"/>
              <a:pathLst>
                <a:path h="4346712" w="996881">
                  <a:moveTo>
                    <a:pt x="0" y="0"/>
                  </a:moveTo>
                  <a:lnTo>
                    <a:pt x="0" y="4346712"/>
                  </a:lnTo>
                  <a:lnTo>
                    <a:pt x="996881" y="4346712"/>
                  </a:lnTo>
                  <a:lnTo>
                    <a:pt x="996881" y="0"/>
                  </a:lnTo>
                  <a:lnTo>
                    <a:pt x="0" y="0"/>
                  </a:lnTo>
                  <a:close/>
                  <a:moveTo>
                    <a:pt x="935921" y="4285752"/>
                  </a:moveTo>
                  <a:lnTo>
                    <a:pt x="59690" y="4285752"/>
                  </a:lnTo>
                  <a:lnTo>
                    <a:pt x="59690" y="59690"/>
                  </a:lnTo>
                  <a:lnTo>
                    <a:pt x="935921" y="59690"/>
                  </a:lnTo>
                  <a:lnTo>
                    <a:pt x="935921" y="428575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177852" y="4584065"/>
            <a:ext cx="9932296" cy="104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b="true" sz="6399" spc="31">
                <a:solidFill>
                  <a:srgbClr val="000000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Q&amp;A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0685" y="9505205"/>
            <a:ext cx="3860705" cy="1155661"/>
            <a:chOff x="0" y="0"/>
            <a:chExt cx="4626412" cy="13848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26413" cy="1384868"/>
            </a:xfrm>
            <a:custGeom>
              <a:avLst/>
              <a:gdLst/>
              <a:ahLst/>
              <a:cxnLst/>
              <a:rect r="r" b="b" t="t" l="l"/>
              <a:pathLst>
                <a:path h="1384868" w="4626413">
                  <a:moveTo>
                    <a:pt x="0" y="0"/>
                  </a:moveTo>
                  <a:lnTo>
                    <a:pt x="0" y="1384868"/>
                  </a:lnTo>
                  <a:lnTo>
                    <a:pt x="4626413" y="1384868"/>
                  </a:lnTo>
                  <a:lnTo>
                    <a:pt x="4626413" y="0"/>
                  </a:lnTo>
                  <a:lnTo>
                    <a:pt x="0" y="0"/>
                  </a:lnTo>
                  <a:close/>
                  <a:moveTo>
                    <a:pt x="4565452" y="1323908"/>
                  </a:moveTo>
                  <a:lnTo>
                    <a:pt x="59690" y="1323908"/>
                  </a:lnTo>
                  <a:lnTo>
                    <a:pt x="59690" y="59690"/>
                  </a:lnTo>
                  <a:lnTo>
                    <a:pt x="4565452" y="59690"/>
                  </a:lnTo>
                  <a:lnTo>
                    <a:pt x="4565452" y="1323908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615368" y="8622751"/>
            <a:ext cx="1230735" cy="2038115"/>
            <a:chOff x="0" y="0"/>
            <a:chExt cx="1474831" cy="24423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4831" cy="2442342"/>
            </a:xfrm>
            <a:custGeom>
              <a:avLst/>
              <a:gdLst/>
              <a:ahLst/>
              <a:cxnLst/>
              <a:rect r="r" b="b" t="t" l="l"/>
              <a:pathLst>
                <a:path h="2442342" w="1474831">
                  <a:moveTo>
                    <a:pt x="0" y="0"/>
                  </a:moveTo>
                  <a:lnTo>
                    <a:pt x="0" y="2442342"/>
                  </a:lnTo>
                  <a:lnTo>
                    <a:pt x="1474831" y="2442342"/>
                  </a:lnTo>
                  <a:lnTo>
                    <a:pt x="1474831" y="0"/>
                  </a:lnTo>
                  <a:lnTo>
                    <a:pt x="0" y="0"/>
                  </a:lnTo>
                  <a:close/>
                  <a:moveTo>
                    <a:pt x="1413871" y="2381382"/>
                  </a:moveTo>
                  <a:lnTo>
                    <a:pt x="59690" y="2381382"/>
                  </a:lnTo>
                  <a:lnTo>
                    <a:pt x="59690" y="59690"/>
                  </a:lnTo>
                  <a:lnTo>
                    <a:pt x="1413871" y="59690"/>
                  </a:lnTo>
                  <a:lnTo>
                    <a:pt x="1413871" y="2381382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9796" y="9976649"/>
            <a:ext cx="6452929" cy="921321"/>
            <a:chOff x="0" y="0"/>
            <a:chExt cx="7732761" cy="1104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32761" cy="1104050"/>
            </a:xfrm>
            <a:custGeom>
              <a:avLst/>
              <a:gdLst/>
              <a:ahLst/>
              <a:cxnLst/>
              <a:rect r="r" b="b" t="t" l="l"/>
              <a:pathLst>
                <a:path h="1104050" w="7732761">
                  <a:moveTo>
                    <a:pt x="0" y="0"/>
                  </a:moveTo>
                  <a:lnTo>
                    <a:pt x="0" y="1104050"/>
                  </a:lnTo>
                  <a:lnTo>
                    <a:pt x="7732761" y="1104050"/>
                  </a:lnTo>
                  <a:lnTo>
                    <a:pt x="7732761" y="0"/>
                  </a:lnTo>
                  <a:lnTo>
                    <a:pt x="0" y="0"/>
                  </a:lnTo>
                  <a:close/>
                  <a:moveTo>
                    <a:pt x="7671801" y="1043090"/>
                  </a:moveTo>
                  <a:lnTo>
                    <a:pt x="59690" y="1043090"/>
                  </a:lnTo>
                  <a:lnTo>
                    <a:pt x="59690" y="59690"/>
                  </a:lnTo>
                  <a:lnTo>
                    <a:pt x="7671801" y="59690"/>
                  </a:lnTo>
                  <a:lnTo>
                    <a:pt x="7671801" y="104309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904945" y="481081"/>
            <a:ext cx="872682" cy="8726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A9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81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DAGTvQQABoU</dc:identifier>
  <dcterms:modified xsi:type="dcterms:W3CDTF">2011-08-01T06:04:30Z</dcterms:modified>
  <cp:revision>1</cp:revision>
  <dc:title>ASR Project 1 Present</dc:title>
</cp:coreProperties>
</file>