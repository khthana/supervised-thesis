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8288000" cy="10287000"/>
  <p:notesSz cx="6858000" cy="9144000"/>
  <p:embeddedFontLst>
    <p:embeddedFont>
      <p:font typeface="Biski" panose="020B0604020202020204" charset="-34"/>
      <p:regular r:id="rId53"/>
    </p:embeddedFont>
    <p:embeddedFont>
      <p:font typeface="Biski Bold" panose="020B0604020202020204" charset="-34"/>
      <p:regular r:id="rId54"/>
    </p:embeddedFont>
    <p:embeddedFont>
      <p:font typeface="Biski Semi-Bold" panose="020B0604020202020204" charset="-34"/>
      <p:regular r:id="rId55"/>
    </p:embeddedFont>
    <p:embeddedFont>
      <p:font typeface="Canva Sans" panose="020B0604020202020204" charset="0"/>
      <p:regular r:id="rId56"/>
    </p:embeddedFont>
    <p:embeddedFont>
      <p:font typeface="Canva Sans Bold" panose="020B0604020202020204" charset="0"/>
      <p:regular r:id="rId57"/>
    </p:embeddedFont>
    <p:embeddedFont>
      <p:font typeface="Garuda Bold" panose="020B0604020202020204" charset="-34"/>
      <p:regular r:id="rId58"/>
    </p:embeddedFont>
    <p:embeddedFont>
      <p:font typeface="Gliker" panose="020B0604020202020204" charset="0"/>
      <p:regular r:id="rId59"/>
    </p:embeddedFont>
    <p:embeddedFont>
      <p:font typeface="Gliker Bold" panose="020B0604020202020204" charset="0"/>
      <p:regular r:id="rId60"/>
    </p:embeddedFont>
    <p:embeddedFont>
      <p:font typeface="Gliker Semi-Bold" panose="020B0604020202020204" charset="0"/>
      <p:regular r:id="rId61"/>
    </p:embeddedFont>
    <p:embeddedFont>
      <p:font typeface="Montserrat" pitchFamily="2" charset="0"/>
      <p:regular r:id="rId62"/>
      <p:bold r:id="rId63"/>
      <p:italic r:id="rId64"/>
      <p:boldItalic r:id="rId65"/>
    </p:embeddedFont>
    <p:embeddedFont>
      <p:font typeface="Montserrat Bold" pitchFamily="2" charset="0"/>
      <p:regular r:id="rId66"/>
      <p:bold r:id="rId67"/>
    </p:embeddedFont>
    <p:embeddedFont>
      <p:font typeface="Open Sans" panose="020B0606030504020204" pitchFamily="34" charset="0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สวัสดีคณะกรรมการ อาจารย์ และผู้เข้าร่วมฟังการ present project ทุกท่านค่ะ</a:t>
            </a:r>
          </a:p>
          <a:p>
            <a:endParaRPr lang="en-US"/>
          </a:p>
          <a:p>
            <a:r>
              <a:rPr lang="en-US"/>
              <a:t>วันนี้พวกเรามานำเสนอโปรเจคในหัวข้อ wellwave </a:t>
            </a:r>
          </a:p>
          <a:p>
            <a:r>
              <a:rPr lang="en-US"/>
              <a:t>Gamify application for personalize metabolic wellness improvement </a:t>
            </a:r>
          </a:p>
          <a:p>
            <a:endParaRPr lang="en-US"/>
          </a:p>
          <a:p>
            <a:r>
              <a:rPr lang="en-US"/>
              <a:t>แอพพลิเคชันรูปแบบกลไกเกมเพื่อปรับปรุงพฤติกรรมสุขภาพเมตาบอลิซึมส่วนบุคคล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โดยโปรเจคของเรานะคะ มีสมาชิกดังต่อไปนี้ค่ะ ได้แก่</a:t>
            </a:r>
          </a:p>
          <a:p>
            <a:r>
              <a:rPr lang="en-US"/>
              <a:t>- นายอัมรี เถาวัลย์</a:t>
            </a:r>
          </a:p>
          <a:p>
            <a:r>
              <a:rPr lang="en-US"/>
              <a:t>- นางสาวอรัชฌา ปิ่นประยูร</a:t>
            </a:r>
          </a:p>
          <a:p>
            <a:r>
              <a:rPr lang="en-US"/>
              <a:t>- นางสาวพิมพ์ชนก ฤทธิ์ช่วย</a:t>
            </a:r>
          </a:p>
          <a:p>
            <a:r>
              <a:rPr lang="en-US"/>
              <a:t>และดิฉันนางสาวฐิตาพร หลงจิ</a:t>
            </a:r>
          </a:p>
          <a:p>
            <a:endParaRPr lang="en-US"/>
          </a:p>
          <a:p>
            <a:r>
              <a:rPr lang="en-US"/>
              <a:t>โดยมีอาจารย์ที่ปรึกษาหลัก</a:t>
            </a:r>
          </a:p>
          <a:p>
            <a:r>
              <a:rPr lang="en-US"/>
              <a:t>คือ</a:t>
            </a:r>
          </a:p>
          <a:p>
            <a:r>
              <a:rPr lang="en-US"/>
              <a:t>- อาจารย์ ชมพูนุท เต็งเจริญ</a:t>
            </a:r>
          </a:p>
          <a:p>
            <a:r>
              <a:rPr lang="en-US"/>
              <a:t>และอาจารย์ที่ปรึกษาร่วมคือ</a:t>
            </a:r>
          </a:p>
          <a:p>
            <a:r>
              <a:rPr lang="en-US"/>
              <a:t>- อาจารย์ ธนา หงษ์สุวรรณ</a:t>
            </a:r>
          </a:p>
          <a:p>
            <a:endParaRPr lang="en-US"/>
          </a:p>
          <a:p>
            <a:r>
              <a:rPr lang="en-US"/>
              <a:t>แยก เพิ่มหมอ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โดยโปรเจคของเรานะคะ มีสมาชิกดังต่อไปนี้ค่ะ ได้แก่</a:t>
            </a:r>
          </a:p>
          <a:p>
            <a:r>
              <a:rPr lang="en-US"/>
              <a:t>- นายอัมรี เถาวัลย์</a:t>
            </a:r>
          </a:p>
          <a:p>
            <a:r>
              <a:rPr lang="en-US"/>
              <a:t>- นางสาวอรัชฌา ปิ่นประยูร</a:t>
            </a:r>
          </a:p>
          <a:p>
            <a:r>
              <a:rPr lang="en-US"/>
              <a:t>- นางสาวพิมพ์ชนก ฤทธิ์ช่วย</a:t>
            </a:r>
          </a:p>
          <a:p>
            <a:r>
              <a:rPr lang="en-US"/>
              <a:t>และดิฉันนางสาวฐิตาพร หลงจิ</a:t>
            </a:r>
          </a:p>
          <a:p>
            <a:endParaRPr lang="en-US"/>
          </a:p>
          <a:p>
            <a:r>
              <a:rPr lang="en-US"/>
              <a:t>โดยมีอาจารย์ที่ปรึกษาหลัก</a:t>
            </a:r>
          </a:p>
          <a:p>
            <a:r>
              <a:rPr lang="en-US"/>
              <a:t>คือ</a:t>
            </a:r>
          </a:p>
          <a:p>
            <a:r>
              <a:rPr lang="en-US"/>
              <a:t>- อาจารย์ ชมพูนุท เต็งเจริญ</a:t>
            </a:r>
          </a:p>
          <a:p>
            <a:r>
              <a:rPr lang="en-US"/>
              <a:t>และอาจารย์ที่ปรึกษาร่วมคือ</a:t>
            </a:r>
          </a:p>
          <a:p>
            <a:r>
              <a:rPr lang="en-US"/>
              <a:t>- อาจารย์ ธนา หงษ์สุวรรณ</a:t>
            </a:r>
          </a:p>
          <a:p>
            <a:endParaRPr lang="en-US"/>
          </a:p>
          <a:p>
            <a:r>
              <a:rPr lang="en-US"/>
              <a:t>แยก เพิ่มหมอ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  <a:p>
            <a:r>
              <a:rPr lang="en-US"/>
              <a:t>สุขภาพของทุกคนเป็นสิ่งที่สำคัญใช่ไหมคะ </a:t>
            </a:r>
          </a:p>
          <a:p>
            <a:r>
              <a:rPr lang="en-US"/>
              <a:t>หลายๆ คนอาจจะมีปัญหาสุขภาพต่างๆนานา </a:t>
            </a:r>
          </a:p>
          <a:p>
            <a:r>
              <a:rPr lang="en-US"/>
              <a:t>แต่ปัญหาในปัจจุบันที่พวกเราเล็งเห็นคือ ภาวะเมตาบอลิกซินโดรม</a:t>
            </a:r>
          </a:p>
          <a:p>
            <a:endParaRPr lang="en-US"/>
          </a:p>
          <a:p>
            <a:r>
              <a:rPr lang="en-US"/>
              <a:t> </a:t>
            </a:r>
          </a:p>
          <a:p>
            <a:r>
              <a:rPr lang="en-US"/>
              <a:t>โดยปัญหาที่พวกเราพบเจอ ส่วนใหญ่ มักจะมีคนมาตั้งกระทู้ถามเกี่ยวกับ ความดันโลหิตสูง อัตราเมตาบอลิก โรคเบาหวาน โรคไขมัน ซึ่งปัญหาสุขภาพต่างๆเหล่านี้คือโรคที่ร่วมอยู่กับภาวะเมตาบอลิกซินโดรม</a:t>
            </a:r>
          </a:p>
          <a:p>
            <a:endParaRPr lang="en-US"/>
          </a:p>
          <a:p>
            <a:r>
              <a:rPr lang="en-US"/>
              <a:t>เพื่อความชัดเจนมากยิ่งขึ้นเดี่ยวเราไปดูกันที่ สถิติกันเลยค่ะ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โดยสถิติที่ยกมานะคะ เป็นสถิตความชุกของผู้ป่วยโรคอ้วนในประเทศไทย</a:t>
            </a:r>
          </a:p>
          <a:p>
            <a:endParaRPr lang="en-US"/>
          </a:p>
          <a:p>
            <a:r>
              <a:rPr lang="en-US"/>
              <a:t>จากสถิติเราก็จะเห็นได้ว่ามีจำนวนผู้ป่วยโรคอ้วนรายใหม่เพิ่มขึ้น</a:t>
            </a:r>
          </a:p>
          <a:p>
            <a:endParaRPr lang="en-US"/>
          </a:p>
          <a:p>
            <a:r>
              <a:rPr lang="en-US"/>
              <a:t>และโรคอ้วนมีแนวโน้มที่เพิ่มขึ้นทุก 5 ปี โดยมีคนอ้วนมากที่สุดถึง 47.2% </a:t>
            </a:r>
          </a:p>
          <a:p>
            <a:endParaRPr lang="en-US"/>
          </a:p>
          <a:p>
            <a:r>
              <a:rPr lang="en-US"/>
              <a:t> โดยผู้ป่วยที่เป็นโรคอ้วนจะมีความเสี่ยงที่ก่อให้เกิดโรคอื่น ๆ มากกว่าปกติถึง 4 เท่าตัว</a:t>
            </a:r>
          </a:p>
          <a:p>
            <a:endParaRPr lang="en-US"/>
          </a:p>
          <a:p>
            <a:r>
              <a:rPr lang="en-US"/>
              <a:t>และมีจำนวนผู้เสียชีวิตมากถึงปีละ 20,000 คนโดยมีอัตราเพิ่มขึ้นอย่างต่อเนื่อง </a:t>
            </a:r>
          </a:p>
          <a:p>
            <a:endParaRPr lang="en-US"/>
          </a:p>
          <a:p>
            <a:r>
              <a:rPr lang="en-US"/>
              <a:t>อ้างอิงข้อมูลจาก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ทุกคนคงจะเห็นแล้วใช่ไหมคะ ภาวะเมตาบอลิกซินโดรมมีหลากหลายโรคมาก ดังนั้นเดี่ยวเราจะมารู้กันค่ะว่าภาวะเมตาบอลิกซินโดรมเกิดจากอะไร </a:t>
            </a:r>
          </a:p>
          <a:p>
            <a:endParaRPr lang="en-US"/>
          </a:p>
          <a:p>
            <a:r>
              <a:rPr lang="en-US"/>
              <a:t>ภาวะเมตาบอลิกซินโดรมคือ...</a:t>
            </a:r>
          </a:p>
          <a:p>
            <a:endParaRPr lang="en-US"/>
          </a:p>
          <a:p>
            <a:r>
              <a:rPr lang="en-US"/>
              <a:t>และสาเหตุสำคัญที่เป็นเหตุทำให้เกิดภาวะเมตาบอลิกซินโดรมหรือโรคต่างๆเหล่านี้นะคะ มีดังต่อไปนีค่ะ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พฤติกรรมเล็กๆน้อยๆเหล่านี้ หลายๆคนคิดว่าอาจจะเป็นเรื่องปกติ แต่จริงๆแล้วอาจจะทำให้เราอยู่ในภาวะเมตาบอลิกซินโดรมได้</a:t>
            </a:r>
          </a:p>
          <a:p>
            <a:endParaRPr lang="en-US"/>
          </a:p>
          <a:p>
            <a:r>
              <a:rPr lang="en-US"/>
              <a:t>และในส่วนวิธีปรับเปลี่ยนพฤติกรรม หลายๆคนก็คงทราบกันดีอยู่แล้ว เช่น กินอาหารที่ดีต่อสุขภาพ หรือการนอนหลับให้เพียงพอ แต่ไม่รุ้ต้องเริ่มต้นยังไง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  <a:p>
            <a:r>
              <a:rPr lang="en-US"/>
              <a:t>พวกเราจึงคิดค้นและออกแบบแอพพลิเคชันที่ชื่อว่า wellwave นั้นเองค่ะ </a:t>
            </a:r>
          </a:p>
          <a:p>
            <a:endParaRPr lang="en-US"/>
          </a:p>
          <a:p>
            <a:r>
              <a:rPr lang="en-US"/>
              <a:t>โดย wellwave นะคะเปรียบเสมือน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จาที่เพื่อนได้กล่าวไป เราจะเห็นได้ว่าเป็นปัญหาหลักที่มาจาก พฤติกรรม ซึ่งการที่หากจะแก้ปัญหาภาวะเมตาบอลิก ก็จะเป็นที่จะต้องปรับพฤติกรรม โดยการสร้างนิสัยใหม่ที่ดี และเลิกนิสัยไม่ดี แต่การที่จะปรับพฤติกรรมที่เราติดเป็นนิสัยไปแล้ว นั้นเป็นเรื่องที่ยาก ต้องการความสม่ำเสมอ และต้องการแรงจูงใจศุง</a:t>
            </a:r>
          </a:p>
          <a:p>
            <a:endParaRPr lang="en-US"/>
          </a:p>
          <a:p>
            <a:r>
              <a:rPr lang="en-US"/>
              <a:t>ซึ่งเราก็จะแก้ปัญหาทฤษฎี gamification </a:t>
            </a:r>
          </a:p>
          <a:p>
            <a:endParaRPr lang="en-US"/>
          </a:p>
          <a:p>
            <a:r>
              <a:rPr lang="en-US"/>
              <a:t>ซึ่งมันคือการนำองค์ประกอบที่ทำให้คนติดเกมได้ นำมันมาใช้ในบริบทอื่นๆ ที่ไม่ใช้เกม โดยประกอบไปด้วย </a:t>
            </a:r>
          </a:p>
          <a:p>
            <a:r>
              <a:rPr lang="en-US"/>
              <a:t>เป้าหมาย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ซึ่งการตอบสนองที่ดีนะครับ ก็จะก่อให้เกิดสิ่งที่เรียกว่า.....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ถัดมาก็จะเป็นการแจ้งวัตถุประสงค์ของแอพค่ะ โดยแอพลิเคชั่นของเรามีไว้เพื่อช่วยลดความเสี่ยงภาวะเมตาบอลิกของผู้ใช้นั่นเองค่ะ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โดยแอพลิคชั่นของเราก็มีการเก็บข้อมูลสุขภาพของผู้ใช้ ไม่ว่าจะเป็นส่วนของความดัน น้ำหนัก ส่วนสูง และส่วนอื่น ๆ เพิ่มเติม เช่น ค่า HDL LDL ซึ่งถ้าผู้ใช้ไม่ทราบค่า ก็สามารถข้ามในส่วนนี้ได้ค่ะ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หลังจากนั้นก็มีการถามประวัติครอบครัว ประวัติสุขภาพต่าง ๆ ของคุณวิชัยค่ะ  โดยการประเมินทั้งหดนี้เราได้ทำการอ้างอิงมาจากทาง สสส. และนำไปใช้เพื่อแนะนำภารกิจภายในแอปพลิเคชันของเรานั่นเองค่ะ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หลัจากนี้เราจะให้ผู้ใช้เลือกเป้าหมายในการเข้าใช้งานแอพลิเคชั่น โดยจะสอดคล้องกับหลักการเกมมิฟิเคชั่นที่ผู้ใช้มีอิสระในการเลือกเป้าหมายของตัวเองนั่นเองค่ะ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หลังจากนั้นระบบก็จะทำการสรุปผลการประเมินจากที่ผู้ใช้ได้กรอกออกมาค่ะ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หลังจากนั้นก็มีการถามประวัติครอบครัว ประวัติสุขภาพต่าง ๆ ของคุณวิชัยค่ะ  โดยการประเมินทั้งหดนี้เราได้ทำการอ้างอิงมาจากทาง สสส. และนำไปใช้เพื่อแนะนำภารกิจภายในแอปพลิเคชันของเรานั่นเองค่ะ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ระบบของเรานะคะก็จะมีการนำเสนอภารกิจต่าง ๆ ที่ช่วยให้ผู้ใช้สามารถบรรลุเป้าหมายในการลดน้ำหนักได้ โดยภารกิจที่มีภายในแอปเป็นภารกิจที่ได้รับการประเมินจากแพทย์ว่ามีความเหมาะสม และผู้ใช้สามารถเลือกภารกิจได้ตามความสนใจของผู้ใช้เลยค่ะ โดยระบบจะแนะนำภารกิจจากภารกิจง่ายไปยาก ในส่วนนี้ถือเป็นความสมัครใจในการเลือกภารกิจตามที่ผู้ใช้สนใจ ตามหลักการเกมมิฟิเคชั่นนั่นเองค่ะ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โดยเราก็จะสมมติว่า ผู้ใช้ไม่ได้ออกกำลังกายมานานมาก ก็จะเริ่มต้นจากภารกิจง่าย ๆ เป็นการเดินก่อน</a:t>
            </a:r>
          </a:p>
          <a:p>
            <a:r>
              <a:rPr lang="en-US"/>
              <a:t>ซึ่งส่วนนี้สอดคล้องกับกติกาในหลักการเกมมิฟิเคชั่น ที่ให้ผู้ใช้ทำตามภารกิจที่มีอยู่ภายในแอปของเรา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ผู้ใช้สามารถตั้งได้เองค่ะ ว่าอยากที่จะเดินกี่วัน วันนึงอยากเดินกี่นาที เพื่อสร้างความท้าทาย และเป็นการตั้งเป้าหมายที่ยืดหยุ่นให้กับผู้ใช้นั่นเองค่ะ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เมื่อผู้ใช้เข้าใช้งานแอปในระหว่างที่ทำภารกิจอยู่ ในช่วง 7 วัน ผู้ใช้สามารถดูความคืบหน้าภารกิจของตนเองได้จากทางหน้าหลักค่ะ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นอกจากนี้ผู้ใช้ก็ยังสามารถตั้งค่าการแจ้งเตือนได้ค่ะว่าต้องการแจ้งเตือนภารกิจในช่วงเวลาไหน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เมื่อผ่านไป 1 สัปดาห์ ภารกิจของเราที่ได้เลือกไว้ก็จะเสร็จสมบูรณ์ครบตามกำหนด และได้รับ Point เป็นรางวัลตอบแทนนั่นเองค่ะ ระบบจะให้ผู้ใช้เลือกว่าภารกิจนี้เป็นยังไง ยาก ง่ายไปมั้ย โดยเราจะมีระบบแนะนำอยู่เบื้องหลัง เพื่อที่จะแนะนำภารกิจที่เหมาะสมกับผู้ใช้ในครั้งถัดไปค่ะ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ก็จะเห็นว่าระบบมีการแนะนำส่วนของการเดินเร็ว และการวิ่งจ๊อกกิ้งมาให้ผู้ใช้เลือกค่ะ หรือหากผู้ใช้คิดว่าสองอย่างนี้ง่ายเกินไป ก็สามารถเลือกเป็นภารกิจอื่น ๆ ได้เช่นกันค่ะ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เมื่อผู้ใช้ทำภารกิจสำเร็จ ก็ได้รับรางวัลตามที่แจ้งไว้เช่นเดิมค่ะ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และเพื่อให้แอปมีความสนุกและหลากหลายมากยิ่งขึ้น เราก็มีภารกิจอื่น ๆ ให้ผู้ใช้เลือกทำค่ะ ไม่ว่าจะเป็นภารกิจประจำวัน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ซึ่งในส่วนนี้นะคะ ระบบจะทำการสุ่มภารกิจง่าย ๆ สามารถทำได้ใน 1 วัน ชเ่น การทำสมาธิ การดื่มน้ำ 8 แก้ว โดยเมื่อทำภารกิจสำเร็จก็จะได้พ้อยเช่นกันค่ะ ถ้าทำทุกวันก็จะได้พ้อยทุกวัน เพื่อเป็นการสร้างนิสัยให้เกิดขึ้น แต่ถ้าหากผู้ใช้ทำสำเร็จครบทั้งสี่ภารกิจ จะได้รับรางวัลพิเศษ เป็นโบนัสเพิ่มเพื่อกระตุ้นผู้ใช้นั่นเองค่ะ ถัดมาก็จะเป็นส่วนชองภารกิจปรับนิสัยที่เราได้พูดไปในขั้นต้นนั่นเองค่ะ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และในส่วนสุดท้าย ถ้าเราเลือกจะทำภารกิจเดียวก็อาจจะไม่สนุกใช่มั้ยคะ เพื่อให้เกิดความสนุกมากยิ่งขึ้นนะคะ เราจึงเพิ่มระบบเควสขึ้นมา โดยมีความท้าทายจากการที่ต้องทำภารกิจหลายภารกิจเพื่อให้เควสนั้นสำเร็จจากที่ระบบตั้งเป้าหมายย่อยให้ผู้ใช้กระทำ เพื่อให้ครบตามขั้นต่ำของแต่ละกิจกรรมจากคำแนะนำของแพทย์ และต้องทำภายในระยะเวลาที่กำหนดไว้ และผู้ใช้จะได้รับรางวัลพิเศษเมื่อทำเควสสำเร็จนั่นเองค่ะ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โดยคะแนนที่ได้รับนะคะ สามารถนำไปเปิดกล่องสุ่มได้ค่ะ โดยของที่สุ่มเนี่ยก็จะมีหลากหลาย ไม่ว่าจะเป็น EXP, Gem รวมถึงไอเทมตกแต่งมาสคอตของเรานั่นเอง และเราสามารถนำgem ไปแลกไอเทมได้ค่ะ ไอเทมที่ว่านะคะก็จะเป็นไอเทมสำหรับบู้ทคะแนนกิจกรรมเป็นสองเท่าค่ะ นอกจากนี้ ยังสามารถแลกจาก EXP เป็น Gem ได้อีกด้วยค่ะ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และเพื่อสร้างแรงกระตุ้นและแรงจูงใจในการเข้าใช้แอปของเรา ระบบจะมีในส่วนของความสำเร็จให้ผู้ใช้ได้สะสมกันค่ะ โดยเมื่อผู้ใช้ทำภารกิจได้ครบตามที่กำหนด จะได้รับarcheivementตามเงื่อนไขนั้น ๆ เช่น เหรียญรางวัลยอดนักแข่ง EXP โอลิมเปียนจะได้รับก็ต่อเมื่อมี EXP อยู่ที่ 100 คะแนนนั่นเอง และในส่วนนี้ แอดมินก็สามารถทำการออกแบบ และเพิ่มarcheivementอื่น ๆ ได้ เพื่อให้ระบบมี flexible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ในส่วนต่อไปนะคะ มาจากแนวคิดที่ว่าการทำอะไรคนเดียวก็อาจจะไม่สนุกใช่มั้ยคะ บางทีถ้าเราออกกำลังกายคนเดียว เดินคนเดียว กินข้าวคนเดียวก็อาจจะรู้สึกเหงาและท้อกับการเปลี่ยนแปลบตัวเองได้ค่ะ แอปเราจึงมีระบบเพิ่มเพื่อน เพื่อชวนเพื่อนมาสุขภาพดีไปด้วยกัน เช่น วันนี้เรานัดเพื่อนไปวิ่งด้วยกันตอนเย็น ไม่ว่าจะเป็นวิ่งด้วยกัน หรือว่าอาจจะเป็นวิ่งกันคนละที่ เมื่อทำภารกิจสำเร็จ แอปเราจะโชว์ว่าเพื่อนได้ทำภารกิจสำเร็จเรียบร้อย เราก็สามารถโบกมือเพื่อให้กำลังใจเพื่อนได้ค่ะ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ในส่วนต่อไปนะคะ มาจากแนวคิดที่ว่าการทำอะไรคนเดียวก็อาจจะไม่สนุกใช่มั้ยคะ บางทีถ้าเราออกกำลังกายคนเดียว เดินคนเดียว กินข้าวคนเดียวก็อาจจะรู้สึกเหงาและท้อกับการเปลี่ยนแปลบตัวเองได้ค่ะ แอปเราจึงมีระบบเพิ่มเพื่อน เพื่อชวนเพื่อนมาสุขภาพดีไปด้วยกัน เช่น วันนี้เรานัดเพื่อนไปวิ่งด้วยกันตอนเย็น ไม่ว่าจะเป็นวิ่งด้วยกัน หรือว่าอาจจะเป็นวิ่งกันคนละที่ เมื่อทำภารกิจสำเร็จ แอปเราจะโชว์ว่าเพื่อนได้ทำภารกิจสำเร็จเรียบร้อย เราก็สามารถโบกมือเพื่อให้กำลังใจเพื่อนได้ค่ะ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ส่วนที่ขาดไปไม่ได้เลยคือส่วนของการแข่งขันนั่นเองค่ะ โดยระบบจะทำการจัดอันดับของผู้ใช้ว่าตอนนี้อยู่ที่อันดับเท่าไหร่ ระดับอะไร คะแนนเท่าไหร่ ใครเป็นที่หนึ่ง ณ ตอนนี้ โดยการจัดอันดับจะเป็นการรีเซตค่าใหม่ทุก ๆ 2 อาทิตย์ เพื่อให้ผู้ใช้รู้สึกว่าเขายังมีโอกาสที่จะได้เป็นที่หนึ่งนั่นเองค่ะ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และส่วนสุดท้ายนะคะ เพื่อให้ผู้ใช้สามารถบรรลุเป้าหมายการปรับพฤติกรรมได้ ผู้ใช้จะต้องทำการบันทึกข้อมูลสุขภาพต่าง ๆ ในทุกสัปดาห์ค่ะ เช่น มีการตั้งเป้าหมายไว้ว่า ใน 1 เดือนเนี่ย จะต้องลดให้ได้ 2 กิโล ผู้ใช้ก็จะต้องบันทึกน้ำหนัก รอบเอว โดยระบบจะทำการเก็บข้อมูลเอาไว้ และเมื่อครบกำหนด ระบบก็จะแสดงผลลัพธ์ว่าลดได้สำเร็จมั้ย และให้ผู้ใช้กำหนดเป้าหมายการลดในเดือนถัดไปนั่นเองค่ะ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เพิ่ม re assessment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นอกจากนี้ในแอปของเราก็มีระบบบทความค่ะ เนื่องจากว่าผู้ใช้ส่วนใหญ่ที่มีภาวะโรคนี้ขาดความรู้ความเข้าใจเกี่ยวกับภาวะเมตาบอลิก ระบบเราจึงจะมีการตอบคำถามประจำวันค่ะ โดยข้อมูลก็จะมาจากบทความต่าง ๆ ภายในแอปของเรา เพื่อให้ผู้ใช้ได้รับความรู้มากขึ้น และแอดมินก็สามารถเพิ่มบทความใหม่ ๆ จากทางเว็บไซต์ เพื่ออัพเดทความรู้เพิ่มเติมภายในแอปของเราได้เช่นกันเดียวกันค่ะ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และส่วนสุดท้ายนะคะ เพื่อให้ผู้ใช้สามารถบรรลุเป้าหมายการปรับพฤติกรรมได้ ผู้ใช้จะต้องทำการบันทึกข้อมูลสุขภาพต่าง ๆ ในทุกสัปดาห์ค่ะ เช่น มีการตั้งเป้าหมายไว้ว่า ใน 1 เดือนเนี่ย จะต้องลดให้ได้ 2 กิโล ผู้ใช้ก็จะต้องบันทึกน้ำหนัก รอบเอว โดยระบบจะทำการเก็บข้อมูลเอาไว้ และเมื่อครบกำหนด ระบบก็จะแสดงผลลัพธ์ว่าลดได้สำเร็จมั้ย และให้ผู้ใช้กำหนดเป้าหมายการลดในเดือนถัดไปนั่นเองค่ะ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เพิ่ม re assessment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และส่วนสุดท้ายนะคะ เพื่อให้ผู้ใช้สามารถบรรลุเป้าหมายการปรับพฤติกรรมได้ ผู้ใช้จะต้องทำการบันทึกข้อมูลสุขภาพต่าง ๆ ในทุกสัปดาห์ค่ะ เช่น มีการตั้งเป้าหมายไว้ว่า ใน 1 เดือนเนี่ย จะต้องลดให้ได้ 2 กิโล ผู้ใช้ก็จะต้องบันทึกน้ำหนัก รอบเอว โดยระบบจะทำการเก็บข้อมูลเอาไว้ และเมื่อครบกำหนด ระบบก็จะแสดงผลลัพธ์ว่าลดได้สำเร็จมั้ย และให้ผู้ใช้กำหนดเป้าหมายการลดในเดือนถัดไปนั่นเองค่ะ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เพิ่ม re assessment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และส่วนสุดท้ายนะคะ เพื่อให้ผู้ใช้สามารถบรรลุเป้าหมายการปรับพฤติกรรมได้ ผู้ใช้จะต้องทำการบันทึกข้อมูลสุขภาพต่าง ๆ ในทุกสัปดาห์ค่ะ เช่น มีการตั้งเป้าหมายไว้ว่า ใน 1 เดือนเนี่ย จะต้องลดให้ได้ 2 กิโล ผู้ใช้ก็จะต้องบันทึกน้ำหนัก รอบเอว โดยระบบจะทำการเก็บข้อมูลเอาไว้ และเมื่อครบกำหนด ระบบก็จะแสดงผลลัพธ์ว่าลดได้สำเร็จมั้ย และให้ผู้ใช้กำหนดเป้าหมายการลดในเดือนถัดไปนั่นเองค่ะ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เพิ่ม re assessment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และส่วนสุดท้ายนะคะ เพื่อให้ผู้ใช้สามารถบรรลุเป้าหมายการปรับพฤติกรรมได้ ผู้ใช้จะต้องทำการบันทึกข้อมูลสุขภาพต่าง ๆ ในทุกสัปดาห์ค่ะ เช่น มีการตั้งเป้าหมายไว้ว่า ใน 1 เดือนเนี่ย จะต้องลดให้ได้ 2 กิโล ผู้ใช้ก็จะต้องบันทึกน้ำหนัก รอบเอว โดยระบบจะทำการเก็บข้อมูลเอาไว้ และเมื่อครบกำหนด ระบบก็จะแสดงผลลัพธ์ว่าลดได้สำเร็จมั้ย และให้ผู้ใช้กำหนดเป้าหมายการลดในเดือนถัดไปนั่นเองค่ะ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เพิ่ม re assessment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และส่วนสุดท้ายนะคะ เพื่อให้ผู้ใช้สามารถบรรลุเป้าหมายการปรับพฤติกรรมได้ ผู้ใช้จะต้องทำการบันทึกข้อมูลสุขภาพต่าง ๆ ในทุกสัปดาห์ค่ะ เช่น มีการตั้งเป้าหมายไว้ว่า ใน 1 เดือนเนี่ย จะต้องลดให้ได้ 2 กิโล ผู้ใช้ก็จะต้องบันทึกน้ำหนัก รอบเอว โดยระบบจะทำการเก็บข้อมูลเอาไว้ และเมื่อครบกำหนด ระบบก็จะแสดงผลลัพธ์ว่าลดได้สำเร็จมั้ย และให้ผู้ใช้กำหนดเป้าหมายการลดในเดือนถัดไปนั่นเองค่ะ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เพิ่ม re assessment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ก็จะเห็นได้ชัดนะคะว่า จากทั้งหมดที่เราได้พูดไป เป็นการนำเกมมิฟิเคชั่นเข้ามาใช้งานภายในแอปของเราทั้งหมดค่ะ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โดยเราก็จะมายกตัวอย่างนะคะว่าแต่ละส่วนของเกมมิฟิเคชั่นอยู่ในหน้าไหนของแอปเรา ไม่ว่าจะเป็นส่วนของการกำหนดเป้าหมายการเข้าใช้งาน การสร้างกติกา การได้รับรางวัลหลังจากทำภารกิจสำเร็จ ความสมัครใจในการเลือกทำภารกิจต่าง ๆ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รวมถึงส่วนอื่น ๆ ไม่ว่าจะเป็น Point Badge LeaderBoard ตามที่เราได้ออกแบบไว้ ซึ่งทุกสิ่งภายในระบบเราออกแบบเพื่อกระตุ้นและสร้างจูงใจให้ผู้ใช้ทั้งสิ้น ตามหลักการเกมมินั่นเองค่ะ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กางตารางแผนดำเนินการให้เขาดู แผนการพัฒนาเทอมหน้า เทอมนี้ทำอะไรไปบ้าง เทอมหน้าจะทำอะไร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กางตารางแผนดำเนินการให้เขาดู แผนการพัฒนาเทอมหน้า เทอมนี้ทำอะไรไปบ้าง เทอมหน้าจะทำอะไร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4.svg"/><Relationship Id="rId4" Type="http://schemas.openxmlformats.org/officeDocument/2006/relationships/image" Target="../media/image2.sv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.sv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1.pn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e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2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2.sv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2.svg"/><Relationship Id="rId9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69.svg"/><Relationship Id="rId5" Type="http://schemas.openxmlformats.org/officeDocument/2006/relationships/image" Target="../media/image65.svg"/><Relationship Id="rId10" Type="http://schemas.openxmlformats.org/officeDocument/2006/relationships/image" Target="../media/image68.png"/><Relationship Id="rId4" Type="http://schemas.openxmlformats.org/officeDocument/2006/relationships/image" Target="../media/image64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2.svg"/><Relationship Id="rId9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6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4.png"/><Relationship Id="rId4" Type="http://schemas.openxmlformats.org/officeDocument/2006/relationships/image" Target="../media/image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2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4.png"/><Relationship Id="rId4" Type="http://schemas.openxmlformats.org/officeDocument/2006/relationships/image" Target="../media/image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5.png"/><Relationship Id="rId4" Type="http://schemas.openxmlformats.org/officeDocument/2006/relationships/image" Target="../media/image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2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png"/><Relationship Id="rId4" Type="http://schemas.openxmlformats.org/officeDocument/2006/relationships/image" Target="../media/image2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7.png"/><Relationship Id="rId18" Type="http://schemas.openxmlformats.org/officeDocument/2006/relationships/image" Target="../media/image60.sv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61.png"/><Relationship Id="rId10" Type="http://schemas.openxmlformats.org/officeDocument/2006/relationships/image" Target="../media/image54.svg"/><Relationship Id="rId4" Type="http://schemas.openxmlformats.org/officeDocument/2006/relationships/image" Target="../media/image2.svg"/><Relationship Id="rId9" Type="http://schemas.openxmlformats.org/officeDocument/2006/relationships/image" Target="../media/image53.png"/><Relationship Id="rId14" Type="http://schemas.openxmlformats.org/officeDocument/2006/relationships/image" Target="../media/image5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2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2.svg"/><Relationship Id="rId9" Type="http://schemas.openxmlformats.org/officeDocument/2006/relationships/image" Target="../media/image1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5.png"/><Relationship Id="rId4" Type="http://schemas.openxmlformats.org/officeDocument/2006/relationships/image" Target="../media/image2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svg"/><Relationship Id="rId5" Type="http://schemas.openxmlformats.org/officeDocument/2006/relationships/image" Target="../media/image136.png"/><Relationship Id="rId4" Type="http://schemas.openxmlformats.org/officeDocument/2006/relationships/image" Target="../media/image2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9.svg"/><Relationship Id="rId3" Type="http://schemas.openxmlformats.org/officeDocument/2006/relationships/image" Target="../media/image2.svg"/><Relationship Id="rId7" Type="http://schemas.openxmlformats.org/officeDocument/2006/relationships/image" Target="../media/image67.svg"/><Relationship Id="rId12" Type="http://schemas.openxmlformats.org/officeDocument/2006/relationships/image" Target="../media/image1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69.svg"/><Relationship Id="rId5" Type="http://schemas.openxmlformats.org/officeDocument/2006/relationships/image" Target="../media/image65.svg"/><Relationship Id="rId15" Type="http://schemas.openxmlformats.org/officeDocument/2006/relationships/image" Target="../media/image141.svg"/><Relationship Id="rId10" Type="http://schemas.openxmlformats.org/officeDocument/2006/relationships/image" Target="../media/image68.png"/><Relationship Id="rId4" Type="http://schemas.openxmlformats.org/officeDocument/2006/relationships/image" Target="../media/image64.png"/><Relationship Id="rId9" Type="http://schemas.openxmlformats.org/officeDocument/2006/relationships/image" Target="../media/image10.svg"/><Relationship Id="rId1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009268" y="2118145"/>
            <a:ext cx="12578802" cy="6067639"/>
            <a:chOff x="0" y="0"/>
            <a:chExt cx="2517139" cy="12141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17139" cy="1214193"/>
            </a:xfrm>
            <a:custGeom>
              <a:avLst/>
              <a:gdLst/>
              <a:ahLst/>
              <a:cxnLst/>
              <a:rect l="l" t="t" r="r" b="b"/>
              <a:pathLst>
                <a:path w="2517139" h="1214193">
                  <a:moveTo>
                    <a:pt x="30774" y="0"/>
                  </a:moveTo>
                  <a:lnTo>
                    <a:pt x="2486365" y="0"/>
                  </a:lnTo>
                  <a:cubicBezTo>
                    <a:pt x="2494527" y="0"/>
                    <a:pt x="2502355" y="3242"/>
                    <a:pt x="2508126" y="9013"/>
                  </a:cubicBezTo>
                  <a:cubicBezTo>
                    <a:pt x="2513897" y="14785"/>
                    <a:pt x="2517139" y="22612"/>
                    <a:pt x="2517139" y="30774"/>
                  </a:cubicBezTo>
                  <a:lnTo>
                    <a:pt x="2517139" y="1183419"/>
                  </a:lnTo>
                  <a:cubicBezTo>
                    <a:pt x="2517139" y="1191581"/>
                    <a:pt x="2513897" y="1199408"/>
                    <a:pt x="2508126" y="1205179"/>
                  </a:cubicBezTo>
                  <a:cubicBezTo>
                    <a:pt x="2502355" y="1210951"/>
                    <a:pt x="2494527" y="1214193"/>
                    <a:pt x="2486365" y="1214193"/>
                  </a:cubicBezTo>
                  <a:lnTo>
                    <a:pt x="30774" y="1214193"/>
                  </a:lnTo>
                  <a:cubicBezTo>
                    <a:pt x="22612" y="1214193"/>
                    <a:pt x="14785" y="1210951"/>
                    <a:pt x="9013" y="1205179"/>
                  </a:cubicBezTo>
                  <a:cubicBezTo>
                    <a:pt x="3242" y="1199408"/>
                    <a:pt x="0" y="1191581"/>
                    <a:pt x="0" y="1183419"/>
                  </a:cubicBezTo>
                  <a:lnTo>
                    <a:pt x="0" y="30774"/>
                  </a:lnTo>
                  <a:cubicBezTo>
                    <a:pt x="0" y="22612"/>
                    <a:pt x="3242" y="14785"/>
                    <a:pt x="9013" y="9013"/>
                  </a:cubicBezTo>
                  <a:cubicBezTo>
                    <a:pt x="14785" y="3242"/>
                    <a:pt x="22612" y="0"/>
                    <a:pt x="30774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  <a:ln w="76200" cap="rnd">
              <a:solidFill>
                <a:srgbClr val="000000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17139" cy="1252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48379" y="1672547"/>
            <a:ext cx="14391242" cy="6941905"/>
            <a:chOff x="0" y="0"/>
            <a:chExt cx="19188322" cy="925587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9188322" cy="9255874"/>
              <a:chOff x="0" y="0"/>
              <a:chExt cx="2517139" cy="121419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517139" cy="1214193"/>
              </a:xfrm>
              <a:custGeom>
                <a:avLst/>
                <a:gdLst/>
                <a:ahLst/>
                <a:cxnLst/>
                <a:rect l="l" t="t" r="r" b="b"/>
                <a:pathLst>
                  <a:path w="2517139" h="1214193">
                    <a:moveTo>
                      <a:pt x="26898" y="0"/>
                    </a:moveTo>
                    <a:lnTo>
                      <a:pt x="2490241" y="0"/>
                    </a:lnTo>
                    <a:cubicBezTo>
                      <a:pt x="2505097" y="0"/>
                      <a:pt x="2517139" y="12043"/>
                      <a:pt x="2517139" y="26898"/>
                    </a:cubicBezTo>
                    <a:lnTo>
                      <a:pt x="2517139" y="1187295"/>
                    </a:lnTo>
                    <a:cubicBezTo>
                      <a:pt x="2517139" y="1202150"/>
                      <a:pt x="2505097" y="1214193"/>
                      <a:pt x="2490241" y="1214193"/>
                    </a:cubicBezTo>
                    <a:lnTo>
                      <a:pt x="26898" y="1214193"/>
                    </a:lnTo>
                    <a:cubicBezTo>
                      <a:pt x="12043" y="1214193"/>
                      <a:pt x="0" y="1202150"/>
                      <a:pt x="0" y="1187295"/>
                    </a:cubicBezTo>
                    <a:lnTo>
                      <a:pt x="0" y="26898"/>
                    </a:lnTo>
                    <a:cubicBezTo>
                      <a:pt x="0" y="12043"/>
                      <a:pt x="12043" y="0"/>
                      <a:pt x="26898" y="0"/>
                    </a:cubicBezTo>
                    <a:close/>
                  </a:path>
                </a:pathLst>
              </a:custGeom>
              <a:solidFill>
                <a:srgbClr val="3082C7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517139" cy="12522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91302" y="419439"/>
              <a:ext cx="18238816" cy="8178533"/>
              <a:chOff x="0" y="0"/>
              <a:chExt cx="2657059" cy="119146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657059" cy="1191461"/>
              </a:xfrm>
              <a:custGeom>
                <a:avLst/>
                <a:gdLst/>
                <a:ahLst/>
                <a:cxnLst/>
                <a:rect l="l" t="t" r="r" b="b"/>
                <a:pathLst>
                  <a:path w="2657059" h="1191461">
                    <a:moveTo>
                      <a:pt x="19809" y="0"/>
                    </a:moveTo>
                    <a:lnTo>
                      <a:pt x="2637250" y="0"/>
                    </a:lnTo>
                    <a:cubicBezTo>
                      <a:pt x="2648190" y="0"/>
                      <a:pt x="2657059" y="8869"/>
                      <a:pt x="2657059" y="19809"/>
                    </a:cubicBezTo>
                    <a:lnTo>
                      <a:pt x="2657059" y="1171653"/>
                    </a:lnTo>
                    <a:cubicBezTo>
                      <a:pt x="2657059" y="1182593"/>
                      <a:pt x="2648190" y="1191461"/>
                      <a:pt x="2637250" y="1191461"/>
                    </a:cubicBezTo>
                    <a:lnTo>
                      <a:pt x="19809" y="1191461"/>
                    </a:lnTo>
                    <a:cubicBezTo>
                      <a:pt x="8869" y="1191461"/>
                      <a:pt x="0" y="1182593"/>
                      <a:pt x="0" y="1171653"/>
                    </a:cubicBezTo>
                    <a:lnTo>
                      <a:pt x="0" y="19809"/>
                    </a:lnTo>
                    <a:cubicBezTo>
                      <a:pt x="0" y="8869"/>
                      <a:pt x="8869" y="0"/>
                      <a:pt x="198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657059" cy="12295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1" name="Freeform 21"/>
          <p:cNvSpPr/>
          <p:nvPr/>
        </p:nvSpPr>
        <p:spPr>
          <a:xfrm>
            <a:off x="13894931" y="3886037"/>
            <a:ext cx="1189414" cy="1393164"/>
          </a:xfrm>
          <a:custGeom>
            <a:avLst/>
            <a:gdLst/>
            <a:ahLst/>
            <a:cxnLst/>
            <a:rect l="l" t="t" r="r" b="b"/>
            <a:pathLst>
              <a:path w="1189414" h="1393164">
                <a:moveTo>
                  <a:pt x="0" y="0"/>
                </a:moveTo>
                <a:lnTo>
                  <a:pt x="1189414" y="0"/>
                </a:lnTo>
                <a:lnTo>
                  <a:pt x="1189414" y="1393164"/>
                </a:lnTo>
                <a:lnTo>
                  <a:pt x="0" y="1393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1102542">
            <a:off x="1011688" y="7142847"/>
            <a:ext cx="2776477" cy="1103650"/>
          </a:xfrm>
          <a:custGeom>
            <a:avLst/>
            <a:gdLst/>
            <a:ahLst/>
            <a:cxnLst/>
            <a:rect l="l" t="t" r="r" b="b"/>
            <a:pathLst>
              <a:path w="2776477" h="1103650">
                <a:moveTo>
                  <a:pt x="0" y="0"/>
                </a:moveTo>
                <a:lnTo>
                  <a:pt x="2776477" y="0"/>
                </a:lnTo>
                <a:lnTo>
                  <a:pt x="2776477" y="1103649"/>
                </a:lnTo>
                <a:lnTo>
                  <a:pt x="0" y="11036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2252453">
            <a:off x="14410188" y="7619164"/>
            <a:ext cx="1815935" cy="989685"/>
          </a:xfrm>
          <a:custGeom>
            <a:avLst/>
            <a:gdLst/>
            <a:ahLst/>
            <a:cxnLst/>
            <a:rect l="l" t="t" r="r" b="b"/>
            <a:pathLst>
              <a:path w="1815935" h="989685">
                <a:moveTo>
                  <a:pt x="0" y="0"/>
                </a:moveTo>
                <a:lnTo>
                  <a:pt x="1815935" y="0"/>
                </a:lnTo>
                <a:lnTo>
                  <a:pt x="1815935" y="989685"/>
                </a:lnTo>
                <a:lnTo>
                  <a:pt x="0" y="9896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447470" y="1028700"/>
            <a:ext cx="3351832" cy="1793230"/>
          </a:xfrm>
          <a:custGeom>
            <a:avLst/>
            <a:gdLst/>
            <a:ahLst/>
            <a:cxnLst/>
            <a:rect l="l" t="t" r="r" b="b"/>
            <a:pathLst>
              <a:path w="3351832" h="1793230">
                <a:moveTo>
                  <a:pt x="0" y="0"/>
                </a:moveTo>
                <a:lnTo>
                  <a:pt x="3351831" y="0"/>
                </a:lnTo>
                <a:lnTo>
                  <a:pt x="3351831" y="1793230"/>
                </a:lnTo>
                <a:lnTo>
                  <a:pt x="0" y="17932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1237512">
            <a:off x="15701976" y="5053794"/>
            <a:ext cx="1157256" cy="2482051"/>
          </a:xfrm>
          <a:custGeom>
            <a:avLst/>
            <a:gdLst/>
            <a:ahLst/>
            <a:cxnLst/>
            <a:rect l="l" t="t" r="r" b="b"/>
            <a:pathLst>
              <a:path w="1157256" h="2482051">
                <a:moveTo>
                  <a:pt x="0" y="0"/>
                </a:moveTo>
                <a:lnTo>
                  <a:pt x="1157256" y="0"/>
                </a:lnTo>
                <a:lnTo>
                  <a:pt x="1157256" y="2482050"/>
                </a:lnTo>
                <a:lnTo>
                  <a:pt x="0" y="24820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264328" y="2834651"/>
            <a:ext cx="7718114" cy="127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</a:pPr>
            <a:r>
              <a:rPr lang="en-US" sz="9933" b="1">
                <a:solidFill>
                  <a:srgbClr val="2C374D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WELLWAVE</a:t>
            </a:r>
          </a:p>
        </p:txBody>
      </p:sp>
      <p:sp>
        <p:nvSpPr>
          <p:cNvPr id="27" name="Freeform 27"/>
          <p:cNvSpPr/>
          <p:nvPr/>
        </p:nvSpPr>
        <p:spPr>
          <a:xfrm>
            <a:off x="6932038" y="8114006"/>
            <a:ext cx="4738303" cy="1297110"/>
          </a:xfrm>
          <a:custGeom>
            <a:avLst/>
            <a:gdLst/>
            <a:ahLst/>
            <a:cxnLst/>
            <a:rect l="l" t="t" r="r" b="b"/>
            <a:pathLst>
              <a:path w="4738303" h="1297110">
                <a:moveTo>
                  <a:pt x="0" y="0"/>
                </a:moveTo>
                <a:lnTo>
                  <a:pt x="4738303" y="0"/>
                </a:lnTo>
                <a:lnTo>
                  <a:pt x="4738303" y="1297111"/>
                </a:lnTo>
                <a:lnTo>
                  <a:pt x="0" y="12971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1330420">
            <a:off x="14769545" y="440471"/>
            <a:ext cx="3874863" cy="2242577"/>
          </a:xfrm>
          <a:custGeom>
            <a:avLst/>
            <a:gdLst/>
            <a:ahLst/>
            <a:cxnLst/>
            <a:rect l="l" t="t" r="r" b="b"/>
            <a:pathLst>
              <a:path w="3874863" h="2242577">
                <a:moveTo>
                  <a:pt x="0" y="0"/>
                </a:moveTo>
                <a:lnTo>
                  <a:pt x="3874863" y="0"/>
                </a:lnTo>
                <a:lnTo>
                  <a:pt x="3874863" y="2242577"/>
                </a:lnTo>
                <a:lnTo>
                  <a:pt x="0" y="224257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489457" y="193215"/>
            <a:ext cx="4246590" cy="4825670"/>
          </a:xfrm>
          <a:custGeom>
            <a:avLst/>
            <a:gdLst/>
            <a:ahLst/>
            <a:cxnLst/>
            <a:rect l="l" t="t" r="r" b="b"/>
            <a:pathLst>
              <a:path w="4246590" h="4825670">
                <a:moveTo>
                  <a:pt x="0" y="0"/>
                </a:moveTo>
                <a:lnTo>
                  <a:pt x="4246590" y="0"/>
                </a:lnTo>
                <a:lnTo>
                  <a:pt x="4246590" y="4825671"/>
                </a:lnTo>
                <a:lnTo>
                  <a:pt x="0" y="482567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5041981" y="4446263"/>
            <a:ext cx="8204039" cy="1665876"/>
            <a:chOff x="0" y="0"/>
            <a:chExt cx="10938718" cy="2221167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0938718" cy="2221167"/>
              <a:chOff x="0" y="0"/>
              <a:chExt cx="1967396" cy="39949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967396" cy="399491"/>
              </a:xfrm>
              <a:custGeom>
                <a:avLst/>
                <a:gdLst/>
                <a:ahLst/>
                <a:cxnLst/>
                <a:rect l="l" t="t" r="r" b="b"/>
                <a:pathLst>
                  <a:path w="1967396" h="399491">
                    <a:moveTo>
                      <a:pt x="94367" y="0"/>
                    </a:moveTo>
                    <a:lnTo>
                      <a:pt x="1873029" y="0"/>
                    </a:lnTo>
                    <a:cubicBezTo>
                      <a:pt x="1925147" y="0"/>
                      <a:pt x="1967396" y="42250"/>
                      <a:pt x="1967396" y="94367"/>
                    </a:cubicBezTo>
                    <a:lnTo>
                      <a:pt x="1967396" y="305124"/>
                    </a:lnTo>
                    <a:cubicBezTo>
                      <a:pt x="1967396" y="357241"/>
                      <a:pt x="1925147" y="399491"/>
                      <a:pt x="1873029" y="399491"/>
                    </a:cubicBezTo>
                    <a:lnTo>
                      <a:pt x="94367" y="399491"/>
                    </a:lnTo>
                    <a:cubicBezTo>
                      <a:pt x="42250" y="399491"/>
                      <a:pt x="0" y="357241"/>
                      <a:pt x="0" y="305124"/>
                    </a:cubicBezTo>
                    <a:lnTo>
                      <a:pt x="0" y="94367"/>
                    </a:lnTo>
                    <a:cubicBezTo>
                      <a:pt x="0" y="42250"/>
                      <a:pt x="42250" y="0"/>
                      <a:pt x="94367" y="0"/>
                    </a:cubicBezTo>
                    <a:close/>
                  </a:path>
                </a:pathLst>
              </a:custGeom>
              <a:solidFill>
                <a:srgbClr val="85E7B3"/>
              </a:solidFill>
              <a:ln w="381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967396" cy="4375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76945" y="159188"/>
              <a:ext cx="10784829" cy="1597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62C3B"/>
                  </a:solidFill>
                  <a:latin typeface="Biski Bold"/>
                  <a:ea typeface="Biski Bold"/>
                  <a:cs typeface="Biski Bold"/>
                  <a:sym typeface="Biski Bold"/>
                </a:rPr>
                <a:t>Gamify application for personalized metabolic wellness improvement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699419" y="9258300"/>
            <a:ext cx="2015115" cy="695596"/>
            <a:chOff x="0" y="0"/>
            <a:chExt cx="2686820" cy="927461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2686820" cy="927461"/>
              <a:chOff x="0" y="0"/>
              <a:chExt cx="483241" cy="1668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83241" cy="166810"/>
              </a:xfrm>
              <a:custGeom>
                <a:avLst/>
                <a:gdLst/>
                <a:ahLst/>
                <a:cxnLst/>
                <a:rect l="l" t="t" r="r" b="b"/>
                <a:pathLst>
                  <a:path w="483241" h="166810">
                    <a:moveTo>
                      <a:pt x="83405" y="0"/>
                    </a:moveTo>
                    <a:lnTo>
                      <a:pt x="399836" y="0"/>
                    </a:lnTo>
                    <a:cubicBezTo>
                      <a:pt x="445900" y="0"/>
                      <a:pt x="483241" y="37342"/>
                      <a:pt x="483241" y="83405"/>
                    </a:cubicBezTo>
                    <a:lnTo>
                      <a:pt x="483241" y="83405"/>
                    </a:lnTo>
                    <a:cubicBezTo>
                      <a:pt x="483241" y="129468"/>
                      <a:pt x="445900" y="166810"/>
                      <a:pt x="399836" y="166810"/>
                    </a:cubicBezTo>
                    <a:lnTo>
                      <a:pt x="83405" y="166810"/>
                    </a:lnTo>
                    <a:cubicBezTo>
                      <a:pt x="37342" y="166810"/>
                      <a:pt x="0" y="129468"/>
                      <a:pt x="0" y="83405"/>
                    </a:cubicBezTo>
                    <a:lnTo>
                      <a:pt x="0" y="83405"/>
                    </a:lnTo>
                    <a:cubicBezTo>
                      <a:pt x="0" y="37342"/>
                      <a:pt x="37342" y="0"/>
                      <a:pt x="83405" y="0"/>
                    </a:cubicBezTo>
                    <a:close/>
                  </a:path>
                </a:pathLst>
              </a:custGeom>
              <a:solidFill>
                <a:srgbClr val="FEBE3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483241" cy="20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67068" y="40217"/>
              <a:ext cx="2552683" cy="747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62C3B"/>
                  </a:solidFill>
                  <a:latin typeface="Biski Bold"/>
                  <a:ea typeface="Biski Bold"/>
                  <a:cs typeface="Biski Bold"/>
                  <a:sym typeface="Biski Bold"/>
                </a:rPr>
                <a:t>CE67 - 16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4562139" y="6299002"/>
            <a:ext cx="9163722" cy="129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2799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แอปพลิเคชันรูปแบบกลไกเกมเพื่อปรับปรุงพฤติกรรมสุขภาพเมตาบอลิซึมส่วนบุคคล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54242" y="476765"/>
            <a:ext cx="16205058" cy="9333469"/>
            <a:chOff x="0" y="0"/>
            <a:chExt cx="21606744" cy="1244462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1606744" cy="12444626"/>
              <a:chOff x="0" y="0"/>
              <a:chExt cx="3242788" cy="18677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242788" cy="1867717"/>
              </a:xfrm>
              <a:custGeom>
                <a:avLst/>
                <a:gdLst/>
                <a:ahLst/>
                <a:cxnLst/>
                <a:rect l="l" t="t" r="r" b="b"/>
                <a:pathLst>
                  <a:path w="3242788" h="1867717">
                    <a:moveTo>
                      <a:pt x="23887" y="0"/>
                    </a:moveTo>
                    <a:lnTo>
                      <a:pt x="3218900" y="0"/>
                    </a:lnTo>
                    <a:cubicBezTo>
                      <a:pt x="3225236" y="0"/>
                      <a:pt x="3231311" y="2517"/>
                      <a:pt x="3235791" y="6996"/>
                    </a:cubicBezTo>
                    <a:cubicBezTo>
                      <a:pt x="3240271" y="11476"/>
                      <a:pt x="3242788" y="17552"/>
                      <a:pt x="3242788" y="23887"/>
                    </a:cubicBezTo>
                    <a:lnTo>
                      <a:pt x="3242788" y="1843830"/>
                    </a:lnTo>
                    <a:cubicBezTo>
                      <a:pt x="3242788" y="1850165"/>
                      <a:pt x="3240271" y="1856241"/>
                      <a:pt x="3235791" y="1860720"/>
                    </a:cubicBezTo>
                    <a:cubicBezTo>
                      <a:pt x="3231311" y="1865200"/>
                      <a:pt x="3225236" y="1867717"/>
                      <a:pt x="3218900" y="1867717"/>
                    </a:cubicBezTo>
                    <a:lnTo>
                      <a:pt x="23887" y="1867717"/>
                    </a:lnTo>
                    <a:cubicBezTo>
                      <a:pt x="17552" y="1867717"/>
                      <a:pt x="11476" y="1865200"/>
                      <a:pt x="6996" y="1860720"/>
                    </a:cubicBezTo>
                    <a:cubicBezTo>
                      <a:pt x="2517" y="1856241"/>
                      <a:pt x="0" y="1850165"/>
                      <a:pt x="0" y="1843830"/>
                    </a:cubicBezTo>
                    <a:lnTo>
                      <a:pt x="0" y="23887"/>
                    </a:lnTo>
                    <a:cubicBezTo>
                      <a:pt x="0" y="17552"/>
                      <a:pt x="2517" y="11476"/>
                      <a:pt x="6996" y="6996"/>
                    </a:cubicBezTo>
                    <a:cubicBezTo>
                      <a:pt x="11476" y="2517"/>
                      <a:pt x="17552" y="0"/>
                      <a:pt x="23887" y="0"/>
                    </a:cubicBezTo>
                    <a:close/>
                  </a:path>
                </a:pathLst>
              </a:custGeom>
              <a:solidFill>
                <a:srgbClr val="3082C7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242788" cy="1905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95614" y="394540"/>
              <a:ext cx="20815515" cy="11655546"/>
              <a:chOff x="0" y="0"/>
              <a:chExt cx="2821512" cy="157989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821512" cy="1579892"/>
              </a:xfrm>
              <a:custGeom>
                <a:avLst/>
                <a:gdLst/>
                <a:ahLst/>
                <a:cxnLst/>
                <a:rect l="l" t="t" r="r" b="b"/>
                <a:pathLst>
                  <a:path w="2821512" h="1579892">
                    <a:moveTo>
                      <a:pt x="17357" y="0"/>
                    </a:moveTo>
                    <a:lnTo>
                      <a:pt x="2804155" y="0"/>
                    </a:lnTo>
                    <a:cubicBezTo>
                      <a:pt x="2813741" y="0"/>
                      <a:pt x="2821512" y="7771"/>
                      <a:pt x="2821512" y="17357"/>
                    </a:cubicBezTo>
                    <a:lnTo>
                      <a:pt x="2821512" y="1562535"/>
                    </a:lnTo>
                    <a:cubicBezTo>
                      <a:pt x="2821512" y="1572121"/>
                      <a:pt x="2813741" y="1579892"/>
                      <a:pt x="2804155" y="1579892"/>
                    </a:cubicBezTo>
                    <a:lnTo>
                      <a:pt x="17357" y="1579892"/>
                    </a:lnTo>
                    <a:cubicBezTo>
                      <a:pt x="7771" y="1579892"/>
                      <a:pt x="0" y="1572121"/>
                      <a:pt x="0" y="1562535"/>
                    </a:cubicBezTo>
                    <a:lnTo>
                      <a:pt x="0" y="17357"/>
                    </a:lnTo>
                    <a:cubicBezTo>
                      <a:pt x="0" y="7771"/>
                      <a:pt x="7771" y="0"/>
                      <a:pt x="173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80975"/>
                <a:ext cx="2821512" cy="17608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246492" y="672285"/>
            <a:ext cx="6035312" cy="336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9"/>
              </a:lnSpc>
            </a:pPr>
            <a:r>
              <a:rPr lang="en-US" sz="10199" b="1">
                <a:solidFill>
                  <a:srgbClr val="2C374D"/>
                </a:solidFill>
                <a:latin typeface="Biski Semi-Bold"/>
                <a:ea typeface="Biski Semi-Bold"/>
                <a:cs typeface="Biski Semi-Bold"/>
                <a:sym typeface="Biski Semi-Bold"/>
              </a:rPr>
              <a:t>Our </a:t>
            </a:r>
          </a:p>
          <a:p>
            <a:pPr algn="ctr">
              <a:lnSpc>
                <a:spcPts val="9689"/>
              </a:lnSpc>
            </a:pPr>
            <a:r>
              <a:rPr lang="en-US" sz="10199" b="1">
                <a:solidFill>
                  <a:srgbClr val="85E7B3"/>
                </a:solidFill>
                <a:latin typeface="Biski Semi-Bold"/>
                <a:ea typeface="Biski Semi-Bold"/>
                <a:cs typeface="Biski Semi-Bold"/>
                <a:sym typeface="Biski Semi-Bold"/>
              </a:rPr>
              <a:t>Team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13557" y="4303424"/>
            <a:ext cx="2979075" cy="4487328"/>
            <a:chOff x="0" y="0"/>
            <a:chExt cx="3972100" cy="5983104"/>
          </a:xfrm>
        </p:grpSpPr>
        <p:grpSp>
          <p:nvGrpSpPr>
            <p:cNvPr id="20" name="Group 20"/>
            <p:cNvGrpSpPr/>
            <p:nvPr/>
          </p:nvGrpSpPr>
          <p:grpSpPr>
            <a:xfrm>
              <a:off x="361033" y="0"/>
              <a:ext cx="3250033" cy="3250020"/>
              <a:chOff x="0" y="0"/>
              <a:chExt cx="6350000" cy="63499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0" y="4331916"/>
              <a:ext cx="3972100" cy="576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 b="1">
                  <a:solidFill>
                    <a:srgbClr val="000000"/>
                  </a:solidFill>
                  <a:latin typeface="Biski Bold"/>
                  <a:ea typeface="Biski Bold"/>
                  <a:cs typeface="Biski Bold"/>
                  <a:sym typeface="Biski Bold"/>
                </a:rPr>
                <a:t>นางสาวฐิตาพร หลงจิ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7503" y="5406948"/>
              <a:ext cx="2397094" cy="576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000000"/>
                  </a:solidFill>
                  <a:latin typeface="Biski"/>
                  <a:ea typeface="Biski"/>
                  <a:cs typeface="Biski"/>
                  <a:sym typeface="Biski"/>
                </a:rPr>
                <a:t>64011100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995097" y="4303424"/>
            <a:ext cx="3860187" cy="4487328"/>
            <a:chOff x="0" y="0"/>
            <a:chExt cx="5146916" cy="5983104"/>
          </a:xfrm>
        </p:grpSpPr>
        <p:grpSp>
          <p:nvGrpSpPr>
            <p:cNvPr id="25" name="Group 25"/>
            <p:cNvGrpSpPr/>
            <p:nvPr/>
          </p:nvGrpSpPr>
          <p:grpSpPr>
            <a:xfrm>
              <a:off x="948441" y="0"/>
              <a:ext cx="3250033" cy="3250020"/>
              <a:chOff x="0" y="0"/>
              <a:chExt cx="6350000" cy="63499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0" y="4331916"/>
              <a:ext cx="5146916" cy="576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 b="1">
                  <a:solidFill>
                    <a:srgbClr val="000000"/>
                  </a:solidFill>
                  <a:latin typeface="Biski Bold"/>
                  <a:ea typeface="Biski Bold"/>
                  <a:cs typeface="Biski Bold"/>
                  <a:sym typeface="Biski Bold"/>
                </a:rPr>
                <a:t>นางสาวอรัชฌา ปิ่นประยูร 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74911" y="5406948"/>
              <a:ext cx="2397094" cy="576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000000"/>
                  </a:solidFill>
                  <a:latin typeface="Biski"/>
                  <a:ea typeface="Biski"/>
                  <a:cs typeface="Biski"/>
                  <a:sym typeface="Biski"/>
                </a:rPr>
                <a:t>64010994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50905" y="4303424"/>
            <a:ext cx="3778092" cy="4487328"/>
            <a:chOff x="0" y="0"/>
            <a:chExt cx="5037456" cy="5983104"/>
          </a:xfrm>
        </p:grpSpPr>
        <p:grpSp>
          <p:nvGrpSpPr>
            <p:cNvPr id="30" name="Group 30"/>
            <p:cNvGrpSpPr/>
            <p:nvPr/>
          </p:nvGrpSpPr>
          <p:grpSpPr>
            <a:xfrm>
              <a:off x="893712" y="0"/>
              <a:ext cx="3250033" cy="3250020"/>
              <a:chOff x="0" y="0"/>
              <a:chExt cx="6350000" cy="63499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0" y="4331916"/>
              <a:ext cx="5037456" cy="576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 b="1">
                  <a:solidFill>
                    <a:srgbClr val="000000"/>
                  </a:solidFill>
                  <a:latin typeface="Biski Bold"/>
                  <a:ea typeface="Biski Bold"/>
                  <a:cs typeface="Biski Bold"/>
                  <a:sym typeface="Biski Bold"/>
                </a:rPr>
                <a:t>นางสาวพิมพ์ชนก ฤทธิ์ช่วย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0181" y="5406948"/>
              <a:ext cx="2397094" cy="576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000000"/>
                  </a:solidFill>
                  <a:latin typeface="Biski"/>
                  <a:ea typeface="Biski"/>
                  <a:cs typeface="Biski"/>
                  <a:sym typeface="Biski"/>
                </a:rPr>
                <a:t>64011210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99299" y="4303424"/>
            <a:ext cx="2437525" cy="4487328"/>
            <a:chOff x="0" y="0"/>
            <a:chExt cx="3250033" cy="5983104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250033" cy="3250020"/>
              <a:chOff x="0" y="0"/>
              <a:chExt cx="6350000" cy="63499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7171" y="4331916"/>
              <a:ext cx="3075691" cy="576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 b="1">
                  <a:solidFill>
                    <a:srgbClr val="000000"/>
                  </a:solidFill>
                  <a:latin typeface="Biski Bold"/>
                  <a:ea typeface="Biski Bold"/>
                  <a:cs typeface="Biski Bold"/>
                  <a:sym typeface="Biski Bold"/>
                </a:rPr>
                <a:t>นายอัมรี เถาวัลย์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470" y="5406948"/>
              <a:ext cx="2397094" cy="576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000000"/>
                  </a:solidFill>
                  <a:latin typeface="Biski"/>
                  <a:ea typeface="Biski"/>
                  <a:cs typeface="Biski"/>
                  <a:sym typeface="Biski"/>
                </a:rPr>
                <a:t>64011013</a:t>
              </a:r>
            </a:p>
          </p:txBody>
        </p:sp>
      </p:grpSp>
      <p:sp>
        <p:nvSpPr>
          <p:cNvPr id="39" name="Freeform 39"/>
          <p:cNvSpPr/>
          <p:nvPr/>
        </p:nvSpPr>
        <p:spPr>
          <a:xfrm flipV="1">
            <a:off x="10753685" y="1253310"/>
            <a:ext cx="1189414" cy="1393164"/>
          </a:xfrm>
          <a:custGeom>
            <a:avLst/>
            <a:gdLst/>
            <a:ahLst/>
            <a:cxnLst/>
            <a:rect l="l" t="t" r="r" b="b"/>
            <a:pathLst>
              <a:path w="1189414" h="1393164">
                <a:moveTo>
                  <a:pt x="0" y="1393164"/>
                </a:moveTo>
                <a:lnTo>
                  <a:pt x="1189414" y="1393164"/>
                </a:lnTo>
                <a:lnTo>
                  <a:pt x="1189414" y="0"/>
                </a:lnTo>
                <a:lnTo>
                  <a:pt x="0" y="0"/>
                </a:lnTo>
                <a:lnTo>
                  <a:pt x="0" y="139316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6185651" y="354379"/>
            <a:ext cx="1260410" cy="1260410"/>
            <a:chOff x="0" y="0"/>
            <a:chExt cx="1680547" cy="168054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1680547" cy="1680547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83617" y="430698"/>
              <a:ext cx="1237324" cy="866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01</a:t>
              </a:r>
            </a:p>
          </p:txBody>
        </p:sp>
      </p:grpSp>
      <p:sp>
        <p:nvSpPr>
          <p:cNvPr id="45" name="Freeform 45"/>
          <p:cNvSpPr/>
          <p:nvPr/>
        </p:nvSpPr>
        <p:spPr>
          <a:xfrm flipV="1">
            <a:off x="6031738" y="1905775"/>
            <a:ext cx="1189414" cy="1393164"/>
          </a:xfrm>
          <a:custGeom>
            <a:avLst/>
            <a:gdLst/>
            <a:ahLst/>
            <a:cxnLst/>
            <a:rect l="l" t="t" r="r" b="b"/>
            <a:pathLst>
              <a:path w="1189414" h="1393164">
                <a:moveTo>
                  <a:pt x="0" y="1393164"/>
                </a:moveTo>
                <a:lnTo>
                  <a:pt x="1189414" y="1393164"/>
                </a:lnTo>
                <a:lnTo>
                  <a:pt x="1189414" y="0"/>
                </a:lnTo>
                <a:lnTo>
                  <a:pt x="0" y="0"/>
                </a:lnTo>
                <a:lnTo>
                  <a:pt x="0" y="139316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54242" y="476765"/>
            <a:ext cx="16205058" cy="9333469"/>
            <a:chOff x="0" y="0"/>
            <a:chExt cx="21606744" cy="1244462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1606744" cy="12444626"/>
              <a:chOff x="0" y="0"/>
              <a:chExt cx="3242788" cy="18677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242788" cy="1867717"/>
              </a:xfrm>
              <a:custGeom>
                <a:avLst/>
                <a:gdLst/>
                <a:ahLst/>
                <a:cxnLst/>
                <a:rect l="l" t="t" r="r" b="b"/>
                <a:pathLst>
                  <a:path w="3242788" h="1867717">
                    <a:moveTo>
                      <a:pt x="23887" y="0"/>
                    </a:moveTo>
                    <a:lnTo>
                      <a:pt x="3218900" y="0"/>
                    </a:lnTo>
                    <a:cubicBezTo>
                      <a:pt x="3225236" y="0"/>
                      <a:pt x="3231311" y="2517"/>
                      <a:pt x="3235791" y="6996"/>
                    </a:cubicBezTo>
                    <a:cubicBezTo>
                      <a:pt x="3240271" y="11476"/>
                      <a:pt x="3242788" y="17552"/>
                      <a:pt x="3242788" y="23887"/>
                    </a:cubicBezTo>
                    <a:lnTo>
                      <a:pt x="3242788" y="1843830"/>
                    </a:lnTo>
                    <a:cubicBezTo>
                      <a:pt x="3242788" y="1850165"/>
                      <a:pt x="3240271" y="1856241"/>
                      <a:pt x="3235791" y="1860720"/>
                    </a:cubicBezTo>
                    <a:cubicBezTo>
                      <a:pt x="3231311" y="1865200"/>
                      <a:pt x="3225236" y="1867717"/>
                      <a:pt x="3218900" y="1867717"/>
                    </a:cubicBezTo>
                    <a:lnTo>
                      <a:pt x="23887" y="1867717"/>
                    </a:lnTo>
                    <a:cubicBezTo>
                      <a:pt x="17552" y="1867717"/>
                      <a:pt x="11476" y="1865200"/>
                      <a:pt x="6996" y="1860720"/>
                    </a:cubicBezTo>
                    <a:cubicBezTo>
                      <a:pt x="2517" y="1856241"/>
                      <a:pt x="0" y="1850165"/>
                      <a:pt x="0" y="1843830"/>
                    </a:cubicBezTo>
                    <a:lnTo>
                      <a:pt x="0" y="23887"/>
                    </a:lnTo>
                    <a:cubicBezTo>
                      <a:pt x="0" y="17552"/>
                      <a:pt x="2517" y="11476"/>
                      <a:pt x="6996" y="6996"/>
                    </a:cubicBezTo>
                    <a:cubicBezTo>
                      <a:pt x="11476" y="2517"/>
                      <a:pt x="17552" y="0"/>
                      <a:pt x="23887" y="0"/>
                    </a:cubicBezTo>
                    <a:close/>
                  </a:path>
                </a:pathLst>
              </a:custGeom>
              <a:solidFill>
                <a:srgbClr val="3082C7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242788" cy="1905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95614" y="394540"/>
              <a:ext cx="20815515" cy="11655546"/>
              <a:chOff x="0" y="0"/>
              <a:chExt cx="2821512" cy="157989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821512" cy="1579892"/>
              </a:xfrm>
              <a:custGeom>
                <a:avLst/>
                <a:gdLst/>
                <a:ahLst/>
                <a:cxnLst/>
                <a:rect l="l" t="t" r="r" b="b"/>
                <a:pathLst>
                  <a:path w="2821512" h="1579892">
                    <a:moveTo>
                      <a:pt x="17357" y="0"/>
                    </a:moveTo>
                    <a:lnTo>
                      <a:pt x="2804155" y="0"/>
                    </a:lnTo>
                    <a:cubicBezTo>
                      <a:pt x="2813741" y="0"/>
                      <a:pt x="2821512" y="7771"/>
                      <a:pt x="2821512" y="17357"/>
                    </a:cubicBezTo>
                    <a:lnTo>
                      <a:pt x="2821512" y="1562535"/>
                    </a:lnTo>
                    <a:cubicBezTo>
                      <a:pt x="2821512" y="1572121"/>
                      <a:pt x="2813741" y="1579892"/>
                      <a:pt x="2804155" y="1579892"/>
                    </a:cubicBezTo>
                    <a:lnTo>
                      <a:pt x="17357" y="1579892"/>
                    </a:lnTo>
                    <a:cubicBezTo>
                      <a:pt x="7771" y="1579892"/>
                      <a:pt x="0" y="1572121"/>
                      <a:pt x="0" y="1562535"/>
                    </a:cubicBezTo>
                    <a:lnTo>
                      <a:pt x="0" y="17357"/>
                    </a:lnTo>
                    <a:cubicBezTo>
                      <a:pt x="0" y="7771"/>
                      <a:pt x="7771" y="0"/>
                      <a:pt x="173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80975"/>
                <a:ext cx="2821512" cy="17608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4756882" y="732860"/>
            <a:ext cx="8799778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0"/>
              </a:lnSpc>
            </a:pPr>
            <a:r>
              <a:rPr lang="en-US" sz="9000" b="1">
                <a:solidFill>
                  <a:srgbClr val="2C374D"/>
                </a:solidFill>
                <a:latin typeface="Biski Semi-Bold"/>
                <a:ea typeface="Biski Semi-Bold"/>
                <a:cs typeface="Biski Semi-Bold"/>
                <a:sym typeface="Biski Semi-Bold"/>
              </a:rPr>
              <a:t>Our </a:t>
            </a:r>
            <a:r>
              <a:rPr lang="en-US" sz="9000" b="1">
                <a:solidFill>
                  <a:srgbClr val="85E7B3"/>
                </a:solidFill>
                <a:latin typeface="Biski Semi-Bold"/>
                <a:ea typeface="Biski Semi-Bold"/>
                <a:cs typeface="Biski Semi-Bold"/>
                <a:sym typeface="Biski Semi-Bold"/>
              </a:rPr>
              <a:t> consultants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582653" y="5354093"/>
            <a:ext cx="1976388" cy="1976380"/>
            <a:chOff x="0" y="0"/>
            <a:chExt cx="6350000" cy="63499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2049742" y="7613045"/>
            <a:ext cx="333375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ผศ. ดร. ชมพูนุท เต็งเจริญ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17215" y="8126934"/>
            <a:ext cx="2107264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อาจารย์ที่ปรึกษาหลัก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062148" y="5354093"/>
            <a:ext cx="1976438" cy="1976430"/>
            <a:chOff x="0" y="0"/>
            <a:chExt cx="6350000" cy="63499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383492" y="7613045"/>
            <a:ext cx="333375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ผศ. ธนา หงษ์สุวรรณ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58870" y="8126934"/>
            <a:ext cx="2782993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อาจารย์ที่ปรึกษาร่วม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74664" y="4274249"/>
            <a:ext cx="3017656" cy="510255"/>
            <a:chOff x="0" y="0"/>
            <a:chExt cx="4023542" cy="68034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4023542" cy="680340"/>
              <a:chOff x="0" y="0"/>
              <a:chExt cx="723659" cy="12236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23659" cy="122363"/>
              </a:xfrm>
              <a:custGeom>
                <a:avLst/>
                <a:gdLst/>
                <a:ahLst/>
                <a:cxnLst/>
                <a:rect l="l" t="t" r="r" b="b"/>
                <a:pathLst>
                  <a:path w="723659" h="122363">
                    <a:moveTo>
                      <a:pt x="61182" y="0"/>
                    </a:moveTo>
                    <a:lnTo>
                      <a:pt x="662477" y="0"/>
                    </a:lnTo>
                    <a:cubicBezTo>
                      <a:pt x="678704" y="0"/>
                      <a:pt x="694265" y="6446"/>
                      <a:pt x="705739" y="17920"/>
                    </a:cubicBezTo>
                    <a:cubicBezTo>
                      <a:pt x="717213" y="29393"/>
                      <a:pt x="723659" y="44955"/>
                      <a:pt x="723659" y="61182"/>
                    </a:cubicBezTo>
                    <a:lnTo>
                      <a:pt x="723659" y="61182"/>
                    </a:lnTo>
                    <a:cubicBezTo>
                      <a:pt x="723659" y="77408"/>
                      <a:pt x="717213" y="92970"/>
                      <a:pt x="705739" y="104444"/>
                    </a:cubicBezTo>
                    <a:cubicBezTo>
                      <a:pt x="694265" y="115917"/>
                      <a:pt x="678704" y="122363"/>
                      <a:pt x="662477" y="122363"/>
                    </a:cubicBezTo>
                    <a:lnTo>
                      <a:pt x="61182" y="122363"/>
                    </a:lnTo>
                    <a:cubicBezTo>
                      <a:pt x="44955" y="122363"/>
                      <a:pt x="29393" y="115917"/>
                      <a:pt x="17920" y="104444"/>
                    </a:cubicBezTo>
                    <a:cubicBezTo>
                      <a:pt x="6446" y="92970"/>
                      <a:pt x="0" y="77408"/>
                      <a:pt x="0" y="61182"/>
                    </a:cubicBezTo>
                    <a:lnTo>
                      <a:pt x="0" y="61182"/>
                    </a:lnTo>
                    <a:cubicBezTo>
                      <a:pt x="0" y="44955"/>
                      <a:pt x="6446" y="29393"/>
                      <a:pt x="17920" y="17920"/>
                    </a:cubicBezTo>
                    <a:cubicBezTo>
                      <a:pt x="29393" y="6446"/>
                      <a:pt x="44955" y="0"/>
                      <a:pt x="61182" y="0"/>
                    </a:cubicBezTo>
                    <a:close/>
                  </a:path>
                </a:pathLst>
              </a:custGeom>
              <a:solidFill>
                <a:srgbClr val="85E7B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28575"/>
                <a:ext cx="723659" cy="1509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8302" y="-40956"/>
              <a:ext cx="3966937" cy="6652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162C3B"/>
                  </a:solidFill>
                  <a:latin typeface="Biski Bold"/>
                  <a:ea typeface="Biski Bold"/>
                  <a:cs typeface="Biski Bold"/>
                  <a:sym typeface="Biski Bold"/>
                </a:rPr>
                <a:t>อาจารย์ที่ปรึกษา</a:t>
              </a:r>
            </a:p>
          </p:txBody>
        </p:sp>
      </p:grpSp>
      <p:sp>
        <p:nvSpPr>
          <p:cNvPr id="32" name="Freeform 32"/>
          <p:cNvSpPr/>
          <p:nvPr/>
        </p:nvSpPr>
        <p:spPr>
          <a:xfrm flipV="1">
            <a:off x="12779667" y="1291327"/>
            <a:ext cx="1189414" cy="1393164"/>
          </a:xfrm>
          <a:custGeom>
            <a:avLst/>
            <a:gdLst/>
            <a:ahLst/>
            <a:cxnLst/>
            <a:rect l="l" t="t" r="r" b="b"/>
            <a:pathLst>
              <a:path w="1189414" h="1393164">
                <a:moveTo>
                  <a:pt x="0" y="1393164"/>
                </a:moveTo>
                <a:lnTo>
                  <a:pt x="1189414" y="1393164"/>
                </a:lnTo>
                <a:lnTo>
                  <a:pt x="1189414" y="0"/>
                </a:lnTo>
                <a:lnTo>
                  <a:pt x="0" y="0"/>
                </a:lnTo>
                <a:lnTo>
                  <a:pt x="0" y="139316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02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flipH="1" flipV="1">
            <a:off x="9516434" y="4066610"/>
            <a:ext cx="0" cy="459586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11327210" y="5354093"/>
            <a:ext cx="3333750" cy="3454069"/>
            <a:chOff x="0" y="0"/>
            <a:chExt cx="4445000" cy="4605425"/>
          </a:xfrm>
        </p:grpSpPr>
        <p:grpSp>
          <p:nvGrpSpPr>
            <p:cNvPr id="40" name="Group 40"/>
            <p:cNvGrpSpPr/>
            <p:nvPr/>
          </p:nvGrpSpPr>
          <p:grpSpPr>
            <a:xfrm>
              <a:off x="710548" y="0"/>
              <a:ext cx="2635184" cy="2635174"/>
              <a:chOff x="0" y="0"/>
              <a:chExt cx="6350000" cy="63499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0" y="3084695"/>
              <a:ext cx="4445000" cy="531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2000" b="1">
                  <a:solidFill>
                    <a:srgbClr val="000000"/>
                  </a:solidFill>
                  <a:latin typeface="Biski Bold"/>
                  <a:ea typeface="Biski Bold"/>
                  <a:cs typeface="Biski Bold"/>
                  <a:sym typeface="Biski Bold"/>
                </a:rPr>
                <a:t>พญ. นันท์ชญาน์ ฉายะโอภาส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1649" y="3710837"/>
              <a:ext cx="3821703" cy="894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800">
                  <a:solidFill>
                    <a:srgbClr val="000000"/>
                  </a:solidFill>
                  <a:latin typeface="Biski"/>
                  <a:ea typeface="Biski"/>
                  <a:cs typeface="Biski"/>
                  <a:sym typeface="Biski"/>
                </a:rPr>
                <a:t>แพทย์เวชศาสตร์ฟื้นฟู</a:t>
              </a:r>
            </a:p>
            <a:p>
              <a:pPr algn="ctr">
                <a:lnSpc>
                  <a:spcPts val="3204"/>
                </a:lnSpc>
              </a:pPr>
              <a:r>
                <a:rPr lang="en-US" sz="1800">
                  <a:solidFill>
                    <a:srgbClr val="000000"/>
                  </a:solidFill>
                  <a:latin typeface="Biski"/>
                  <a:ea typeface="Biski"/>
                  <a:cs typeface="Biski"/>
                  <a:sym typeface="Biski"/>
                </a:rPr>
                <a:t>โรงพยาบาลกรุงเทพ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877232" y="4277819"/>
            <a:ext cx="4233706" cy="510255"/>
            <a:chOff x="0" y="0"/>
            <a:chExt cx="1015278" cy="12236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15278" cy="122363"/>
            </a:xfrm>
            <a:custGeom>
              <a:avLst/>
              <a:gdLst/>
              <a:ahLst/>
              <a:cxnLst/>
              <a:rect l="l" t="t" r="r" b="b"/>
              <a:pathLst>
                <a:path w="1015278" h="122363">
                  <a:moveTo>
                    <a:pt x="61182" y="0"/>
                  </a:moveTo>
                  <a:lnTo>
                    <a:pt x="954096" y="0"/>
                  </a:lnTo>
                  <a:cubicBezTo>
                    <a:pt x="970322" y="0"/>
                    <a:pt x="985884" y="6446"/>
                    <a:pt x="997358" y="17920"/>
                  </a:cubicBezTo>
                  <a:cubicBezTo>
                    <a:pt x="1008832" y="29393"/>
                    <a:pt x="1015278" y="44955"/>
                    <a:pt x="1015278" y="61182"/>
                  </a:cubicBezTo>
                  <a:lnTo>
                    <a:pt x="1015278" y="61182"/>
                  </a:lnTo>
                  <a:cubicBezTo>
                    <a:pt x="1015278" y="77408"/>
                    <a:pt x="1008832" y="92970"/>
                    <a:pt x="997358" y="104444"/>
                  </a:cubicBezTo>
                  <a:cubicBezTo>
                    <a:pt x="985884" y="115917"/>
                    <a:pt x="970322" y="122363"/>
                    <a:pt x="954096" y="122363"/>
                  </a:cubicBezTo>
                  <a:lnTo>
                    <a:pt x="61182" y="122363"/>
                  </a:lnTo>
                  <a:cubicBezTo>
                    <a:pt x="44955" y="122363"/>
                    <a:pt x="29393" y="115917"/>
                    <a:pt x="17920" y="104444"/>
                  </a:cubicBezTo>
                  <a:cubicBezTo>
                    <a:pt x="6446" y="92970"/>
                    <a:pt x="0" y="77408"/>
                    <a:pt x="0" y="61182"/>
                  </a:cubicBezTo>
                  <a:lnTo>
                    <a:pt x="0" y="61182"/>
                  </a:lnTo>
                  <a:cubicBezTo>
                    <a:pt x="0" y="44955"/>
                    <a:pt x="6446" y="29393"/>
                    <a:pt x="17920" y="17920"/>
                  </a:cubicBezTo>
                  <a:cubicBezTo>
                    <a:pt x="29393" y="6446"/>
                    <a:pt x="44955" y="0"/>
                    <a:pt x="61182" y="0"/>
                  </a:cubicBezTo>
                  <a:close/>
                </a:path>
              </a:pathLst>
            </a:custGeom>
            <a:solidFill>
              <a:srgbClr val="85E7B3"/>
            </a:solidFill>
            <a:ln cap="rnd">
              <a:noFill/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015278" cy="150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506483" y="4194073"/>
            <a:ext cx="2975203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162C3B"/>
                </a:solidFill>
                <a:latin typeface="Biski Bold"/>
                <a:ea typeface="Biski Bold"/>
                <a:cs typeface="Biski Bold"/>
                <a:sym typeface="Biski Bold"/>
              </a:rPr>
              <a:t>ที่ปรึกษาทางการแพทย์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297266" y="1055852"/>
            <a:ext cx="7874597" cy="1786250"/>
          </a:xfrm>
          <a:custGeom>
            <a:avLst/>
            <a:gdLst/>
            <a:ahLst/>
            <a:cxnLst/>
            <a:rect l="l" t="t" r="r" b="b"/>
            <a:pathLst>
              <a:path w="7874597" h="1786250">
                <a:moveTo>
                  <a:pt x="0" y="0"/>
                </a:moveTo>
                <a:lnTo>
                  <a:pt x="7874597" y="0"/>
                </a:lnTo>
                <a:lnTo>
                  <a:pt x="7874597" y="1786251"/>
                </a:lnTo>
                <a:lnTo>
                  <a:pt x="0" y="1786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966151" y="2009716"/>
            <a:ext cx="7698017" cy="1664775"/>
          </a:xfrm>
          <a:custGeom>
            <a:avLst/>
            <a:gdLst/>
            <a:ahLst/>
            <a:cxnLst/>
            <a:rect l="l" t="t" r="r" b="b"/>
            <a:pathLst>
              <a:path w="7698017" h="1664775">
                <a:moveTo>
                  <a:pt x="0" y="0"/>
                </a:moveTo>
                <a:lnTo>
                  <a:pt x="7698017" y="0"/>
                </a:lnTo>
                <a:lnTo>
                  <a:pt x="7698017" y="1664774"/>
                </a:lnTo>
                <a:lnTo>
                  <a:pt x="0" y="1664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97266" y="5010627"/>
            <a:ext cx="8864770" cy="1822527"/>
          </a:xfrm>
          <a:custGeom>
            <a:avLst/>
            <a:gdLst/>
            <a:ahLst/>
            <a:cxnLst/>
            <a:rect l="l" t="t" r="r" b="b"/>
            <a:pathLst>
              <a:path w="8864770" h="1822527">
                <a:moveTo>
                  <a:pt x="0" y="0"/>
                </a:moveTo>
                <a:lnTo>
                  <a:pt x="8864770" y="0"/>
                </a:lnTo>
                <a:lnTo>
                  <a:pt x="8864770" y="1822527"/>
                </a:lnTo>
                <a:lnTo>
                  <a:pt x="0" y="182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783374" y="4416888"/>
            <a:ext cx="6880794" cy="1453224"/>
          </a:xfrm>
          <a:custGeom>
            <a:avLst/>
            <a:gdLst/>
            <a:ahLst/>
            <a:cxnLst/>
            <a:rect l="l" t="t" r="r" b="b"/>
            <a:pathLst>
              <a:path w="6880794" h="1453224">
                <a:moveTo>
                  <a:pt x="0" y="0"/>
                </a:moveTo>
                <a:lnTo>
                  <a:pt x="6880794" y="0"/>
                </a:lnTo>
                <a:lnTo>
                  <a:pt x="6880794" y="1453224"/>
                </a:lnTo>
                <a:lnTo>
                  <a:pt x="0" y="14532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498795" y="6613062"/>
            <a:ext cx="7165373" cy="1705496"/>
          </a:xfrm>
          <a:custGeom>
            <a:avLst/>
            <a:gdLst/>
            <a:ahLst/>
            <a:cxnLst/>
            <a:rect l="l" t="t" r="r" b="b"/>
            <a:pathLst>
              <a:path w="7165373" h="1705496">
                <a:moveTo>
                  <a:pt x="0" y="0"/>
                </a:moveTo>
                <a:lnTo>
                  <a:pt x="7165373" y="0"/>
                </a:lnTo>
                <a:lnTo>
                  <a:pt x="7165373" y="1705496"/>
                </a:lnTo>
                <a:lnTo>
                  <a:pt x="0" y="170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69403" y="7309404"/>
            <a:ext cx="8864770" cy="1948896"/>
          </a:xfrm>
          <a:custGeom>
            <a:avLst/>
            <a:gdLst/>
            <a:ahLst/>
            <a:cxnLst/>
            <a:rect l="l" t="t" r="r" b="b"/>
            <a:pathLst>
              <a:path w="8864770" h="1948896">
                <a:moveTo>
                  <a:pt x="0" y="0"/>
                </a:moveTo>
                <a:lnTo>
                  <a:pt x="8864770" y="0"/>
                </a:lnTo>
                <a:lnTo>
                  <a:pt x="8864770" y="1948896"/>
                </a:lnTo>
                <a:lnTo>
                  <a:pt x="0" y="19488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97266" y="3165953"/>
            <a:ext cx="805428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 spc="-560">
                <a:solidFill>
                  <a:srgbClr val="3972F0"/>
                </a:solidFill>
                <a:latin typeface="Gliker Bold"/>
                <a:ea typeface="Gliker Bold"/>
                <a:cs typeface="Gliker Bold"/>
                <a:sym typeface="Gliker Bold"/>
              </a:rPr>
              <a:t>ปัญหาที่พบ</a:t>
            </a:r>
            <a:r>
              <a:rPr lang="en-US" sz="8000" b="1" spc="-560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ในปัจจุบัน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489357" y="1663555"/>
            <a:ext cx="15445411" cy="7341144"/>
            <a:chOff x="0" y="0"/>
            <a:chExt cx="3615430" cy="1718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1718400"/>
            </a:xfrm>
            <a:custGeom>
              <a:avLst/>
              <a:gdLst/>
              <a:ahLst/>
              <a:cxnLst/>
              <a:rect l="l" t="t" r="r" b="b"/>
              <a:pathLst>
                <a:path w="3615430" h="1718400">
                  <a:moveTo>
                    <a:pt x="25062" y="0"/>
                  </a:moveTo>
                  <a:lnTo>
                    <a:pt x="3590368" y="0"/>
                  </a:lnTo>
                  <a:cubicBezTo>
                    <a:pt x="3597015" y="0"/>
                    <a:pt x="3603389" y="2640"/>
                    <a:pt x="3608089" y="7341"/>
                  </a:cubicBezTo>
                  <a:cubicBezTo>
                    <a:pt x="3612790" y="12041"/>
                    <a:pt x="3615430" y="18415"/>
                    <a:pt x="3615430" y="25062"/>
                  </a:cubicBezTo>
                  <a:lnTo>
                    <a:pt x="3615430" y="1693338"/>
                  </a:lnTo>
                  <a:cubicBezTo>
                    <a:pt x="3615430" y="1699985"/>
                    <a:pt x="3612790" y="1706359"/>
                    <a:pt x="3608089" y="1711060"/>
                  </a:cubicBezTo>
                  <a:cubicBezTo>
                    <a:pt x="3603389" y="1715759"/>
                    <a:pt x="3597015" y="1718400"/>
                    <a:pt x="3590368" y="1718400"/>
                  </a:cubicBezTo>
                  <a:lnTo>
                    <a:pt x="25062" y="1718400"/>
                  </a:lnTo>
                  <a:cubicBezTo>
                    <a:pt x="18415" y="1718400"/>
                    <a:pt x="12041" y="1715759"/>
                    <a:pt x="7341" y="1711060"/>
                  </a:cubicBezTo>
                  <a:cubicBezTo>
                    <a:pt x="2640" y="1706359"/>
                    <a:pt x="0" y="1699985"/>
                    <a:pt x="0" y="1693338"/>
                  </a:cubicBezTo>
                  <a:lnTo>
                    <a:pt x="0" y="25062"/>
                  </a:lnTo>
                  <a:cubicBezTo>
                    <a:pt x="0" y="18415"/>
                    <a:pt x="2640" y="12041"/>
                    <a:pt x="7341" y="7341"/>
                  </a:cubicBezTo>
                  <a:cubicBezTo>
                    <a:pt x="12041" y="2640"/>
                    <a:pt x="18415" y="0"/>
                    <a:pt x="25062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175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1559" y="476726"/>
            <a:ext cx="16204883" cy="9333548"/>
            <a:chOff x="0" y="0"/>
            <a:chExt cx="21606510" cy="1244473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1606510" cy="12444730"/>
              <a:chOff x="0" y="0"/>
              <a:chExt cx="3615430" cy="208238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615430" cy="2082384"/>
              </a:xfrm>
              <a:custGeom>
                <a:avLst/>
                <a:gdLst/>
                <a:ahLst/>
                <a:cxnLst/>
                <a:rect l="l" t="t" r="r" b="b"/>
                <a:pathLst>
                  <a:path w="3615430" h="2082384">
                    <a:moveTo>
                      <a:pt x="25062" y="0"/>
                    </a:moveTo>
                    <a:lnTo>
                      <a:pt x="3590368" y="0"/>
                    </a:lnTo>
                    <a:cubicBezTo>
                      <a:pt x="3597015" y="0"/>
                      <a:pt x="3603389" y="2640"/>
                      <a:pt x="3608089" y="7341"/>
                    </a:cubicBezTo>
                    <a:cubicBezTo>
                      <a:pt x="3612790" y="12041"/>
                      <a:pt x="3615430" y="18415"/>
                      <a:pt x="3615430" y="25062"/>
                    </a:cubicBezTo>
                    <a:lnTo>
                      <a:pt x="3615430" y="2057322"/>
                    </a:lnTo>
                    <a:cubicBezTo>
                      <a:pt x="3615430" y="2063969"/>
                      <a:pt x="3612790" y="2070344"/>
                      <a:pt x="3608089" y="2075043"/>
                    </a:cubicBezTo>
                    <a:cubicBezTo>
                      <a:pt x="3603389" y="2079744"/>
                      <a:pt x="3597015" y="2082384"/>
                      <a:pt x="3590368" y="2082384"/>
                    </a:cubicBezTo>
                    <a:lnTo>
                      <a:pt x="25062" y="2082384"/>
                    </a:lnTo>
                    <a:cubicBezTo>
                      <a:pt x="18415" y="2082384"/>
                      <a:pt x="12041" y="2079744"/>
                      <a:pt x="7341" y="2075043"/>
                    </a:cubicBezTo>
                    <a:cubicBezTo>
                      <a:pt x="2640" y="2070344"/>
                      <a:pt x="0" y="2063969"/>
                      <a:pt x="0" y="2057322"/>
                    </a:cubicBezTo>
                    <a:lnTo>
                      <a:pt x="0" y="25062"/>
                    </a:lnTo>
                    <a:cubicBezTo>
                      <a:pt x="0" y="18415"/>
                      <a:pt x="2640" y="12041"/>
                      <a:pt x="7341" y="7341"/>
                    </a:cubicBezTo>
                    <a:cubicBezTo>
                      <a:pt x="12041" y="2640"/>
                      <a:pt x="18415" y="0"/>
                      <a:pt x="250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3615430" cy="21204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10800000">
              <a:off x="9752617" y="649397"/>
              <a:ext cx="11247429" cy="11145936"/>
              <a:chOff x="0" y="0"/>
              <a:chExt cx="2092185" cy="207330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092185" cy="2073306"/>
              </a:xfrm>
              <a:custGeom>
                <a:avLst/>
                <a:gdLst/>
                <a:ahLst/>
                <a:cxnLst/>
                <a:rect l="l" t="t" r="r" b="b"/>
                <a:pathLst>
                  <a:path w="2092185" h="2073306">
                    <a:moveTo>
                      <a:pt x="48145" y="0"/>
                    </a:moveTo>
                    <a:lnTo>
                      <a:pt x="2044040" y="0"/>
                    </a:lnTo>
                    <a:cubicBezTo>
                      <a:pt x="2056809" y="0"/>
                      <a:pt x="2069055" y="5072"/>
                      <a:pt x="2078083" y="14101"/>
                    </a:cubicBezTo>
                    <a:cubicBezTo>
                      <a:pt x="2087112" y="23130"/>
                      <a:pt x="2092185" y="35376"/>
                      <a:pt x="2092185" y="48145"/>
                    </a:cubicBezTo>
                    <a:lnTo>
                      <a:pt x="2092185" y="2025161"/>
                    </a:lnTo>
                    <a:cubicBezTo>
                      <a:pt x="2092185" y="2051750"/>
                      <a:pt x="2070629" y="2073306"/>
                      <a:pt x="2044040" y="2073306"/>
                    </a:cubicBezTo>
                    <a:lnTo>
                      <a:pt x="48145" y="2073306"/>
                    </a:lnTo>
                    <a:cubicBezTo>
                      <a:pt x="21555" y="2073306"/>
                      <a:pt x="0" y="2051750"/>
                      <a:pt x="0" y="2025161"/>
                    </a:cubicBezTo>
                    <a:lnTo>
                      <a:pt x="0" y="48145"/>
                    </a:lnTo>
                    <a:cubicBezTo>
                      <a:pt x="0" y="21555"/>
                      <a:pt x="21555" y="0"/>
                      <a:pt x="48145" y="0"/>
                    </a:cubicBezTo>
                    <a:close/>
                  </a:path>
                </a:pathLst>
              </a:custGeom>
              <a:solidFill>
                <a:srgbClr val="3082C7"/>
              </a:solidFill>
              <a:ln w="76200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092185" cy="21114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1" name="Freeform 21"/>
          <p:cNvSpPr/>
          <p:nvPr/>
        </p:nvSpPr>
        <p:spPr>
          <a:xfrm>
            <a:off x="8766243" y="2249025"/>
            <a:ext cx="7634811" cy="5315398"/>
          </a:xfrm>
          <a:custGeom>
            <a:avLst/>
            <a:gdLst/>
            <a:ahLst/>
            <a:cxnLst/>
            <a:rect l="l" t="t" r="r" b="b"/>
            <a:pathLst>
              <a:path w="7634811" h="5315398">
                <a:moveTo>
                  <a:pt x="0" y="0"/>
                </a:moveTo>
                <a:lnTo>
                  <a:pt x="7634811" y="0"/>
                </a:lnTo>
                <a:lnTo>
                  <a:pt x="7634811" y="5315398"/>
                </a:lnTo>
                <a:lnTo>
                  <a:pt x="0" y="531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654328" y="1560050"/>
            <a:ext cx="5961460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ความชุกของ</a:t>
            </a:r>
            <a:r>
              <a:rPr lang="en-US" sz="5000" b="1">
                <a:solidFill>
                  <a:srgbClr val="E98B1B"/>
                </a:solidFill>
                <a:latin typeface="Gliker Bold"/>
                <a:ea typeface="Gliker Bold"/>
                <a:cs typeface="Gliker Bold"/>
                <a:sym typeface="Gliker Bold"/>
              </a:rPr>
              <a:t>ผู้ป่วย</a:t>
            </a:r>
          </a:p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E98B1B"/>
                </a:solidFill>
                <a:latin typeface="Gliker Bold"/>
                <a:ea typeface="Gliker Bold"/>
                <a:cs typeface="Gliker Bold"/>
                <a:sym typeface="Gliker Bold"/>
              </a:rPr>
              <a:t>โรคอ้วน</a:t>
            </a:r>
            <a:r>
              <a:rPr lang="en-US" sz="5000" b="1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ในประเทศไทย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57814" y="7827029"/>
            <a:ext cx="7451668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Biski"/>
                <a:ea typeface="Biski"/>
                <a:cs typeface="Biski"/>
                <a:sym typeface="Biski"/>
              </a:rPr>
              <a:t>*อ้างอิงข้อมูลจากกองโรคไม่ติดต่อ กรมควบคุมโรค กระทรวงสาธารณสุข*</a:t>
            </a:r>
          </a:p>
        </p:txBody>
      </p:sp>
      <p:sp>
        <p:nvSpPr>
          <p:cNvPr id="24" name="Freeform 24"/>
          <p:cNvSpPr/>
          <p:nvPr/>
        </p:nvSpPr>
        <p:spPr>
          <a:xfrm>
            <a:off x="1536966" y="5704199"/>
            <a:ext cx="6507842" cy="1300962"/>
          </a:xfrm>
          <a:custGeom>
            <a:avLst/>
            <a:gdLst/>
            <a:ahLst/>
            <a:cxnLst/>
            <a:rect l="l" t="t" r="r" b="b"/>
            <a:pathLst>
              <a:path w="6507842" h="1300962">
                <a:moveTo>
                  <a:pt x="0" y="0"/>
                </a:moveTo>
                <a:lnTo>
                  <a:pt x="6507842" y="0"/>
                </a:lnTo>
                <a:lnTo>
                  <a:pt x="6507842" y="1300962"/>
                </a:lnTo>
                <a:lnTo>
                  <a:pt x="0" y="1300962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654328" y="3356806"/>
            <a:ext cx="6438089" cy="1977321"/>
          </a:xfrm>
          <a:custGeom>
            <a:avLst/>
            <a:gdLst/>
            <a:ahLst/>
            <a:cxnLst/>
            <a:rect l="l" t="t" r="r" b="b"/>
            <a:pathLst>
              <a:path w="6438089" h="1977321">
                <a:moveTo>
                  <a:pt x="0" y="0"/>
                </a:moveTo>
                <a:lnTo>
                  <a:pt x="6438089" y="0"/>
                </a:lnTo>
                <a:lnTo>
                  <a:pt x="6438089" y="1977321"/>
                </a:lnTo>
                <a:lnTo>
                  <a:pt x="0" y="1977321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1489357" y="7375232"/>
            <a:ext cx="6720422" cy="1246494"/>
          </a:xfrm>
          <a:custGeom>
            <a:avLst/>
            <a:gdLst/>
            <a:ahLst/>
            <a:cxnLst/>
            <a:rect l="l" t="t" r="r" b="b"/>
            <a:pathLst>
              <a:path w="6720422" h="1246494">
                <a:moveTo>
                  <a:pt x="0" y="0"/>
                </a:moveTo>
                <a:lnTo>
                  <a:pt x="6720422" y="0"/>
                </a:lnTo>
                <a:lnTo>
                  <a:pt x="6720422" y="1246494"/>
                </a:lnTo>
                <a:lnTo>
                  <a:pt x="0" y="1246494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7" name="Group 27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057157" y="1777105"/>
            <a:ext cx="14637585" cy="7227594"/>
            <a:chOff x="0" y="0"/>
            <a:chExt cx="3467941" cy="17123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67941" cy="1712364"/>
            </a:xfrm>
            <a:custGeom>
              <a:avLst/>
              <a:gdLst/>
              <a:ahLst/>
              <a:cxnLst/>
              <a:rect l="l" t="t" r="r" b="b"/>
              <a:pathLst>
                <a:path w="3467941" h="1712364">
                  <a:moveTo>
                    <a:pt x="26445" y="0"/>
                  </a:moveTo>
                  <a:lnTo>
                    <a:pt x="3441496" y="0"/>
                  </a:lnTo>
                  <a:cubicBezTo>
                    <a:pt x="3456101" y="0"/>
                    <a:pt x="3467941" y="11840"/>
                    <a:pt x="3467941" y="26445"/>
                  </a:cubicBezTo>
                  <a:lnTo>
                    <a:pt x="3467941" y="1685919"/>
                  </a:lnTo>
                  <a:cubicBezTo>
                    <a:pt x="3467941" y="1700524"/>
                    <a:pt x="3456101" y="1712364"/>
                    <a:pt x="3441496" y="1712364"/>
                  </a:cubicBezTo>
                  <a:lnTo>
                    <a:pt x="26445" y="1712364"/>
                  </a:lnTo>
                  <a:cubicBezTo>
                    <a:pt x="11840" y="1712364"/>
                    <a:pt x="0" y="1700524"/>
                    <a:pt x="0" y="1685919"/>
                  </a:cubicBezTo>
                  <a:lnTo>
                    <a:pt x="0" y="26445"/>
                  </a:lnTo>
                  <a:cubicBezTo>
                    <a:pt x="0" y="11840"/>
                    <a:pt x="11840" y="0"/>
                    <a:pt x="26445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467941" cy="175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1559" y="476726"/>
            <a:ext cx="16204883" cy="9333548"/>
            <a:chOff x="0" y="0"/>
            <a:chExt cx="3839266" cy="22113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39266" cy="2211307"/>
            </a:xfrm>
            <a:custGeom>
              <a:avLst/>
              <a:gdLst/>
              <a:ahLst/>
              <a:cxnLst/>
              <a:rect l="l" t="t" r="r" b="b"/>
              <a:pathLst>
                <a:path w="3839266" h="2211307">
                  <a:moveTo>
                    <a:pt x="23888" y="0"/>
                  </a:moveTo>
                  <a:lnTo>
                    <a:pt x="3815378" y="0"/>
                  </a:lnTo>
                  <a:cubicBezTo>
                    <a:pt x="3821714" y="0"/>
                    <a:pt x="3827789" y="2517"/>
                    <a:pt x="3832269" y="6997"/>
                  </a:cubicBezTo>
                  <a:cubicBezTo>
                    <a:pt x="3836749" y="11476"/>
                    <a:pt x="3839266" y="17552"/>
                    <a:pt x="3839266" y="23888"/>
                  </a:cubicBezTo>
                  <a:lnTo>
                    <a:pt x="3839266" y="2187419"/>
                  </a:lnTo>
                  <a:cubicBezTo>
                    <a:pt x="3839266" y="2193755"/>
                    <a:pt x="3836749" y="2199831"/>
                    <a:pt x="3832269" y="2204310"/>
                  </a:cubicBezTo>
                  <a:cubicBezTo>
                    <a:pt x="3827789" y="2208790"/>
                    <a:pt x="3821714" y="2211307"/>
                    <a:pt x="3815378" y="2211307"/>
                  </a:cubicBezTo>
                  <a:lnTo>
                    <a:pt x="23888" y="2211307"/>
                  </a:lnTo>
                  <a:cubicBezTo>
                    <a:pt x="17552" y="2211307"/>
                    <a:pt x="11476" y="2208790"/>
                    <a:pt x="6997" y="2204310"/>
                  </a:cubicBezTo>
                  <a:cubicBezTo>
                    <a:pt x="2517" y="2199831"/>
                    <a:pt x="0" y="2193755"/>
                    <a:pt x="0" y="2187419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839266" cy="2249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792911" y="963774"/>
            <a:ext cx="8991615" cy="8359452"/>
            <a:chOff x="0" y="0"/>
            <a:chExt cx="2368162" cy="22016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68162" cy="2201666"/>
            </a:xfrm>
            <a:custGeom>
              <a:avLst/>
              <a:gdLst/>
              <a:ahLst/>
              <a:cxnLst/>
              <a:rect l="l" t="t" r="r" b="b"/>
              <a:pathLst>
                <a:path w="2368162" h="2201666">
                  <a:moveTo>
                    <a:pt x="43051" y="0"/>
                  </a:moveTo>
                  <a:lnTo>
                    <a:pt x="2325111" y="0"/>
                  </a:lnTo>
                  <a:cubicBezTo>
                    <a:pt x="2336529" y="0"/>
                    <a:pt x="2347479" y="4536"/>
                    <a:pt x="2355553" y="12609"/>
                  </a:cubicBezTo>
                  <a:cubicBezTo>
                    <a:pt x="2363626" y="20683"/>
                    <a:pt x="2368162" y="31633"/>
                    <a:pt x="2368162" y="43051"/>
                  </a:cubicBezTo>
                  <a:lnTo>
                    <a:pt x="2368162" y="2158616"/>
                  </a:lnTo>
                  <a:cubicBezTo>
                    <a:pt x="2368162" y="2170033"/>
                    <a:pt x="2363626" y="2180984"/>
                    <a:pt x="2355553" y="2189057"/>
                  </a:cubicBezTo>
                  <a:cubicBezTo>
                    <a:pt x="2347479" y="2197131"/>
                    <a:pt x="2336529" y="2201666"/>
                    <a:pt x="2325111" y="2201666"/>
                  </a:cubicBezTo>
                  <a:lnTo>
                    <a:pt x="43051" y="2201666"/>
                  </a:lnTo>
                  <a:cubicBezTo>
                    <a:pt x="31633" y="2201666"/>
                    <a:pt x="20683" y="2197131"/>
                    <a:pt x="12609" y="2189057"/>
                  </a:cubicBezTo>
                  <a:cubicBezTo>
                    <a:pt x="4536" y="2180984"/>
                    <a:pt x="0" y="2170033"/>
                    <a:pt x="0" y="2158616"/>
                  </a:cubicBezTo>
                  <a:lnTo>
                    <a:pt x="0" y="43051"/>
                  </a:lnTo>
                  <a:cubicBezTo>
                    <a:pt x="0" y="31633"/>
                    <a:pt x="4536" y="20683"/>
                    <a:pt x="12609" y="12609"/>
                  </a:cubicBezTo>
                  <a:cubicBezTo>
                    <a:pt x="20683" y="4536"/>
                    <a:pt x="31633" y="0"/>
                    <a:pt x="43051" y="0"/>
                  </a:cubicBezTo>
                  <a:close/>
                </a:path>
              </a:pathLst>
            </a:custGeom>
            <a:solidFill>
              <a:srgbClr val="FEBE34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368162" cy="2239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29337" y="1028700"/>
            <a:ext cx="5841717" cy="8269906"/>
            <a:chOff x="0" y="0"/>
            <a:chExt cx="905035" cy="12812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5035" cy="1281225"/>
            </a:xfrm>
            <a:custGeom>
              <a:avLst/>
              <a:gdLst/>
              <a:ahLst/>
              <a:cxnLst/>
              <a:rect l="l" t="t" r="r" b="b"/>
              <a:pathLst>
                <a:path w="905035" h="1281225">
                  <a:moveTo>
                    <a:pt x="66264" y="0"/>
                  </a:moveTo>
                  <a:lnTo>
                    <a:pt x="838771" y="0"/>
                  </a:lnTo>
                  <a:cubicBezTo>
                    <a:pt x="856345" y="0"/>
                    <a:pt x="873200" y="6981"/>
                    <a:pt x="885626" y="19408"/>
                  </a:cubicBezTo>
                  <a:cubicBezTo>
                    <a:pt x="898053" y="31835"/>
                    <a:pt x="905035" y="48690"/>
                    <a:pt x="905035" y="66264"/>
                  </a:cubicBezTo>
                  <a:lnTo>
                    <a:pt x="905035" y="1214961"/>
                  </a:lnTo>
                  <a:cubicBezTo>
                    <a:pt x="905035" y="1232535"/>
                    <a:pt x="898053" y="1249390"/>
                    <a:pt x="885626" y="1261817"/>
                  </a:cubicBezTo>
                  <a:cubicBezTo>
                    <a:pt x="873200" y="1274244"/>
                    <a:pt x="856345" y="1281225"/>
                    <a:pt x="838771" y="1281225"/>
                  </a:cubicBezTo>
                  <a:lnTo>
                    <a:pt x="66264" y="1281225"/>
                  </a:lnTo>
                  <a:cubicBezTo>
                    <a:pt x="48690" y="1281225"/>
                    <a:pt x="31835" y="1274244"/>
                    <a:pt x="19408" y="1261817"/>
                  </a:cubicBezTo>
                  <a:cubicBezTo>
                    <a:pt x="6981" y="1249390"/>
                    <a:pt x="0" y="1232535"/>
                    <a:pt x="0" y="1214961"/>
                  </a:cubicBezTo>
                  <a:lnTo>
                    <a:pt x="0" y="66264"/>
                  </a:lnTo>
                  <a:cubicBezTo>
                    <a:pt x="0" y="48690"/>
                    <a:pt x="6981" y="31835"/>
                    <a:pt x="19408" y="19408"/>
                  </a:cubicBezTo>
                  <a:cubicBezTo>
                    <a:pt x="31835" y="6981"/>
                    <a:pt x="48690" y="0"/>
                    <a:pt x="66264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05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272211" y="2554970"/>
            <a:ext cx="7191673" cy="265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9"/>
              </a:lnSpc>
            </a:pPr>
            <a:r>
              <a:rPr lang="en-US" sz="7299" b="1">
                <a:solidFill>
                  <a:srgbClr val="000000"/>
                </a:solidFill>
                <a:latin typeface="Biski Semi-Bold"/>
                <a:ea typeface="Biski Semi-Bold"/>
                <a:cs typeface="Biski Semi-Bold"/>
                <a:sym typeface="Biski Semi-Bold"/>
              </a:rPr>
              <a:t>ภาวะเมตาบอลิก</a:t>
            </a:r>
          </a:p>
          <a:p>
            <a:pPr algn="l">
              <a:lnSpc>
                <a:spcPts val="8029"/>
              </a:lnSpc>
            </a:pPr>
            <a:r>
              <a:rPr lang="en-US" sz="7299" b="1">
                <a:solidFill>
                  <a:srgbClr val="000000"/>
                </a:solidFill>
                <a:latin typeface="Biski Semi-Bold"/>
                <a:ea typeface="Biski Semi-Bold"/>
                <a:cs typeface="Biski Semi-Bold"/>
                <a:sym typeface="Biski Semi-Bold"/>
              </a:rPr>
              <a:t>ซินโดรมคืออะไร 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2211" y="5627005"/>
            <a:ext cx="8033016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ภาวะที่เกิดจากการเผาผลาญของร่างกายที่ผิดปกติ เป็นต้นตอที่ก่อเกิดปัญหาโรคอ้วน ความดันโลหิตสูง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ไขมันในเลือดสูง โรคเบาหวาน โรคหัวใจและหลอดเลือด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450686" y="1028700"/>
            <a:ext cx="5920367" cy="8269906"/>
            <a:chOff x="0" y="0"/>
            <a:chExt cx="1402655" cy="195930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02655" cy="1959309"/>
            </a:xfrm>
            <a:custGeom>
              <a:avLst/>
              <a:gdLst/>
              <a:ahLst/>
              <a:cxnLst/>
              <a:rect l="l" t="t" r="r" b="b"/>
              <a:pathLst>
                <a:path w="1402655" h="1959309">
                  <a:moveTo>
                    <a:pt x="65384" y="0"/>
                  </a:moveTo>
                  <a:lnTo>
                    <a:pt x="1337271" y="0"/>
                  </a:lnTo>
                  <a:cubicBezTo>
                    <a:pt x="1373382" y="0"/>
                    <a:pt x="1402655" y="29273"/>
                    <a:pt x="1402655" y="65384"/>
                  </a:cubicBezTo>
                  <a:lnTo>
                    <a:pt x="1402655" y="1893925"/>
                  </a:lnTo>
                  <a:cubicBezTo>
                    <a:pt x="1402655" y="1930035"/>
                    <a:pt x="1373382" y="1959309"/>
                    <a:pt x="1337271" y="1959309"/>
                  </a:cubicBezTo>
                  <a:lnTo>
                    <a:pt x="65384" y="1959309"/>
                  </a:lnTo>
                  <a:cubicBezTo>
                    <a:pt x="29273" y="1959309"/>
                    <a:pt x="0" y="1930035"/>
                    <a:pt x="0" y="1893925"/>
                  </a:cubicBezTo>
                  <a:lnTo>
                    <a:pt x="0" y="65384"/>
                  </a:lnTo>
                  <a:cubicBezTo>
                    <a:pt x="0" y="29273"/>
                    <a:pt x="29273" y="0"/>
                    <a:pt x="653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402655" cy="1997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429901" y="2292462"/>
            <a:ext cx="15445411" cy="7341144"/>
            <a:chOff x="0" y="0"/>
            <a:chExt cx="3615430" cy="1718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1718400"/>
            </a:xfrm>
            <a:custGeom>
              <a:avLst/>
              <a:gdLst/>
              <a:ahLst/>
              <a:cxnLst/>
              <a:rect l="l" t="t" r="r" b="b"/>
              <a:pathLst>
                <a:path w="3615430" h="1718400">
                  <a:moveTo>
                    <a:pt x="25062" y="0"/>
                  </a:moveTo>
                  <a:lnTo>
                    <a:pt x="3590368" y="0"/>
                  </a:lnTo>
                  <a:cubicBezTo>
                    <a:pt x="3597015" y="0"/>
                    <a:pt x="3603389" y="2640"/>
                    <a:pt x="3608089" y="7341"/>
                  </a:cubicBezTo>
                  <a:cubicBezTo>
                    <a:pt x="3612790" y="12041"/>
                    <a:pt x="3615430" y="18415"/>
                    <a:pt x="3615430" y="25062"/>
                  </a:cubicBezTo>
                  <a:lnTo>
                    <a:pt x="3615430" y="1693338"/>
                  </a:lnTo>
                  <a:cubicBezTo>
                    <a:pt x="3615430" y="1699985"/>
                    <a:pt x="3612790" y="1706359"/>
                    <a:pt x="3608089" y="1711060"/>
                  </a:cubicBezTo>
                  <a:cubicBezTo>
                    <a:pt x="3603389" y="1715759"/>
                    <a:pt x="3597015" y="1718400"/>
                    <a:pt x="3590368" y="1718400"/>
                  </a:cubicBezTo>
                  <a:lnTo>
                    <a:pt x="25062" y="1718400"/>
                  </a:lnTo>
                  <a:cubicBezTo>
                    <a:pt x="18415" y="1718400"/>
                    <a:pt x="12041" y="1715759"/>
                    <a:pt x="7341" y="1711060"/>
                  </a:cubicBezTo>
                  <a:cubicBezTo>
                    <a:pt x="2640" y="1706359"/>
                    <a:pt x="0" y="1699985"/>
                    <a:pt x="0" y="1693338"/>
                  </a:cubicBezTo>
                  <a:lnTo>
                    <a:pt x="0" y="25062"/>
                  </a:lnTo>
                  <a:cubicBezTo>
                    <a:pt x="0" y="18415"/>
                    <a:pt x="2640" y="12041"/>
                    <a:pt x="7341" y="7341"/>
                  </a:cubicBezTo>
                  <a:cubicBezTo>
                    <a:pt x="12041" y="2640"/>
                    <a:pt x="18415" y="0"/>
                    <a:pt x="25062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175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89807" y="1259189"/>
            <a:ext cx="14708386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3972F0"/>
                </a:solidFill>
                <a:latin typeface="Biski Bold"/>
                <a:ea typeface="Biski Bold"/>
                <a:cs typeface="Biski Bold"/>
                <a:sym typeface="Biski Bold"/>
              </a:rPr>
              <a:t>สาเหตุสำคัญ</a:t>
            </a:r>
            <a:r>
              <a:rPr lang="en-US" sz="5000" b="1">
                <a:solidFill>
                  <a:srgbClr val="2C374D"/>
                </a:solidFill>
                <a:latin typeface="Biski Bold"/>
                <a:ea typeface="Biski Bold"/>
                <a:cs typeface="Biski Bold"/>
                <a:sym typeface="Biski Bold"/>
              </a:rPr>
              <a:t>ที่เป็นเหตุให้เกิดภาวะเมตาบอลิกซินโดรม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29901" y="2843431"/>
            <a:ext cx="2857500" cy="6239206"/>
            <a:chOff x="0" y="0"/>
            <a:chExt cx="752593" cy="16432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2593" cy="1643248"/>
            </a:xfrm>
            <a:custGeom>
              <a:avLst/>
              <a:gdLst/>
              <a:ahLst/>
              <a:cxnLst/>
              <a:rect l="l" t="t" r="r" b="b"/>
              <a:pathLst>
                <a:path w="752593" h="1643248">
                  <a:moveTo>
                    <a:pt x="135467" y="0"/>
                  </a:moveTo>
                  <a:lnTo>
                    <a:pt x="617126" y="0"/>
                  </a:lnTo>
                  <a:cubicBezTo>
                    <a:pt x="691942" y="0"/>
                    <a:pt x="752593" y="60650"/>
                    <a:pt x="752593" y="135467"/>
                  </a:cubicBezTo>
                  <a:lnTo>
                    <a:pt x="752593" y="1507781"/>
                  </a:lnTo>
                  <a:cubicBezTo>
                    <a:pt x="752593" y="1582597"/>
                    <a:pt x="691942" y="1643248"/>
                    <a:pt x="617126" y="1643248"/>
                  </a:cubicBezTo>
                  <a:lnTo>
                    <a:pt x="135467" y="1643248"/>
                  </a:lnTo>
                  <a:cubicBezTo>
                    <a:pt x="60650" y="1643248"/>
                    <a:pt x="0" y="1582597"/>
                    <a:pt x="0" y="1507781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FEBE34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52593" cy="168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898900" y="2843431"/>
            <a:ext cx="2857500" cy="6239206"/>
            <a:chOff x="0" y="0"/>
            <a:chExt cx="752593" cy="16432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52593" cy="1643248"/>
            </a:xfrm>
            <a:custGeom>
              <a:avLst/>
              <a:gdLst/>
              <a:ahLst/>
              <a:cxnLst/>
              <a:rect l="l" t="t" r="r" b="b"/>
              <a:pathLst>
                <a:path w="752593" h="1643248">
                  <a:moveTo>
                    <a:pt x="135467" y="0"/>
                  </a:moveTo>
                  <a:lnTo>
                    <a:pt x="617126" y="0"/>
                  </a:lnTo>
                  <a:cubicBezTo>
                    <a:pt x="691942" y="0"/>
                    <a:pt x="752593" y="60650"/>
                    <a:pt x="752593" y="135467"/>
                  </a:cubicBezTo>
                  <a:lnTo>
                    <a:pt x="752593" y="1507781"/>
                  </a:lnTo>
                  <a:cubicBezTo>
                    <a:pt x="752593" y="1582597"/>
                    <a:pt x="691942" y="1643248"/>
                    <a:pt x="617126" y="1643248"/>
                  </a:cubicBezTo>
                  <a:lnTo>
                    <a:pt x="135467" y="1643248"/>
                  </a:lnTo>
                  <a:cubicBezTo>
                    <a:pt x="60650" y="1643248"/>
                    <a:pt x="0" y="1582597"/>
                    <a:pt x="0" y="1507781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FEBE34"/>
            </a:solidFill>
            <a:ln cap="rnd">
              <a:noFill/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52593" cy="168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47151" y="2843431"/>
            <a:ext cx="2857500" cy="6239206"/>
            <a:chOff x="0" y="0"/>
            <a:chExt cx="752593" cy="1643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52593" cy="1643248"/>
            </a:xfrm>
            <a:custGeom>
              <a:avLst/>
              <a:gdLst/>
              <a:ahLst/>
              <a:cxnLst/>
              <a:rect l="l" t="t" r="r" b="b"/>
              <a:pathLst>
                <a:path w="752593" h="1643248">
                  <a:moveTo>
                    <a:pt x="135467" y="0"/>
                  </a:moveTo>
                  <a:lnTo>
                    <a:pt x="617126" y="0"/>
                  </a:lnTo>
                  <a:cubicBezTo>
                    <a:pt x="691942" y="0"/>
                    <a:pt x="752593" y="60650"/>
                    <a:pt x="752593" y="135467"/>
                  </a:cubicBezTo>
                  <a:lnTo>
                    <a:pt x="752593" y="1507781"/>
                  </a:lnTo>
                  <a:cubicBezTo>
                    <a:pt x="752593" y="1582597"/>
                    <a:pt x="691942" y="1643248"/>
                    <a:pt x="617126" y="1643248"/>
                  </a:cubicBezTo>
                  <a:lnTo>
                    <a:pt x="135467" y="1643248"/>
                  </a:lnTo>
                  <a:cubicBezTo>
                    <a:pt x="60650" y="1643248"/>
                    <a:pt x="0" y="1582597"/>
                    <a:pt x="0" y="1507781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49B8E7"/>
            </a:solidFill>
            <a:ln cap="rnd">
              <a:noFill/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52593" cy="168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64400" y="2843431"/>
            <a:ext cx="2857500" cy="6239206"/>
            <a:chOff x="0" y="0"/>
            <a:chExt cx="752593" cy="1643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2593" cy="1643248"/>
            </a:xfrm>
            <a:custGeom>
              <a:avLst/>
              <a:gdLst/>
              <a:ahLst/>
              <a:cxnLst/>
              <a:rect l="l" t="t" r="r" b="b"/>
              <a:pathLst>
                <a:path w="752593" h="1643248">
                  <a:moveTo>
                    <a:pt x="135467" y="0"/>
                  </a:moveTo>
                  <a:lnTo>
                    <a:pt x="617126" y="0"/>
                  </a:lnTo>
                  <a:cubicBezTo>
                    <a:pt x="691942" y="0"/>
                    <a:pt x="752593" y="60650"/>
                    <a:pt x="752593" y="135467"/>
                  </a:cubicBezTo>
                  <a:lnTo>
                    <a:pt x="752593" y="1507781"/>
                  </a:lnTo>
                  <a:cubicBezTo>
                    <a:pt x="752593" y="1582597"/>
                    <a:pt x="691942" y="1643248"/>
                    <a:pt x="617126" y="1643248"/>
                  </a:cubicBezTo>
                  <a:lnTo>
                    <a:pt x="135467" y="1643248"/>
                  </a:lnTo>
                  <a:cubicBezTo>
                    <a:pt x="60650" y="1643248"/>
                    <a:pt x="0" y="1582597"/>
                    <a:pt x="0" y="1507781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FEBE34"/>
            </a:solidFill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52593" cy="168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781650" y="2843431"/>
            <a:ext cx="2857500" cy="6239206"/>
            <a:chOff x="0" y="0"/>
            <a:chExt cx="752593" cy="16432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52593" cy="1643248"/>
            </a:xfrm>
            <a:custGeom>
              <a:avLst/>
              <a:gdLst/>
              <a:ahLst/>
              <a:cxnLst/>
              <a:rect l="l" t="t" r="r" b="b"/>
              <a:pathLst>
                <a:path w="752593" h="1643248">
                  <a:moveTo>
                    <a:pt x="135467" y="0"/>
                  </a:moveTo>
                  <a:lnTo>
                    <a:pt x="617126" y="0"/>
                  </a:lnTo>
                  <a:cubicBezTo>
                    <a:pt x="691942" y="0"/>
                    <a:pt x="752593" y="60650"/>
                    <a:pt x="752593" y="135467"/>
                  </a:cubicBezTo>
                  <a:lnTo>
                    <a:pt x="752593" y="1507781"/>
                  </a:lnTo>
                  <a:cubicBezTo>
                    <a:pt x="752593" y="1582597"/>
                    <a:pt x="691942" y="1643248"/>
                    <a:pt x="617126" y="1643248"/>
                  </a:cubicBezTo>
                  <a:lnTo>
                    <a:pt x="135467" y="1643248"/>
                  </a:lnTo>
                  <a:cubicBezTo>
                    <a:pt x="60650" y="1643248"/>
                    <a:pt x="0" y="1582597"/>
                    <a:pt x="0" y="1507781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49B8E7"/>
            </a:solidFill>
            <a:ln cap="rnd">
              <a:noFill/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52593" cy="168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628964" y="7106182"/>
            <a:ext cx="2459375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52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การทานอาหารที่ไม่เหมาะสม</a:t>
            </a:r>
          </a:p>
        </p:txBody>
      </p:sp>
      <p:sp>
        <p:nvSpPr>
          <p:cNvPr id="39" name="Freeform 39"/>
          <p:cNvSpPr/>
          <p:nvPr/>
        </p:nvSpPr>
        <p:spPr>
          <a:xfrm>
            <a:off x="2001401" y="3826418"/>
            <a:ext cx="1714500" cy="1789326"/>
          </a:xfrm>
          <a:custGeom>
            <a:avLst/>
            <a:gdLst/>
            <a:ahLst/>
            <a:cxnLst/>
            <a:rect l="l" t="t" r="r" b="b"/>
            <a:pathLst>
              <a:path w="1714500" h="1789326">
                <a:moveTo>
                  <a:pt x="0" y="0"/>
                </a:moveTo>
                <a:lnTo>
                  <a:pt x="1714500" y="0"/>
                </a:lnTo>
                <a:lnTo>
                  <a:pt x="1714500" y="1789326"/>
                </a:lnTo>
                <a:lnTo>
                  <a:pt x="0" y="1789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4746213" y="6877582"/>
            <a:ext cx="2459375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52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การพักผ่อน               และการนอนหลับที่ไม่เพียงพอ</a:t>
            </a:r>
          </a:p>
        </p:txBody>
      </p:sp>
      <p:sp>
        <p:nvSpPr>
          <p:cNvPr id="41" name="Freeform 41"/>
          <p:cNvSpPr/>
          <p:nvPr/>
        </p:nvSpPr>
        <p:spPr>
          <a:xfrm>
            <a:off x="5118651" y="4264693"/>
            <a:ext cx="1714500" cy="1329219"/>
          </a:xfrm>
          <a:custGeom>
            <a:avLst/>
            <a:gdLst/>
            <a:ahLst/>
            <a:cxnLst/>
            <a:rect l="l" t="t" r="r" b="b"/>
            <a:pathLst>
              <a:path w="1714500" h="1329219">
                <a:moveTo>
                  <a:pt x="0" y="0"/>
                </a:moveTo>
                <a:lnTo>
                  <a:pt x="1714500" y="0"/>
                </a:lnTo>
                <a:lnTo>
                  <a:pt x="1714500" y="1329219"/>
                </a:lnTo>
                <a:lnTo>
                  <a:pt x="0" y="1329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8050026" y="7106182"/>
            <a:ext cx="2205160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52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การขาดการออกกำลังกาย</a:t>
            </a:r>
          </a:p>
        </p:txBody>
      </p:sp>
      <p:sp>
        <p:nvSpPr>
          <p:cNvPr id="43" name="Freeform 43"/>
          <p:cNvSpPr/>
          <p:nvPr/>
        </p:nvSpPr>
        <p:spPr>
          <a:xfrm>
            <a:off x="8235900" y="3875938"/>
            <a:ext cx="1714500" cy="1739806"/>
          </a:xfrm>
          <a:custGeom>
            <a:avLst/>
            <a:gdLst/>
            <a:ahLst/>
            <a:cxnLst/>
            <a:rect l="l" t="t" r="r" b="b"/>
            <a:pathLst>
              <a:path w="1714500" h="1739806">
                <a:moveTo>
                  <a:pt x="0" y="0"/>
                </a:moveTo>
                <a:lnTo>
                  <a:pt x="1714500" y="0"/>
                </a:lnTo>
                <a:lnTo>
                  <a:pt x="1714500" y="1739806"/>
                </a:lnTo>
                <a:lnTo>
                  <a:pt x="0" y="17398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0980713" y="7106182"/>
            <a:ext cx="2459375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52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การดื่มเครื่องดื่มที่มีแอลกอฮอล์ </a:t>
            </a:r>
          </a:p>
        </p:txBody>
      </p:sp>
      <p:sp>
        <p:nvSpPr>
          <p:cNvPr id="45" name="Freeform 45"/>
          <p:cNvSpPr/>
          <p:nvPr/>
        </p:nvSpPr>
        <p:spPr>
          <a:xfrm>
            <a:off x="11353150" y="4278423"/>
            <a:ext cx="1714500" cy="1315489"/>
          </a:xfrm>
          <a:custGeom>
            <a:avLst/>
            <a:gdLst/>
            <a:ahLst/>
            <a:cxnLst/>
            <a:rect l="l" t="t" r="r" b="b"/>
            <a:pathLst>
              <a:path w="1714500" h="1315489">
                <a:moveTo>
                  <a:pt x="0" y="0"/>
                </a:moveTo>
                <a:lnTo>
                  <a:pt x="1714500" y="0"/>
                </a:lnTo>
                <a:lnTo>
                  <a:pt x="1714500" y="1315489"/>
                </a:lnTo>
                <a:lnTo>
                  <a:pt x="0" y="13154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4097962" y="7334782"/>
            <a:ext cx="2459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52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การสูบบุหรี่</a:t>
            </a:r>
          </a:p>
        </p:txBody>
      </p:sp>
      <p:sp>
        <p:nvSpPr>
          <p:cNvPr id="47" name="Freeform 47"/>
          <p:cNvSpPr/>
          <p:nvPr/>
        </p:nvSpPr>
        <p:spPr>
          <a:xfrm>
            <a:off x="14470400" y="4328300"/>
            <a:ext cx="1714500" cy="1265613"/>
          </a:xfrm>
          <a:custGeom>
            <a:avLst/>
            <a:gdLst/>
            <a:ahLst/>
            <a:cxnLst/>
            <a:rect l="l" t="t" r="r" b="b"/>
            <a:pathLst>
              <a:path w="1714500" h="1265613">
                <a:moveTo>
                  <a:pt x="0" y="0"/>
                </a:moveTo>
                <a:lnTo>
                  <a:pt x="1714500" y="0"/>
                </a:lnTo>
                <a:lnTo>
                  <a:pt x="1714500" y="1265612"/>
                </a:lnTo>
                <a:lnTo>
                  <a:pt x="0" y="12656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996486" y="-185062"/>
            <a:ext cx="9284998" cy="7136033"/>
          </a:xfrm>
          <a:custGeom>
            <a:avLst/>
            <a:gdLst/>
            <a:ahLst/>
            <a:cxnLst/>
            <a:rect l="l" t="t" r="r" b="b"/>
            <a:pathLst>
              <a:path w="9284998" h="7136033">
                <a:moveTo>
                  <a:pt x="0" y="7136033"/>
                </a:moveTo>
                <a:lnTo>
                  <a:pt x="9284998" y="7136033"/>
                </a:lnTo>
                <a:lnTo>
                  <a:pt x="9284998" y="0"/>
                </a:lnTo>
                <a:lnTo>
                  <a:pt x="0" y="0"/>
                </a:lnTo>
                <a:lnTo>
                  <a:pt x="0" y="7136033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057157" y="1777105"/>
            <a:ext cx="14637585" cy="7227594"/>
            <a:chOff x="0" y="0"/>
            <a:chExt cx="3467941" cy="17123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67941" cy="1712364"/>
            </a:xfrm>
            <a:custGeom>
              <a:avLst/>
              <a:gdLst/>
              <a:ahLst/>
              <a:cxnLst/>
              <a:rect l="l" t="t" r="r" b="b"/>
              <a:pathLst>
                <a:path w="3467941" h="1712364">
                  <a:moveTo>
                    <a:pt x="26445" y="0"/>
                  </a:moveTo>
                  <a:lnTo>
                    <a:pt x="3441496" y="0"/>
                  </a:lnTo>
                  <a:cubicBezTo>
                    <a:pt x="3456101" y="0"/>
                    <a:pt x="3467941" y="11840"/>
                    <a:pt x="3467941" y="26445"/>
                  </a:cubicBezTo>
                  <a:lnTo>
                    <a:pt x="3467941" y="1685919"/>
                  </a:lnTo>
                  <a:cubicBezTo>
                    <a:pt x="3467941" y="1700524"/>
                    <a:pt x="3456101" y="1712364"/>
                    <a:pt x="3441496" y="1712364"/>
                  </a:cubicBezTo>
                  <a:lnTo>
                    <a:pt x="26445" y="1712364"/>
                  </a:lnTo>
                  <a:cubicBezTo>
                    <a:pt x="11840" y="1712364"/>
                    <a:pt x="0" y="1700524"/>
                    <a:pt x="0" y="1685919"/>
                  </a:cubicBezTo>
                  <a:lnTo>
                    <a:pt x="0" y="26445"/>
                  </a:lnTo>
                  <a:cubicBezTo>
                    <a:pt x="0" y="11840"/>
                    <a:pt x="11840" y="0"/>
                    <a:pt x="26445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67941" cy="175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724128"/>
            <a:ext cx="16204883" cy="9333548"/>
            <a:chOff x="0" y="0"/>
            <a:chExt cx="3839266" cy="22113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39266" cy="2211307"/>
            </a:xfrm>
            <a:custGeom>
              <a:avLst/>
              <a:gdLst/>
              <a:ahLst/>
              <a:cxnLst/>
              <a:rect l="l" t="t" r="r" b="b"/>
              <a:pathLst>
                <a:path w="3839266" h="2211307">
                  <a:moveTo>
                    <a:pt x="23888" y="0"/>
                  </a:moveTo>
                  <a:lnTo>
                    <a:pt x="3815378" y="0"/>
                  </a:lnTo>
                  <a:cubicBezTo>
                    <a:pt x="3821714" y="0"/>
                    <a:pt x="3827789" y="2517"/>
                    <a:pt x="3832269" y="6997"/>
                  </a:cubicBezTo>
                  <a:cubicBezTo>
                    <a:pt x="3836749" y="11476"/>
                    <a:pt x="3839266" y="17552"/>
                    <a:pt x="3839266" y="23888"/>
                  </a:cubicBezTo>
                  <a:lnTo>
                    <a:pt x="3839266" y="2187419"/>
                  </a:lnTo>
                  <a:cubicBezTo>
                    <a:pt x="3839266" y="2193755"/>
                    <a:pt x="3836749" y="2199831"/>
                    <a:pt x="3832269" y="2204310"/>
                  </a:cubicBezTo>
                  <a:cubicBezTo>
                    <a:pt x="3827789" y="2208790"/>
                    <a:pt x="3821714" y="2211307"/>
                    <a:pt x="3815378" y="2211307"/>
                  </a:cubicBezTo>
                  <a:lnTo>
                    <a:pt x="23888" y="2211307"/>
                  </a:lnTo>
                  <a:cubicBezTo>
                    <a:pt x="17552" y="2211307"/>
                    <a:pt x="11476" y="2208790"/>
                    <a:pt x="6997" y="2204310"/>
                  </a:cubicBezTo>
                  <a:cubicBezTo>
                    <a:pt x="2517" y="2199831"/>
                    <a:pt x="0" y="2193755"/>
                    <a:pt x="0" y="2187419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839266" cy="2249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49654" y="1211176"/>
            <a:ext cx="8462569" cy="8359452"/>
            <a:chOff x="0" y="0"/>
            <a:chExt cx="2228825" cy="22016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28825" cy="2201666"/>
            </a:xfrm>
            <a:custGeom>
              <a:avLst/>
              <a:gdLst/>
              <a:ahLst/>
              <a:cxnLst/>
              <a:rect l="l" t="t" r="r" b="b"/>
              <a:pathLst>
                <a:path w="2228825" h="2201666">
                  <a:moveTo>
                    <a:pt x="45742" y="0"/>
                  </a:moveTo>
                  <a:lnTo>
                    <a:pt x="2183083" y="0"/>
                  </a:lnTo>
                  <a:cubicBezTo>
                    <a:pt x="2195214" y="0"/>
                    <a:pt x="2206849" y="4819"/>
                    <a:pt x="2215427" y="13398"/>
                  </a:cubicBezTo>
                  <a:cubicBezTo>
                    <a:pt x="2224006" y="21976"/>
                    <a:pt x="2228825" y="33611"/>
                    <a:pt x="2228825" y="45742"/>
                  </a:cubicBezTo>
                  <a:lnTo>
                    <a:pt x="2228825" y="2155924"/>
                  </a:lnTo>
                  <a:cubicBezTo>
                    <a:pt x="2228825" y="2168056"/>
                    <a:pt x="2224006" y="2179691"/>
                    <a:pt x="2215427" y="2188269"/>
                  </a:cubicBezTo>
                  <a:cubicBezTo>
                    <a:pt x="2206849" y="2196847"/>
                    <a:pt x="2195214" y="2201666"/>
                    <a:pt x="2183083" y="2201666"/>
                  </a:cubicBezTo>
                  <a:lnTo>
                    <a:pt x="45742" y="2201666"/>
                  </a:lnTo>
                  <a:cubicBezTo>
                    <a:pt x="20479" y="2201666"/>
                    <a:pt x="0" y="2181187"/>
                    <a:pt x="0" y="2155924"/>
                  </a:cubicBezTo>
                  <a:lnTo>
                    <a:pt x="0" y="45742"/>
                  </a:lnTo>
                  <a:cubicBezTo>
                    <a:pt x="0" y="20479"/>
                    <a:pt x="20479" y="0"/>
                    <a:pt x="45742" y="0"/>
                  </a:cubicBezTo>
                  <a:close/>
                </a:path>
              </a:pathLst>
            </a:custGeom>
            <a:solidFill>
              <a:srgbClr val="D6EEFE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28825" cy="2239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398827" y="2303206"/>
            <a:ext cx="9154877" cy="214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“คลื่นเล็ก ๆ ที่นำมาสู่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 การเปลี่ยนแปลงที่ยิ่งใหญ่”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29808" y="4622195"/>
            <a:ext cx="8323897" cy="235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78"/>
              </a:lnSpc>
            </a:pPr>
            <a:r>
              <a:rPr lang="en-US" sz="2699">
                <a:solidFill>
                  <a:srgbClr val="000000"/>
                </a:solidFill>
                <a:latin typeface="Gliker"/>
                <a:ea typeface="Gliker"/>
                <a:cs typeface="Gliker"/>
                <a:sym typeface="Gliker"/>
              </a:rPr>
              <a:t>การปรับเปลี่ยนพฤติกรรมเล็ก ๆ น้อย ๆ ในแต่ละวัน </a:t>
            </a:r>
          </a:p>
          <a:p>
            <a:pPr algn="just">
              <a:lnSpc>
                <a:spcPts val="4778"/>
              </a:lnSpc>
            </a:pPr>
            <a:r>
              <a:rPr lang="en-US" sz="2699">
                <a:solidFill>
                  <a:srgbClr val="000000"/>
                </a:solidFill>
                <a:latin typeface="Gliker"/>
                <a:ea typeface="Gliker"/>
                <a:cs typeface="Gliker"/>
                <a:sym typeface="Gliker"/>
              </a:rPr>
              <a:t>มีความสำคัญต่อผลการเปลี่ยนแปลงพฤติกรรมที่ยิ่งใหญ่ </a:t>
            </a:r>
          </a:p>
          <a:p>
            <a:pPr algn="just">
              <a:lnSpc>
                <a:spcPts val="4778"/>
              </a:lnSpc>
            </a:pPr>
            <a:r>
              <a:rPr lang="en-US" sz="2699">
                <a:solidFill>
                  <a:srgbClr val="000000"/>
                </a:solidFill>
                <a:latin typeface="Gliker"/>
                <a:ea typeface="Gliker"/>
                <a:cs typeface="Gliker"/>
                <a:sym typeface="Gliker"/>
              </a:rPr>
              <a:t>และสามารถสร้างนิสัยที่ดีในอนาคต ไม่ต่างจาก</a:t>
            </a:r>
          </a:p>
          <a:p>
            <a:pPr algn="just">
              <a:lnSpc>
                <a:spcPts val="4778"/>
              </a:lnSpc>
            </a:pPr>
            <a:r>
              <a:rPr lang="en-US" sz="2699" b="1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คลื่นทะเลที่เข้ามากัดเซาะชายหาด </a:t>
            </a:r>
          </a:p>
        </p:txBody>
      </p:sp>
      <p:sp>
        <p:nvSpPr>
          <p:cNvPr id="23" name="Freeform 23"/>
          <p:cNvSpPr/>
          <p:nvPr/>
        </p:nvSpPr>
        <p:spPr>
          <a:xfrm flipH="1">
            <a:off x="9678074" y="3630356"/>
            <a:ext cx="9284998" cy="7136033"/>
          </a:xfrm>
          <a:custGeom>
            <a:avLst/>
            <a:gdLst/>
            <a:ahLst/>
            <a:cxnLst/>
            <a:rect l="l" t="t" r="r" b="b"/>
            <a:pathLst>
              <a:path w="9284998" h="7136033">
                <a:moveTo>
                  <a:pt x="9284998" y="0"/>
                </a:moveTo>
                <a:lnTo>
                  <a:pt x="0" y="0"/>
                </a:lnTo>
                <a:lnTo>
                  <a:pt x="0" y="7136033"/>
                </a:lnTo>
                <a:lnTo>
                  <a:pt x="9284998" y="7136033"/>
                </a:lnTo>
                <a:lnTo>
                  <a:pt x="9284998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01501" y="2926468"/>
            <a:ext cx="4928869" cy="4928869"/>
          </a:xfrm>
          <a:custGeom>
            <a:avLst/>
            <a:gdLst/>
            <a:ahLst/>
            <a:cxnLst/>
            <a:rect l="l" t="t" r="r" b="b"/>
            <a:pathLst>
              <a:path w="4928869" h="4928869">
                <a:moveTo>
                  <a:pt x="0" y="0"/>
                </a:moveTo>
                <a:lnTo>
                  <a:pt x="4928869" y="0"/>
                </a:lnTo>
                <a:lnTo>
                  <a:pt x="4928869" y="4928868"/>
                </a:lnTo>
                <a:lnTo>
                  <a:pt x="0" y="49288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057157" y="1777105"/>
            <a:ext cx="14637585" cy="7227594"/>
            <a:chOff x="0" y="0"/>
            <a:chExt cx="3467941" cy="17123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67941" cy="1712364"/>
            </a:xfrm>
            <a:custGeom>
              <a:avLst/>
              <a:gdLst/>
              <a:ahLst/>
              <a:cxnLst/>
              <a:rect l="l" t="t" r="r" b="b"/>
              <a:pathLst>
                <a:path w="3467941" h="1712364">
                  <a:moveTo>
                    <a:pt x="26445" y="0"/>
                  </a:moveTo>
                  <a:lnTo>
                    <a:pt x="3441496" y="0"/>
                  </a:lnTo>
                  <a:cubicBezTo>
                    <a:pt x="3456101" y="0"/>
                    <a:pt x="3467941" y="11840"/>
                    <a:pt x="3467941" y="26445"/>
                  </a:cubicBezTo>
                  <a:lnTo>
                    <a:pt x="3467941" y="1685919"/>
                  </a:lnTo>
                  <a:cubicBezTo>
                    <a:pt x="3467941" y="1700524"/>
                    <a:pt x="3456101" y="1712364"/>
                    <a:pt x="3441496" y="1712364"/>
                  </a:cubicBezTo>
                  <a:lnTo>
                    <a:pt x="26445" y="1712364"/>
                  </a:lnTo>
                  <a:cubicBezTo>
                    <a:pt x="11840" y="1712364"/>
                    <a:pt x="0" y="1700524"/>
                    <a:pt x="0" y="1685919"/>
                  </a:cubicBezTo>
                  <a:lnTo>
                    <a:pt x="0" y="26445"/>
                  </a:lnTo>
                  <a:cubicBezTo>
                    <a:pt x="0" y="11840"/>
                    <a:pt x="11840" y="0"/>
                    <a:pt x="26445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467941" cy="175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1559" y="476726"/>
            <a:ext cx="16204883" cy="9333548"/>
            <a:chOff x="0" y="0"/>
            <a:chExt cx="3839266" cy="22113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39266" cy="2211307"/>
            </a:xfrm>
            <a:custGeom>
              <a:avLst/>
              <a:gdLst/>
              <a:ahLst/>
              <a:cxnLst/>
              <a:rect l="l" t="t" r="r" b="b"/>
              <a:pathLst>
                <a:path w="3839266" h="2211307">
                  <a:moveTo>
                    <a:pt x="23888" y="0"/>
                  </a:moveTo>
                  <a:lnTo>
                    <a:pt x="3815378" y="0"/>
                  </a:lnTo>
                  <a:cubicBezTo>
                    <a:pt x="3821714" y="0"/>
                    <a:pt x="3827789" y="2517"/>
                    <a:pt x="3832269" y="6997"/>
                  </a:cubicBezTo>
                  <a:cubicBezTo>
                    <a:pt x="3836749" y="11476"/>
                    <a:pt x="3839266" y="17552"/>
                    <a:pt x="3839266" y="23888"/>
                  </a:cubicBezTo>
                  <a:lnTo>
                    <a:pt x="3839266" y="2187419"/>
                  </a:lnTo>
                  <a:cubicBezTo>
                    <a:pt x="3839266" y="2193755"/>
                    <a:pt x="3836749" y="2199831"/>
                    <a:pt x="3832269" y="2204310"/>
                  </a:cubicBezTo>
                  <a:cubicBezTo>
                    <a:pt x="3827789" y="2208790"/>
                    <a:pt x="3821714" y="2211307"/>
                    <a:pt x="3815378" y="2211307"/>
                  </a:cubicBezTo>
                  <a:lnTo>
                    <a:pt x="23888" y="2211307"/>
                  </a:lnTo>
                  <a:cubicBezTo>
                    <a:pt x="17552" y="2211307"/>
                    <a:pt x="11476" y="2208790"/>
                    <a:pt x="6997" y="2204310"/>
                  </a:cubicBezTo>
                  <a:cubicBezTo>
                    <a:pt x="2517" y="2199831"/>
                    <a:pt x="0" y="2193755"/>
                    <a:pt x="0" y="2187419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839266" cy="2249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42094" y="4081200"/>
            <a:ext cx="3628085" cy="5177100"/>
            <a:chOff x="0" y="0"/>
            <a:chExt cx="4837446" cy="69028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1016790"/>
              <a:ext cx="4837446" cy="5886009"/>
              <a:chOff x="0" y="0"/>
              <a:chExt cx="1693662" cy="206077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693662" cy="2060779"/>
              </a:xfrm>
              <a:custGeom>
                <a:avLst/>
                <a:gdLst/>
                <a:ahLst/>
                <a:cxnLst/>
                <a:rect l="l" t="t" r="r" b="b"/>
                <a:pathLst>
                  <a:path w="1693662" h="2060779">
                    <a:moveTo>
                      <a:pt x="49079" y="0"/>
                    </a:moveTo>
                    <a:lnTo>
                      <a:pt x="1644582" y="0"/>
                    </a:lnTo>
                    <a:cubicBezTo>
                      <a:pt x="1671688" y="0"/>
                      <a:pt x="1693662" y="21974"/>
                      <a:pt x="1693662" y="49079"/>
                    </a:cubicBezTo>
                    <a:lnTo>
                      <a:pt x="1693662" y="2011700"/>
                    </a:lnTo>
                    <a:cubicBezTo>
                      <a:pt x="1693662" y="2038806"/>
                      <a:pt x="1671688" y="2060779"/>
                      <a:pt x="1644582" y="2060779"/>
                    </a:cubicBezTo>
                    <a:lnTo>
                      <a:pt x="49079" y="2060779"/>
                    </a:lnTo>
                    <a:cubicBezTo>
                      <a:pt x="21974" y="2060779"/>
                      <a:pt x="0" y="2038806"/>
                      <a:pt x="0" y="2011700"/>
                    </a:cubicBezTo>
                    <a:lnTo>
                      <a:pt x="0" y="49079"/>
                    </a:lnTo>
                    <a:cubicBezTo>
                      <a:pt x="0" y="21974"/>
                      <a:pt x="21974" y="0"/>
                      <a:pt x="49079" y="0"/>
                    </a:cubicBezTo>
                    <a:close/>
                  </a:path>
                </a:pathLst>
              </a:custGeom>
              <a:solidFill>
                <a:srgbClr val="26CBB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693662" cy="21084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43474" y="1257179"/>
              <a:ext cx="4350499" cy="5374715"/>
              <a:chOff x="0" y="0"/>
              <a:chExt cx="1523174" cy="188176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523174" cy="1881768"/>
              </a:xfrm>
              <a:custGeom>
                <a:avLst/>
                <a:gdLst/>
                <a:ahLst/>
                <a:cxnLst/>
                <a:rect l="l" t="t" r="r" b="b"/>
                <a:pathLst>
                  <a:path w="1523174" h="1881768">
                    <a:moveTo>
                      <a:pt x="54573" y="0"/>
                    </a:moveTo>
                    <a:lnTo>
                      <a:pt x="1468601" y="0"/>
                    </a:lnTo>
                    <a:cubicBezTo>
                      <a:pt x="1483075" y="0"/>
                      <a:pt x="1496956" y="5750"/>
                      <a:pt x="1507190" y="15984"/>
                    </a:cubicBezTo>
                    <a:cubicBezTo>
                      <a:pt x="1517425" y="26218"/>
                      <a:pt x="1523174" y="40099"/>
                      <a:pt x="1523174" y="54573"/>
                    </a:cubicBezTo>
                    <a:lnTo>
                      <a:pt x="1523174" y="1827195"/>
                    </a:lnTo>
                    <a:cubicBezTo>
                      <a:pt x="1523174" y="1841668"/>
                      <a:pt x="1517425" y="1855549"/>
                      <a:pt x="1507190" y="1865784"/>
                    </a:cubicBezTo>
                    <a:cubicBezTo>
                      <a:pt x="1496956" y="1876018"/>
                      <a:pt x="1483075" y="1881768"/>
                      <a:pt x="1468601" y="1881768"/>
                    </a:cubicBezTo>
                    <a:lnTo>
                      <a:pt x="54573" y="1881768"/>
                    </a:lnTo>
                    <a:cubicBezTo>
                      <a:pt x="40099" y="1881768"/>
                      <a:pt x="26218" y="1876018"/>
                      <a:pt x="15984" y="1865784"/>
                    </a:cubicBezTo>
                    <a:cubicBezTo>
                      <a:pt x="5750" y="1855549"/>
                      <a:pt x="0" y="1841668"/>
                      <a:pt x="0" y="1827195"/>
                    </a:cubicBezTo>
                    <a:lnTo>
                      <a:pt x="0" y="54573"/>
                    </a:lnTo>
                    <a:cubicBezTo>
                      <a:pt x="0" y="40099"/>
                      <a:pt x="5750" y="26218"/>
                      <a:pt x="15984" y="15984"/>
                    </a:cubicBezTo>
                    <a:cubicBezTo>
                      <a:pt x="26218" y="5750"/>
                      <a:pt x="40099" y="0"/>
                      <a:pt x="54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523174" cy="192939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150413" y="0"/>
              <a:ext cx="2536620" cy="2536620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6CB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553882" y="392337"/>
              <a:ext cx="1729683" cy="1729683"/>
            </a:xfrm>
            <a:custGeom>
              <a:avLst/>
              <a:gdLst/>
              <a:ahLst/>
              <a:cxnLst/>
              <a:rect l="l" t="t" r="r" b="b"/>
              <a:pathLst>
                <a:path w="1729683" h="1729683">
                  <a:moveTo>
                    <a:pt x="0" y="0"/>
                  </a:moveTo>
                  <a:lnTo>
                    <a:pt x="1729682" y="0"/>
                  </a:lnTo>
                  <a:lnTo>
                    <a:pt x="1729682" y="1729683"/>
                  </a:lnTo>
                  <a:lnTo>
                    <a:pt x="0" y="1729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452" y="2873170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เป้าหมาย 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(Goal)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711" y="4606720"/>
              <a:ext cx="3617381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ผู้ใช้มีอิสระในการเลือกวิธีบรรลุเป้าหมาย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23987" y="4081200"/>
            <a:ext cx="3628085" cy="5177100"/>
            <a:chOff x="0" y="0"/>
            <a:chExt cx="4837446" cy="69028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1016790"/>
              <a:ext cx="4837446" cy="5886009"/>
              <a:chOff x="0" y="0"/>
              <a:chExt cx="1693662" cy="206077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693662" cy="2060779"/>
              </a:xfrm>
              <a:custGeom>
                <a:avLst/>
                <a:gdLst/>
                <a:ahLst/>
                <a:cxnLst/>
                <a:rect l="l" t="t" r="r" b="b"/>
                <a:pathLst>
                  <a:path w="1693662" h="2060779">
                    <a:moveTo>
                      <a:pt x="49079" y="0"/>
                    </a:moveTo>
                    <a:lnTo>
                      <a:pt x="1644582" y="0"/>
                    </a:lnTo>
                    <a:cubicBezTo>
                      <a:pt x="1671688" y="0"/>
                      <a:pt x="1693662" y="21974"/>
                      <a:pt x="1693662" y="49079"/>
                    </a:cubicBezTo>
                    <a:lnTo>
                      <a:pt x="1693662" y="2011700"/>
                    </a:lnTo>
                    <a:cubicBezTo>
                      <a:pt x="1693662" y="2038806"/>
                      <a:pt x="1671688" y="2060779"/>
                      <a:pt x="1644582" y="2060779"/>
                    </a:cubicBezTo>
                    <a:lnTo>
                      <a:pt x="49079" y="2060779"/>
                    </a:lnTo>
                    <a:cubicBezTo>
                      <a:pt x="21974" y="2060779"/>
                      <a:pt x="0" y="2038806"/>
                      <a:pt x="0" y="2011700"/>
                    </a:cubicBezTo>
                    <a:lnTo>
                      <a:pt x="0" y="49079"/>
                    </a:lnTo>
                    <a:cubicBezTo>
                      <a:pt x="0" y="21974"/>
                      <a:pt x="21974" y="0"/>
                      <a:pt x="49079" y="0"/>
                    </a:cubicBezTo>
                    <a:close/>
                  </a:path>
                </a:pathLst>
              </a:custGeom>
              <a:solidFill>
                <a:srgbClr val="3972F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693662" cy="20988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43474" y="1257179"/>
              <a:ext cx="4350499" cy="5374715"/>
              <a:chOff x="0" y="0"/>
              <a:chExt cx="1523174" cy="188176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523174" cy="1881768"/>
              </a:xfrm>
              <a:custGeom>
                <a:avLst/>
                <a:gdLst/>
                <a:ahLst/>
                <a:cxnLst/>
                <a:rect l="l" t="t" r="r" b="b"/>
                <a:pathLst>
                  <a:path w="1523174" h="1881768">
                    <a:moveTo>
                      <a:pt x="54573" y="0"/>
                    </a:moveTo>
                    <a:lnTo>
                      <a:pt x="1468601" y="0"/>
                    </a:lnTo>
                    <a:cubicBezTo>
                      <a:pt x="1483075" y="0"/>
                      <a:pt x="1496956" y="5750"/>
                      <a:pt x="1507190" y="15984"/>
                    </a:cubicBezTo>
                    <a:cubicBezTo>
                      <a:pt x="1517425" y="26218"/>
                      <a:pt x="1523174" y="40099"/>
                      <a:pt x="1523174" y="54573"/>
                    </a:cubicBezTo>
                    <a:lnTo>
                      <a:pt x="1523174" y="1827195"/>
                    </a:lnTo>
                    <a:cubicBezTo>
                      <a:pt x="1523174" y="1841668"/>
                      <a:pt x="1517425" y="1855549"/>
                      <a:pt x="1507190" y="1865784"/>
                    </a:cubicBezTo>
                    <a:cubicBezTo>
                      <a:pt x="1496956" y="1876018"/>
                      <a:pt x="1483075" y="1881768"/>
                      <a:pt x="1468601" y="1881768"/>
                    </a:cubicBezTo>
                    <a:lnTo>
                      <a:pt x="54573" y="1881768"/>
                    </a:lnTo>
                    <a:cubicBezTo>
                      <a:pt x="40099" y="1881768"/>
                      <a:pt x="26218" y="1876018"/>
                      <a:pt x="15984" y="1865784"/>
                    </a:cubicBezTo>
                    <a:cubicBezTo>
                      <a:pt x="5750" y="1855549"/>
                      <a:pt x="0" y="1841668"/>
                      <a:pt x="0" y="1827195"/>
                    </a:cubicBezTo>
                    <a:lnTo>
                      <a:pt x="0" y="54573"/>
                    </a:lnTo>
                    <a:cubicBezTo>
                      <a:pt x="0" y="40099"/>
                      <a:pt x="5750" y="26218"/>
                      <a:pt x="15984" y="15984"/>
                    </a:cubicBezTo>
                    <a:cubicBezTo>
                      <a:pt x="26218" y="5750"/>
                      <a:pt x="40099" y="0"/>
                      <a:pt x="54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523174" cy="191986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150413" y="0"/>
              <a:ext cx="2536620" cy="2536620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2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818176" y="560542"/>
              <a:ext cx="1177771" cy="1465552"/>
            </a:xfrm>
            <a:custGeom>
              <a:avLst/>
              <a:gdLst/>
              <a:ahLst/>
              <a:cxnLst/>
              <a:rect l="l" t="t" r="r" b="b"/>
              <a:pathLst>
                <a:path w="1177771" h="1465552">
                  <a:moveTo>
                    <a:pt x="0" y="0"/>
                  </a:moveTo>
                  <a:lnTo>
                    <a:pt x="1177770" y="0"/>
                  </a:lnTo>
                  <a:lnTo>
                    <a:pt x="1177770" y="1465552"/>
                  </a:lnTo>
                  <a:lnTo>
                    <a:pt x="0" y="146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500452" y="2873170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กติกา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(Rule)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8549" y="4606720"/>
              <a:ext cx="3873307" cy="1525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เข้าใจง่าย สมเหตุสมผล ไม่สร้างอุปสรรค</a:t>
              </a:r>
            </a:p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ต่อผู้ใช้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05879" y="4081200"/>
            <a:ext cx="3628085" cy="5177100"/>
            <a:chOff x="0" y="0"/>
            <a:chExt cx="4837446" cy="69028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1016790"/>
              <a:ext cx="4837446" cy="5886009"/>
              <a:chOff x="0" y="0"/>
              <a:chExt cx="1693662" cy="2060779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693662" cy="2060779"/>
              </a:xfrm>
              <a:custGeom>
                <a:avLst/>
                <a:gdLst/>
                <a:ahLst/>
                <a:cxnLst/>
                <a:rect l="l" t="t" r="r" b="b"/>
                <a:pathLst>
                  <a:path w="1693662" h="2060779">
                    <a:moveTo>
                      <a:pt x="49079" y="0"/>
                    </a:moveTo>
                    <a:lnTo>
                      <a:pt x="1644582" y="0"/>
                    </a:lnTo>
                    <a:cubicBezTo>
                      <a:pt x="1671688" y="0"/>
                      <a:pt x="1693662" y="21974"/>
                      <a:pt x="1693662" y="49079"/>
                    </a:cubicBezTo>
                    <a:lnTo>
                      <a:pt x="1693662" y="2011700"/>
                    </a:lnTo>
                    <a:cubicBezTo>
                      <a:pt x="1693662" y="2038806"/>
                      <a:pt x="1671688" y="2060779"/>
                      <a:pt x="1644582" y="2060779"/>
                    </a:cubicBezTo>
                    <a:lnTo>
                      <a:pt x="49079" y="2060779"/>
                    </a:lnTo>
                    <a:cubicBezTo>
                      <a:pt x="21974" y="2060779"/>
                      <a:pt x="0" y="2038806"/>
                      <a:pt x="0" y="2011700"/>
                    </a:cubicBezTo>
                    <a:lnTo>
                      <a:pt x="0" y="49079"/>
                    </a:lnTo>
                    <a:cubicBezTo>
                      <a:pt x="0" y="21974"/>
                      <a:pt x="21974" y="0"/>
                      <a:pt x="49079" y="0"/>
                    </a:cubicBezTo>
                    <a:close/>
                  </a:path>
                </a:pathLst>
              </a:custGeom>
              <a:solidFill>
                <a:srgbClr val="26CBB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693662" cy="20988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243474" y="1257179"/>
              <a:ext cx="4350499" cy="5374715"/>
              <a:chOff x="0" y="0"/>
              <a:chExt cx="1523174" cy="188176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523174" cy="1881768"/>
              </a:xfrm>
              <a:custGeom>
                <a:avLst/>
                <a:gdLst/>
                <a:ahLst/>
                <a:cxnLst/>
                <a:rect l="l" t="t" r="r" b="b"/>
                <a:pathLst>
                  <a:path w="1523174" h="1881768">
                    <a:moveTo>
                      <a:pt x="54573" y="0"/>
                    </a:moveTo>
                    <a:lnTo>
                      <a:pt x="1468601" y="0"/>
                    </a:lnTo>
                    <a:cubicBezTo>
                      <a:pt x="1483075" y="0"/>
                      <a:pt x="1496956" y="5750"/>
                      <a:pt x="1507190" y="15984"/>
                    </a:cubicBezTo>
                    <a:cubicBezTo>
                      <a:pt x="1517425" y="26218"/>
                      <a:pt x="1523174" y="40099"/>
                      <a:pt x="1523174" y="54573"/>
                    </a:cubicBezTo>
                    <a:lnTo>
                      <a:pt x="1523174" y="1827195"/>
                    </a:lnTo>
                    <a:cubicBezTo>
                      <a:pt x="1523174" y="1841668"/>
                      <a:pt x="1517425" y="1855549"/>
                      <a:pt x="1507190" y="1865784"/>
                    </a:cubicBezTo>
                    <a:cubicBezTo>
                      <a:pt x="1496956" y="1876018"/>
                      <a:pt x="1483075" y="1881768"/>
                      <a:pt x="1468601" y="1881768"/>
                    </a:cubicBezTo>
                    <a:lnTo>
                      <a:pt x="54573" y="1881768"/>
                    </a:lnTo>
                    <a:cubicBezTo>
                      <a:pt x="40099" y="1881768"/>
                      <a:pt x="26218" y="1876018"/>
                      <a:pt x="15984" y="1865784"/>
                    </a:cubicBezTo>
                    <a:cubicBezTo>
                      <a:pt x="5750" y="1855549"/>
                      <a:pt x="0" y="1841668"/>
                      <a:pt x="0" y="1827195"/>
                    </a:cubicBezTo>
                    <a:lnTo>
                      <a:pt x="0" y="54573"/>
                    </a:lnTo>
                    <a:cubicBezTo>
                      <a:pt x="0" y="40099"/>
                      <a:pt x="5750" y="26218"/>
                      <a:pt x="15984" y="15984"/>
                    </a:cubicBezTo>
                    <a:cubicBezTo>
                      <a:pt x="26218" y="5750"/>
                      <a:pt x="40099" y="0"/>
                      <a:pt x="54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1523174" cy="191986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150413" y="0"/>
              <a:ext cx="2536620" cy="2536620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6CB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sp>
          <p:nvSpPr>
            <p:cNvPr id="53" name="Freeform 53"/>
            <p:cNvSpPr/>
            <p:nvPr/>
          </p:nvSpPr>
          <p:spPr>
            <a:xfrm>
              <a:off x="1549400" y="560542"/>
              <a:ext cx="1684176" cy="1393273"/>
            </a:xfrm>
            <a:custGeom>
              <a:avLst/>
              <a:gdLst/>
              <a:ahLst/>
              <a:cxnLst/>
              <a:rect l="l" t="t" r="r" b="b"/>
              <a:pathLst>
                <a:path w="1684176" h="1393273">
                  <a:moveTo>
                    <a:pt x="0" y="0"/>
                  </a:moveTo>
                  <a:lnTo>
                    <a:pt x="1684176" y="0"/>
                  </a:lnTo>
                  <a:lnTo>
                    <a:pt x="1684176" y="1393273"/>
                  </a:lnTo>
                  <a:lnTo>
                    <a:pt x="0" y="1393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500452" y="2873170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รางวัล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(Reward)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3564" y="4606720"/>
              <a:ext cx="3746512" cy="1525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ตอบสนองความต้องการ ก่อให้เกิดความรู้สึกทางบวก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187771" y="4081200"/>
            <a:ext cx="3628085" cy="5177100"/>
            <a:chOff x="0" y="0"/>
            <a:chExt cx="4837446" cy="6902800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1016790"/>
              <a:ext cx="4837446" cy="5886009"/>
              <a:chOff x="0" y="0"/>
              <a:chExt cx="1693662" cy="2060779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693662" cy="2060779"/>
              </a:xfrm>
              <a:custGeom>
                <a:avLst/>
                <a:gdLst/>
                <a:ahLst/>
                <a:cxnLst/>
                <a:rect l="l" t="t" r="r" b="b"/>
                <a:pathLst>
                  <a:path w="1693662" h="2060779">
                    <a:moveTo>
                      <a:pt x="49079" y="0"/>
                    </a:moveTo>
                    <a:lnTo>
                      <a:pt x="1644582" y="0"/>
                    </a:lnTo>
                    <a:cubicBezTo>
                      <a:pt x="1671688" y="0"/>
                      <a:pt x="1693662" y="21974"/>
                      <a:pt x="1693662" y="49079"/>
                    </a:cubicBezTo>
                    <a:lnTo>
                      <a:pt x="1693662" y="2011700"/>
                    </a:lnTo>
                    <a:cubicBezTo>
                      <a:pt x="1693662" y="2038806"/>
                      <a:pt x="1671688" y="2060779"/>
                      <a:pt x="1644582" y="2060779"/>
                    </a:cubicBezTo>
                    <a:lnTo>
                      <a:pt x="49079" y="2060779"/>
                    </a:lnTo>
                    <a:cubicBezTo>
                      <a:pt x="21974" y="2060779"/>
                      <a:pt x="0" y="2038806"/>
                      <a:pt x="0" y="2011700"/>
                    </a:cubicBezTo>
                    <a:lnTo>
                      <a:pt x="0" y="49079"/>
                    </a:lnTo>
                    <a:cubicBezTo>
                      <a:pt x="0" y="21974"/>
                      <a:pt x="21974" y="0"/>
                      <a:pt x="49079" y="0"/>
                    </a:cubicBezTo>
                    <a:close/>
                  </a:path>
                </a:pathLst>
              </a:custGeom>
              <a:solidFill>
                <a:srgbClr val="3972F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1693662" cy="21084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243474" y="1257179"/>
              <a:ext cx="4350499" cy="5374715"/>
              <a:chOff x="0" y="0"/>
              <a:chExt cx="1523174" cy="188176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523174" cy="1881768"/>
              </a:xfrm>
              <a:custGeom>
                <a:avLst/>
                <a:gdLst/>
                <a:ahLst/>
                <a:cxnLst/>
                <a:rect l="l" t="t" r="r" b="b"/>
                <a:pathLst>
                  <a:path w="1523174" h="1881768">
                    <a:moveTo>
                      <a:pt x="54573" y="0"/>
                    </a:moveTo>
                    <a:lnTo>
                      <a:pt x="1468601" y="0"/>
                    </a:lnTo>
                    <a:cubicBezTo>
                      <a:pt x="1483075" y="0"/>
                      <a:pt x="1496956" y="5750"/>
                      <a:pt x="1507190" y="15984"/>
                    </a:cubicBezTo>
                    <a:cubicBezTo>
                      <a:pt x="1517425" y="26218"/>
                      <a:pt x="1523174" y="40099"/>
                      <a:pt x="1523174" y="54573"/>
                    </a:cubicBezTo>
                    <a:lnTo>
                      <a:pt x="1523174" y="1827195"/>
                    </a:lnTo>
                    <a:cubicBezTo>
                      <a:pt x="1523174" y="1841668"/>
                      <a:pt x="1517425" y="1855549"/>
                      <a:pt x="1507190" y="1865784"/>
                    </a:cubicBezTo>
                    <a:cubicBezTo>
                      <a:pt x="1496956" y="1876018"/>
                      <a:pt x="1483075" y="1881768"/>
                      <a:pt x="1468601" y="1881768"/>
                    </a:cubicBezTo>
                    <a:lnTo>
                      <a:pt x="54573" y="1881768"/>
                    </a:lnTo>
                    <a:cubicBezTo>
                      <a:pt x="40099" y="1881768"/>
                      <a:pt x="26218" y="1876018"/>
                      <a:pt x="15984" y="1865784"/>
                    </a:cubicBezTo>
                    <a:cubicBezTo>
                      <a:pt x="5750" y="1855549"/>
                      <a:pt x="0" y="1841668"/>
                      <a:pt x="0" y="1827195"/>
                    </a:cubicBezTo>
                    <a:lnTo>
                      <a:pt x="0" y="54573"/>
                    </a:lnTo>
                    <a:cubicBezTo>
                      <a:pt x="0" y="40099"/>
                      <a:pt x="5750" y="26218"/>
                      <a:pt x="15984" y="15984"/>
                    </a:cubicBezTo>
                    <a:cubicBezTo>
                      <a:pt x="26218" y="5750"/>
                      <a:pt x="40099" y="0"/>
                      <a:pt x="54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57150"/>
                <a:ext cx="1523174" cy="19389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150413" y="0"/>
              <a:ext cx="2536620" cy="2536620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2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sp>
          <p:nvSpPr>
            <p:cNvPr id="66" name="Freeform 66"/>
            <p:cNvSpPr/>
            <p:nvPr/>
          </p:nvSpPr>
          <p:spPr>
            <a:xfrm>
              <a:off x="1644139" y="560542"/>
              <a:ext cx="1620402" cy="1561478"/>
            </a:xfrm>
            <a:custGeom>
              <a:avLst/>
              <a:gdLst/>
              <a:ahLst/>
              <a:cxnLst/>
              <a:rect l="l" t="t" r="r" b="b"/>
              <a:pathLst>
                <a:path w="1620402" h="1561478">
                  <a:moveTo>
                    <a:pt x="0" y="0"/>
                  </a:moveTo>
                  <a:lnTo>
                    <a:pt x="1620402" y="0"/>
                  </a:lnTo>
                  <a:lnTo>
                    <a:pt x="1620402" y="1561478"/>
                  </a:lnTo>
                  <a:lnTo>
                    <a:pt x="0" y="1561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500452" y="2873170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ความสมัครใจ (Voluntary)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9967" y="4606720"/>
              <a:ext cx="3068747" cy="1525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สร้างแรงจูงใจ และ</a:t>
              </a:r>
            </a:p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กระตุ้นความอยากมีส่วนร่วม 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2108336" y="2563104"/>
            <a:ext cx="14071327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“สร้างแรงจูงใจผ่านกลไกเกม”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422550" y="766135"/>
            <a:ext cx="1144290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Gamification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72" name="Group 72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5" name="TextBox 75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971260" y="384943"/>
            <a:ext cx="16345480" cy="9517114"/>
            <a:chOff x="0" y="0"/>
            <a:chExt cx="4053995" cy="23604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53995" cy="2360428"/>
            </a:xfrm>
            <a:custGeom>
              <a:avLst/>
              <a:gdLst/>
              <a:ahLst/>
              <a:cxnLst/>
              <a:rect l="l" t="t" r="r" b="b"/>
              <a:pathLst>
                <a:path w="4053995" h="2360428">
                  <a:moveTo>
                    <a:pt x="23682" y="0"/>
                  </a:moveTo>
                  <a:lnTo>
                    <a:pt x="4030313" y="0"/>
                  </a:lnTo>
                  <a:cubicBezTo>
                    <a:pt x="4043392" y="0"/>
                    <a:pt x="4053995" y="10603"/>
                    <a:pt x="4053995" y="23682"/>
                  </a:cubicBezTo>
                  <a:lnTo>
                    <a:pt x="4053995" y="2336746"/>
                  </a:lnTo>
                  <a:cubicBezTo>
                    <a:pt x="4053995" y="2349825"/>
                    <a:pt x="4043392" y="2360428"/>
                    <a:pt x="4030313" y="2360428"/>
                  </a:cubicBezTo>
                  <a:lnTo>
                    <a:pt x="23682" y="2360428"/>
                  </a:lnTo>
                  <a:cubicBezTo>
                    <a:pt x="10603" y="2360428"/>
                    <a:pt x="0" y="2349825"/>
                    <a:pt x="0" y="2336746"/>
                  </a:cubicBezTo>
                  <a:lnTo>
                    <a:pt x="0" y="23682"/>
                  </a:lnTo>
                  <a:cubicBezTo>
                    <a:pt x="0" y="10603"/>
                    <a:pt x="10603" y="0"/>
                    <a:pt x="23682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53995" cy="2398528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825208" y="1299287"/>
            <a:ext cx="14637585" cy="7227594"/>
            <a:chOff x="0" y="0"/>
            <a:chExt cx="3467941" cy="1712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67941" cy="1712364"/>
            </a:xfrm>
            <a:custGeom>
              <a:avLst/>
              <a:gdLst/>
              <a:ahLst/>
              <a:cxnLst/>
              <a:rect l="l" t="t" r="r" b="b"/>
              <a:pathLst>
                <a:path w="3467941" h="1712364">
                  <a:moveTo>
                    <a:pt x="26445" y="0"/>
                  </a:moveTo>
                  <a:lnTo>
                    <a:pt x="3441496" y="0"/>
                  </a:lnTo>
                  <a:cubicBezTo>
                    <a:pt x="3456101" y="0"/>
                    <a:pt x="3467941" y="11840"/>
                    <a:pt x="3467941" y="26445"/>
                  </a:cubicBezTo>
                  <a:lnTo>
                    <a:pt x="3467941" y="1685919"/>
                  </a:lnTo>
                  <a:cubicBezTo>
                    <a:pt x="3467941" y="1700524"/>
                    <a:pt x="3456101" y="1712364"/>
                    <a:pt x="3441496" y="1712364"/>
                  </a:cubicBezTo>
                  <a:lnTo>
                    <a:pt x="26445" y="1712364"/>
                  </a:lnTo>
                  <a:cubicBezTo>
                    <a:pt x="11840" y="1712364"/>
                    <a:pt x="0" y="1700524"/>
                    <a:pt x="0" y="1685919"/>
                  </a:cubicBezTo>
                  <a:lnTo>
                    <a:pt x="0" y="26445"/>
                  </a:lnTo>
                  <a:cubicBezTo>
                    <a:pt x="0" y="11840"/>
                    <a:pt x="11840" y="0"/>
                    <a:pt x="26445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67941" cy="175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6851" y="600729"/>
            <a:ext cx="15774297" cy="9085543"/>
            <a:chOff x="0" y="0"/>
            <a:chExt cx="3737251" cy="2152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37251" cy="2152550"/>
            </a:xfrm>
            <a:custGeom>
              <a:avLst/>
              <a:gdLst/>
              <a:ahLst/>
              <a:cxnLst/>
              <a:rect l="l" t="t" r="r" b="b"/>
              <a:pathLst>
                <a:path w="3737251" h="2152550">
                  <a:moveTo>
                    <a:pt x="24540" y="0"/>
                  </a:moveTo>
                  <a:lnTo>
                    <a:pt x="3712712" y="0"/>
                  </a:lnTo>
                  <a:cubicBezTo>
                    <a:pt x="3726264" y="0"/>
                    <a:pt x="3737251" y="10987"/>
                    <a:pt x="3737251" y="24540"/>
                  </a:cubicBezTo>
                  <a:lnTo>
                    <a:pt x="3737251" y="2128010"/>
                  </a:lnTo>
                  <a:cubicBezTo>
                    <a:pt x="3737251" y="2134518"/>
                    <a:pt x="3734666" y="2140760"/>
                    <a:pt x="3730064" y="2145362"/>
                  </a:cubicBezTo>
                  <a:cubicBezTo>
                    <a:pt x="3725462" y="2149964"/>
                    <a:pt x="3719220" y="2152550"/>
                    <a:pt x="3712712" y="2152550"/>
                  </a:cubicBezTo>
                  <a:lnTo>
                    <a:pt x="24540" y="2152550"/>
                  </a:lnTo>
                  <a:cubicBezTo>
                    <a:pt x="10987" y="2152550"/>
                    <a:pt x="0" y="2141563"/>
                    <a:pt x="0" y="2128010"/>
                  </a:cubicBezTo>
                  <a:lnTo>
                    <a:pt x="0" y="24540"/>
                  </a:lnTo>
                  <a:cubicBezTo>
                    <a:pt x="0" y="18031"/>
                    <a:pt x="2585" y="11790"/>
                    <a:pt x="7188" y="7188"/>
                  </a:cubicBezTo>
                  <a:cubicBezTo>
                    <a:pt x="11790" y="2585"/>
                    <a:pt x="18031" y="0"/>
                    <a:pt x="2454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737251" cy="2190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422550" y="766135"/>
            <a:ext cx="1144290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Rewards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77130" y="2499685"/>
            <a:ext cx="14333740" cy="111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9"/>
              </a:lnSpc>
            </a:pPr>
            <a:r>
              <a:rPr lang="en-US" sz="4222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จะมอบ Feedback ต่อการกระทำ เพื่อสร้างแรงจูงใจ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029314" y="5443930"/>
            <a:ext cx="3138091" cy="3543783"/>
            <a:chOff x="0" y="0"/>
            <a:chExt cx="1101337" cy="124371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1337" cy="1243717"/>
            </a:xfrm>
            <a:custGeom>
              <a:avLst/>
              <a:gdLst/>
              <a:ahLst/>
              <a:cxnLst/>
              <a:rect l="l" t="t" r="r" b="b"/>
              <a:pathLst>
                <a:path w="1101337" h="1243717">
                  <a:moveTo>
                    <a:pt x="125821" y="0"/>
                  </a:moveTo>
                  <a:lnTo>
                    <a:pt x="975516" y="0"/>
                  </a:lnTo>
                  <a:cubicBezTo>
                    <a:pt x="1008886" y="0"/>
                    <a:pt x="1040889" y="13256"/>
                    <a:pt x="1064485" y="36852"/>
                  </a:cubicBezTo>
                  <a:cubicBezTo>
                    <a:pt x="1088081" y="60448"/>
                    <a:pt x="1101337" y="92451"/>
                    <a:pt x="1101337" y="125821"/>
                  </a:cubicBezTo>
                  <a:lnTo>
                    <a:pt x="1101337" y="1117896"/>
                  </a:lnTo>
                  <a:cubicBezTo>
                    <a:pt x="1101337" y="1151266"/>
                    <a:pt x="1088081" y="1183269"/>
                    <a:pt x="1064485" y="1206865"/>
                  </a:cubicBezTo>
                  <a:cubicBezTo>
                    <a:pt x="1040889" y="1230461"/>
                    <a:pt x="1008886" y="1243717"/>
                    <a:pt x="975516" y="1243717"/>
                  </a:cubicBezTo>
                  <a:lnTo>
                    <a:pt x="125821" y="1243717"/>
                  </a:lnTo>
                  <a:cubicBezTo>
                    <a:pt x="92451" y="1243717"/>
                    <a:pt x="60448" y="1230461"/>
                    <a:pt x="36852" y="1206865"/>
                  </a:cubicBezTo>
                  <a:cubicBezTo>
                    <a:pt x="13256" y="1183269"/>
                    <a:pt x="0" y="1151266"/>
                    <a:pt x="0" y="1117896"/>
                  </a:cubicBezTo>
                  <a:lnTo>
                    <a:pt x="0" y="125821"/>
                  </a:lnTo>
                  <a:cubicBezTo>
                    <a:pt x="0" y="92451"/>
                    <a:pt x="13256" y="60448"/>
                    <a:pt x="36852" y="36852"/>
                  </a:cubicBezTo>
                  <a:cubicBezTo>
                    <a:pt x="60448" y="13256"/>
                    <a:pt x="92451" y="0"/>
                    <a:pt x="125821" y="0"/>
                  </a:cubicBezTo>
                  <a:close/>
                </a:path>
              </a:pathLst>
            </a:custGeom>
            <a:solidFill>
              <a:srgbClr val="00438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0"/>
              <a:ext cx="1101337" cy="114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3724896" y="6432527"/>
            <a:ext cx="1601224" cy="2038596"/>
          </a:xfrm>
          <a:custGeom>
            <a:avLst/>
            <a:gdLst/>
            <a:ahLst/>
            <a:cxnLst/>
            <a:rect l="l" t="t" r="r" b="b"/>
            <a:pathLst>
              <a:path w="1601224" h="2038596">
                <a:moveTo>
                  <a:pt x="0" y="0"/>
                </a:moveTo>
                <a:lnTo>
                  <a:pt x="1601225" y="0"/>
                </a:lnTo>
                <a:lnTo>
                  <a:pt x="1601225" y="2038596"/>
                </a:lnTo>
                <a:lnTo>
                  <a:pt x="0" y="2038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940575" y="5385940"/>
            <a:ext cx="3191506" cy="70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82" b="1">
                <a:solidFill>
                  <a:srgbClr val="F7D70E"/>
                </a:solidFill>
                <a:latin typeface="Biski Bold"/>
                <a:ea typeface="Biski Bold"/>
                <a:cs typeface="Biski Bold"/>
                <a:sym typeface="Biski Bold"/>
              </a:rPr>
              <a:t>Point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258883" y="5443930"/>
            <a:ext cx="3088796" cy="3543783"/>
            <a:chOff x="0" y="0"/>
            <a:chExt cx="1084036" cy="12437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84036" cy="1243717"/>
            </a:xfrm>
            <a:custGeom>
              <a:avLst/>
              <a:gdLst/>
              <a:ahLst/>
              <a:cxnLst/>
              <a:rect l="l" t="t" r="r" b="b"/>
              <a:pathLst>
                <a:path w="1084036" h="1243717">
                  <a:moveTo>
                    <a:pt x="127829" y="0"/>
                  </a:moveTo>
                  <a:lnTo>
                    <a:pt x="956207" y="0"/>
                  </a:lnTo>
                  <a:cubicBezTo>
                    <a:pt x="1026805" y="0"/>
                    <a:pt x="1084036" y="57231"/>
                    <a:pt x="1084036" y="127829"/>
                  </a:cubicBezTo>
                  <a:lnTo>
                    <a:pt x="1084036" y="1115888"/>
                  </a:lnTo>
                  <a:cubicBezTo>
                    <a:pt x="1084036" y="1186486"/>
                    <a:pt x="1026805" y="1243717"/>
                    <a:pt x="956207" y="1243717"/>
                  </a:cubicBezTo>
                  <a:lnTo>
                    <a:pt x="127829" y="1243717"/>
                  </a:lnTo>
                  <a:cubicBezTo>
                    <a:pt x="57231" y="1243717"/>
                    <a:pt x="0" y="1186486"/>
                    <a:pt x="0" y="1115888"/>
                  </a:cubicBezTo>
                  <a:lnTo>
                    <a:pt x="0" y="127829"/>
                  </a:lnTo>
                  <a:cubicBezTo>
                    <a:pt x="0" y="57231"/>
                    <a:pt x="57231" y="0"/>
                    <a:pt x="127829" y="0"/>
                  </a:cubicBezTo>
                  <a:close/>
                </a:path>
              </a:pathLst>
            </a:custGeom>
            <a:solidFill>
              <a:srgbClr val="00438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95250"/>
              <a:ext cx="1084036" cy="114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188700" y="5385924"/>
            <a:ext cx="3191506" cy="70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3085" b="1">
                <a:solidFill>
                  <a:srgbClr val="F7D70E"/>
                </a:solidFill>
                <a:latin typeface="Biski Bold"/>
                <a:ea typeface="Biski Bold"/>
                <a:cs typeface="Biski Bold"/>
                <a:sym typeface="Biski Bold"/>
              </a:rPr>
              <a:t>Badge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439157" y="5443930"/>
            <a:ext cx="3194343" cy="3543783"/>
            <a:chOff x="0" y="0"/>
            <a:chExt cx="4259124" cy="4725043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4259124" cy="4725043"/>
              <a:chOff x="0" y="0"/>
              <a:chExt cx="1121079" cy="124371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121079" cy="1243717"/>
              </a:xfrm>
              <a:custGeom>
                <a:avLst/>
                <a:gdLst/>
                <a:ahLst/>
                <a:cxnLst/>
                <a:rect l="l" t="t" r="r" b="b"/>
                <a:pathLst>
                  <a:path w="1121079" h="1243717">
                    <a:moveTo>
                      <a:pt x="123605" y="0"/>
                    </a:moveTo>
                    <a:lnTo>
                      <a:pt x="997474" y="0"/>
                    </a:lnTo>
                    <a:cubicBezTo>
                      <a:pt x="1065739" y="0"/>
                      <a:pt x="1121079" y="55340"/>
                      <a:pt x="1121079" y="123605"/>
                    </a:cubicBezTo>
                    <a:lnTo>
                      <a:pt x="1121079" y="1120112"/>
                    </a:lnTo>
                    <a:cubicBezTo>
                      <a:pt x="1121079" y="1152894"/>
                      <a:pt x="1108056" y="1184334"/>
                      <a:pt x="1084876" y="1207514"/>
                    </a:cubicBezTo>
                    <a:cubicBezTo>
                      <a:pt x="1061695" y="1230695"/>
                      <a:pt x="1030256" y="1243717"/>
                      <a:pt x="997474" y="1243717"/>
                    </a:cubicBezTo>
                    <a:lnTo>
                      <a:pt x="123605" y="1243717"/>
                    </a:lnTo>
                    <a:cubicBezTo>
                      <a:pt x="55340" y="1243717"/>
                      <a:pt x="0" y="1188377"/>
                      <a:pt x="0" y="1120112"/>
                    </a:cubicBezTo>
                    <a:lnTo>
                      <a:pt x="0" y="123605"/>
                    </a:lnTo>
                    <a:cubicBezTo>
                      <a:pt x="0" y="55340"/>
                      <a:pt x="55340" y="0"/>
                      <a:pt x="123605" y="0"/>
                    </a:cubicBezTo>
                    <a:close/>
                  </a:path>
                </a:pathLst>
              </a:custGeom>
              <a:solidFill>
                <a:srgbClr val="004380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95250"/>
                <a:ext cx="1121079" cy="1148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754491" y="1438105"/>
              <a:ext cx="2750142" cy="2750142"/>
            </a:xfrm>
            <a:custGeom>
              <a:avLst/>
              <a:gdLst/>
              <a:ahLst/>
              <a:cxnLst/>
              <a:rect l="l" t="t" r="r" b="b"/>
              <a:pathLst>
                <a:path w="2750142" h="2750142">
                  <a:moveTo>
                    <a:pt x="0" y="0"/>
                  </a:moveTo>
                  <a:lnTo>
                    <a:pt x="2750142" y="0"/>
                  </a:lnTo>
                  <a:lnTo>
                    <a:pt x="2750142" y="2750141"/>
                  </a:lnTo>
                  <a:lnTo>
                    <a:pt x="0" y="275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3783" y="2034"/>
              <a:ext cx="4255341" cy="855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79"/>
                </a:lnSpc>
              </a:pPr>
              <a:r>
                <a:rPr lang="en-US" sz="3085" b="1">
                  <a:solidFill>
                    <a:srgbClr val="F7D70E"/>
                  </a:solidFill>
                  <a:latin typeface="Biski Bold"/>
                  <a:ea typeface="Biski Bold"/>
                  <a:cs typeface="Biski Bold"/>
                  <a:sym typeface="Biski Bold"/>
                </a:rPr>
                <a:t>Leaderboard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739830" y="3503835"/>
            <a:ext cx="4808339" cy="106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8"/>
              </a:lnSpc>
              <a:spcBef>
                <a:spcPct val="0"/>
              </a:spcBef>
            </a:pPr>
            <a:r>
              <a:rPr lang="en-US" sz="4220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  ด้วยเทคนิค PBLs </a:t>
            </a:r>
          </a:p>
        </p:txBody>
      </p:sp>
      <p:sp>
        <p:nvSpPr>
          <p:cNvPr id="38" name="Freeform 38"/>
          <p:cNvSpPr/>
          <p:nvPr/>
        </p:nvSpPr>
        <p:spPr>
          <a:xfrm>
            <a:off x="8031752" y="6311124"/>
            <a:ext cx="1543058" cy="2281403"/>
          </a:xfrm>
          <a:custGeom>
            <a:avLst/>
            <a:gdLst/>
            <a:ahLst/>
            <a:cxnLst/>
            <a:rect l="l" t="t" r="r" b="b"/>
            <a:pathLst>
              <a:path w="1543058" h="2281403">
                <a:moveTo>
                  <a:pt x="0" y="0"/>
                </a:moveTo>
                <a:lnTo>
                  <a:pt x="1543058" y="0"/>
                </a:lnTo>
                <a:lnTo>
                  <a:pt x="1543058" y="2281402"/>
                </a:lnTo>
                <a:lnTo>
                  <a:pt x="0" y="2281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-10800000">
            <a:off x="971260" y="384943"/>
            <a:ext cx="16345480" cy="9517114"/>
            <a:chOff x="0" y="0"/>
            <a:chExt cx="4053995" cy="23604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53995" cy="2360428"/>
            </a:xfrm>
            <a:custGeom>
              <a:avLst/>
              <a:gdLst/>
              <a:ahLst/>
              <a:cxnLst/>
              <a:rect l="l" t="t" r="r" b="b"/>
              <a:pathLst>
                <a:path w="4053995" h="2360428">
                  <a:moveTo>
                    <a:pt x="23682" y="0"/>
                  </a:moveTo>
                  <a:lnTo>
                    <a:pt x="4030313" y="0"/>
                  </a:lnTo>
                  <a:cubicBezTo>
                    <a:pt x="4043392" y="0"/>
                    <a:pt x="4053995" y="10603"/>
                    <a:pt x="4053995" y="23682"/>
                  </a:cubicBezTo>
                  <a:lnTo>
                    <a:pt x="4053995" y="2336746"/>
                  </a:lnTo>
                  <a:cubicBezTo>
                    <a:pt x="4053995" y="2349825"/>
                    <a:pt x="4043392" y="2360428"/>
                    <a:pt x="4030313" y="2360428"/>
                  </a:cubicBezTo>
                  <a:lnTo>
                    <a:pt x="23682" y="2360428"/>
                  </a:lnTo>
                  <a:cubicBezTo>
                    <a:pt x="10603" y="2360428"/>
                    <a:pt x="0" y="2349825"/>
                    <a:pt x="0" y="2336746"/>
                  </a:cubicBezTo>
                  <a:lnTo>
                    <a:pt x="0" y="23682"/>
                  </a:lnTo>
                  <a:cubicBezTo>
                    <a:pt x="0" y="10603"/>
                    <a:pt x="10603" y="0"/>
                    <a:pt x="23682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53995" cy="2398528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57157" y="1777105"/>
            <a:ext cx="14637585" cy="7227594"/>
            <a:chOff x="0" y="0"/>
            <a:chExt cx="3467941" cy="1712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67941" cy="1712364"/>
            </a:xfrm>
            <a:custGeom>
              <a:avLst/>
              <a:gdLst/>
              <a:ahLst/>
              <a:cxnLst/>
              <a:rect l="l" t="t" r="r" b="b"/>
              <a:pathLst>
                <a:path w="3467941" h="1712364">
                  <a:moveTo>
                    <a:pt x="26445" y="0"/>
                  </a:moveTo>
                  <a:lnTo>
                    <a:pt x="3441496" y="0"/>
                  </a:lnTo>
                  <a:cubicBezTo>
                    <a:pt x="3456101" y="0"/>
                    <a:pt x="3467941" y="11840"/>
                    <a:pt x="3467941" y="26445"/>
                  </a:cubicBezTo>
                  <a:lnTo>
                    <a:pt x="3467941" y="1685919"/>
                  </a:lnTo>
                  <a:cubicBezTo>
                    <a:pt x="3467941" y="1700524"/>
                    <a:pt x="3456101" y="1712364"/>
                    <a:pt x="3441496" y="1712364"/>
                  </a:cubicBezTo>
                  <a:lnTo>
                    <a:pt x="26445" y="1712364"/>
                  </a:lnTo>
                  <a:cubicBezTo>
                    <a:pt x="11840" y="1712364"/>
                    <a:pt x="0" y="1700524"/>
                    <a:pt x="0" y="1685919"/>
                  </a:cubicBezTo>
                  <a:lnTo>
                    <a:pt x="0" y="26445"/>
                  </a:lnTo>
                  <a:cubicBezTo>
                    <a:pt x="0" y="11840"/>
                    <a:pt x="11840" y="0"/>
                    <a:pt x="26445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67941" cy="175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6851" y="600729"/>
            <a:ext cx="15774297" cy="9085543"/>
            <a:chOff x="0" y="0"/>
            <a:chExt cx="3737251" cy="2152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37251" cy="2152550"/>
            </a:xfrm>
            <a:custGeom>
              <a:avLst/>
              <a:gdLst/>
              <a:ahLst/>
              <a:cxnLst/>
              <a:rect l="l" t="t" r="r" b="b"/>
              <a:pathLst>
                <a:path w="3737251" h="2152550">
                  <a:moveTo>
                    <a:pt x="24540" y="0"/>
                  </a:moveTo>
                  <a:lnTo>
                    <a:pt x="3712712" y="0"/>
                  </a:lnTo>
                  <a:cubicBezTo>
                    <a:pt x="3726264" y="0"/>
                    <a:pt x="3737251" y="10987"/>
                    <a:pt x="3737251" y="24540"/>
                  </a:cubicBezTo>
                  <a:lnTo>
                    <a:pt x="3737251" y="2128010"/>
                  </a:lnTo>
                  <a:cubicBezTo>
                    <a:pt x="3737251" y="2134518"/>
                    <a:pt x="3734666" y="2140760"/>
                    <a:pt x="3730064" y="2145362"/>
                  </a:cubicBezTo>
                  <a:cubicBezTo>
                    <a:pt x="3725462" y="2149964"/>
                    <a:pt x="3719220" y="2152550"/>
                    <a:pt x="3712712" y="2152550"/>
                  </a:cubicBezTo>
                  <a:lnTo>
                    <a:pt x="24540" y="2152550"/>
                  </a:lnTo>
                  <a:cubicBezTo>
                    <a:pt x="10987" y="2152550"/>
                    <a:pt x="0" y="2141563"/>
                    <a:pt x="0" y="2128010"/>
                  </a:cubicBezTo>
                  <a:lnTo>
                    <a:pt x="0" y="24540"/>
                  </a:lnTo>
                  <a:cubicBezTo>
                    <a:pt x="0" y="18031"/>
                    <a:pt x="2585" y="11790"/>
                    <a:pt x="7188" y="7188"/>
                  </a:cubicBezTo>
                  <a:cubicBezTo>
                    <a:pt x="11790" y="2585"/>
                    <a:pt x="18031" y="0"/>
                    <a:pt x="2454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737251" cy="2190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10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977130" y="2739510"/>
            <a:ext cx="14333740" cy="96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4222" b="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ก่อให้เกิด “Engagement Loop (วงจรแห่งความผูกพัน)”</a:t>
            </a:r>
          </a:p>
        </p:txBody>
      </p:sp>
      <p:sp>
        <p:nvSpPr>
          <p:cNvPr id="26" name="Freeform 26"/>
          <p:cNvSpPr/>
          <p:nvPr/>
        </p:nvSpPr>
        <p:spPr>
          <a:xfrm>
            <a:off x="5438129" y="4245686"/>
            <a:ext cx="7411742" cy="5012614"/>
          </a:xfrm>
          <a:custGeom>
            <a:avLst/>
            <a:gdLst/>
            <a:ahLst/>
            <a:cxnLst/>
            <a:rect l="l" t="t" r="r" b="b"/>
            <a:pathLst>
              <a:path w="7411742" h="5012614">
                <a:moveTo>
                  <a:pt x="0" y="0"/>
                </a:moveTo>
                <a:lnTo>
                  <a:pt x="7411742" y="0"/>
                </a:lnTo>
                <a:lnTo>
                  <a:pt x="7411742" y="5012614"/>
                </a:lnTo>
                <a:lnTo>
                  <a:pt x="0" y="5012614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422550" y="965184"/>
            <a:ext cx="1144290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Gamification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2379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143794" y="2317886"/>
            <a:ext cx="14030504" cy="5945426"/>
          </a:xfrm>
          <a:custGeom>
            <a:avLst/>
            <a:gdLst/>
            <a:ahLst/>
            <a:cxnLst/>
            <a:rect l="l" t="t" r="r" b="b"/>
            <a:pathLst>
              <a:path w="14030504" h="5945426">
                <a:moveTo>
                  <a:pt x="0" y="0"/>
                </a:moveTo>
                <a:lnTo>
                  <a:pt x="14030505" y="0"/>
                </a:lnTo>
                <a:lnTo>
                  <a:pt x="14030505" y="5945426"/>
                </a:lnTo>
                <a:lnTo>
                  <a:pt x="0" y="5945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077089">
            <a:off x="13859309" y="1156024"/>
            <a:ext cx="2754042" cy="2323723"/>
          </a:xfrm>
          <a:custGeom>
            <a:avLst/>
            <a:gdLst/>
            <a:ahLst/>
            <a:cxnLst/>
            <a:rect l="l" t="t" r="r" b="b"/>
            <a:pathLst>
              <a:path w="2754042" h="2323723">
                <a:moveTo>
                  <a:pt x="0" y="0"/>
                </a:moveTo>
                <a:lnTo>
                  <a:pt x="2754043" y="0"/>
                </a:lnTo>
                <a:lnTo>
                  <a:pt x="2754043" y="2323724"/>
                </a:lnTo>
                <a:lnTo>
                  <a:pt x="0" y="2323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625207" y="1764532"/>
            <a:ext cx="3037587" cy="1625109"/>
          </a:xfrm>
          <a:custGeom>
            <a:avLst/>
            <a:gdLst/>
            <a:ahLst/>
            <a:cxnLst/>
            <a:rect l="l" t="t" r="r" b="b"/>
            <a:pathLst>
              <a:path w="3037587" h="1625109">
                <a:moveTo>
                  <a:pt x="0" y="0"/>
                </a:moveTo>
                <a:lnTo>
                  <a:pt x="3037586" y="0"/>
                </a:lnTo>
                <a:lnTo>
                  <a:pt x="3037586" y="1625108"/>
                </a:lnTo>
                <a:lnTo>
                  <a:pt x="0" y="1625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684474">
            <a:off x="952260" y="7192287"/>
            <a:ext cx="3154611" cy="1719263"/>
          </a:xfrm>
          <a:custGeom>
            <a:avLst/>
            <a:gdLst/>
            <a:ahLst/>
            <a:cxnLst/>
            <a:rect l="l" t="t" r="r" b="b"/>
            <a:pathLst>
              <a:path w="3154611" h="1719263">
                <a:moveTo>
                  <a:pt x="0" y="0"/>
                </a:moveTo>
                <a:lnTo>
                  <a:pt x="3154610" y="0"/>
                </a:lnTo>
                <a:lnTo>
                  <a:pt x="3154610" y="1719263"/>
                </a:lnTo>
                <a:lnTo>
                  <a:pt x="0" y="1719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003993" y="3495675"/>
            <a:ext cx="10280013" cy="313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2C374D"/>
                </a:solidFill>
                <a:latin typeface="Gliker Bold"/>
                <a:ea typeface="Gliker Bold"/>
                <a:cs typeface="Gliker Bold"/>
                <a:sym typeface="Gliker Bold"/>
              </a:rPr>
              <a:t>ตัวอย่างการใช้งาน</a:t>
            </a:r>
          </a:p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082C7"/>
                </a:solidFill>
                <a:latin typeface="Gliker Bold"/>
                <a:ea typeface="Gliker Bold"/>
                <a:cs typeface="Gliker Bold"/>
                <a:sym typeface="Gliker Bold"/>
              </a:rPr>
              <a:t>WELLWAVE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85254" y="7200900"/>
            <a:ext cx="4022217" cy="4114800"/>
          </a:xfrm>
          <a:custGeom>
            <a:avLst/>
            <a:gdLst/>
            <a:ahLst/>
            <a:cxnLst/>
            <a:rect l="l" t="t" r="r" b="b"/>
            <a:pathLst>
              <a:path w="4022217" h="4114800">
                <a:moveTo>
                  <a:pt x="0" y="0"/>
                </a:moveTo>
                <a:lnTo>
                  <a:pt x="4022217" y="0"/>
                </a:lnTo>
                <a:lnTo>
                  <a:pt x="4022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701607" y="6149958"/>
            <a:ext cx="3086100" cy="708878"/>
            <a:chOff x="0" y="0"/>
            <a:chExt cx="812800" cy="186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86700"/>
            </a:xfrm>
            <a:custGeom>
              <a:avLst/>
              <a:gdLst/>
              <a:ahLst/>
              <a:cxnLst/>
              <a:rect l="l" t="t" r="r" b="b"/>
              <a:pathLst>
                <a:path w="812800" h="186700">
                  <a:moveTo>
                    <a:pt x="93350" y="0"/>
                  </a:moveTo>
                  <a:lnTo>
                    <a:pt x="719450" y="0"/>
                  </a:lnTo>
                  <a:cubicBezTo>
                    <a:pt x="771006" y="0"/>
                    <a:pt x="812800" y="41794"/>
                    <a:pt x="812800" y="93350"/>
                  </a:cubicBezTo>
                  <a:lnTo>
                    <a:pt x="812800" y="93350"/>
                  </a:lnTo>
                  <a:cubicBezTo>
                    <a:pt x="812800" y="144906"/>
                    <a:pt x="771006" y="186700"/>
                    <a:pt x="719450" y="186700"/>
                  </a:cubicBezTo>
                  <a:lnTo>
                    <a:pt x="93350" y="186700"/>
                  </a:lnTo>
                  <a:cubicBezTo>
                    <a:pt x="41794" y="186700"/>
                    <a:pt x="0" y="144906"/>
                    <a:pt x="0" y="93350"/>
                  </a:cubicBezTo>
                  <a:lnTo>
                    <a:pt x="0" y="93350"/>
                  </a:lnTo>
                  <a:cubicBezTo>
                    <a:pt x="0" y="41794"/>
                    <a:pt x="41794" y="0"/>
                    <a:pt x="93350" y="0"/>
                  </a:cubicBezTo>
                  <a:close/>
                </a:path>
              </a:pathLst>
            </a:custGeom>
            <a:solidFill>
              <a:srgbClr val="EF7D3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812800" cy="30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0"/>
                </a:lnSpc>
              </a:pPr>
              <a:r>
                <a:rPr lang="en-US" sz="3000" spc="54">
                  <a:solidFill>
                    <a:srgbClr val="FFFDFA"/>
                  </a:solidFill>
                  <a:latin typeface="Open Sans"/>
                  <a:ea typeface="Open Sans"/>
                  <a:cs typeface="Open Sans"/>
                  <a:sym typeface="Open Sans"/>
                </a:rPr>
                <a:t>ความดันโลหิตสูง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45155" y="6149958"/>
            <a:ext cx="3086100" cy="708878"/>
            <a:chOff x="0" y="0"/>
            <a:chExt cx="812800" cy="186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186700"/>
            </a:xfrm>
            <a:custGeom>
              <a:avLst/>
              <a:gdLst/>
              <a:ahLst/>
              <a:cxnLst/>
              <a:rect l="l" t="t" r="r" b="b"/>
              <a:pathLst>
                <a:path w="812800" h="186700">
                  <a:moveTo>
                    <a:pt x="93350" y="0"/>
                  </a:moveTo>
                  <a:lnTo>
                    <a:pt x="719450" y="0"/>
                  </a:lnTo>
                  <a:cubicBezTo>
                    <a:pt x="771006" y="0"/>
                    <a:pt x="812800" y="41794"/>
                    <a:pt x="812800" y="93350"/>
                  </a:cubicBezTo>
                  <a:lnTo>
                    <a:pt x="812800" y="93350"/>
                  </a:lnTo>
                  <a:cubicBezTo>
                    <a:pt x="812800" y="144906"/>
                    <a:pt x="771006" y="186700"/>
                    <a:pt x="719450" y="186700"/>
                  </a:cubicBezTo>
                  <a:lnTo>
                    <a:pt x="93350" y="186700"/>
                  </a:lnTo>
                  <a:cubicBezTo>
                    <a:pt x="41794" y="186700"/>
                    <a:pt x="0" y="144906"/>
                    <a:pt x="0" y="93350"/>
                  </a:cubicBezTo>
                  <a:lnTo>
                    <a:pt x="0" y="93350"/>
                  </a:lnTo>
                  <a:cubicBezTo>
                    <a:pt x="0" y="41794"/>
                    <a:pt x="41794" y="0"/>
                    <a:pt x="93350" y="0"/>
                  </a:cubicBezTo>
                  <a:close/>
                </a:path>
              </a:pathLst>
            </a:custGeom>
            <a:solidFill>
              <a:srgbClr val="E15E5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14300"/>
              <a:ext cx="812800" cy="30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0"/>
                </a:lnSpc>
              </a:pPr>
              <a:r>
                <a:rPr lang="en-US" sz="3000" spc="54">
                  <a:solidFill>
                    <a:srgbClr val="FFFDFA"/>
                  </a:solidFill>
                  <a:latin typeface="Open Sans"/>
                  <a:ea typeface="Open Sans"/>
                  <a:cs typeface="Open Sans"/>
                  <a:sym typeface="Open Sans"/>
                </a:rPr>
                <a:t>คอเลสเตอรอลสูง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01607" y="7139823"/>
            <a:ext cx="4886598" cy="699857"/>
            <a:chOff x="0" y="0"/>
            <a:chExt cx="1287005" cy="1843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7005" cy="184324"/>
            </a:xfrm>
            <a:custGeom>
              <a:avLst/>
              <a:gdLst/>
              <a:ahLst/>
              <a:cxnLst/>
              <a:rect l="l" t="t" r="r" b="b"/>
              <a:pathLst>
                <a:path w="1287005" h="184324">
                  <a:moveTo>
                    <a:pt x="80800" y="0"/>
                  </a:moveTo>
                  <a:lnTo>
                    <a:pt x="1206205" y="0"/>
                  </a:lnTo>
                  <a:cubicBezTo>
                    <a:pt x="1250830" y="0"/>
                    <a:pt x="1287005" y="36175"/>
                    <a:pt x="1287005" y="80800"/>
                  </a:cubicBezTo>
                  <a:lnTo>
                    <a:pt x="1287005" y="103524"/>
                  </a:lnTo>
                  <a:cubicBezTo>
                    <a:pt x="1287005" y="148149"/>
                    <a:pt x="1250830" y="184324"/>
                    <a:pt x="1206205" y="184324"/>
                  </a:cubicBezTo>
                  <a:lnTo>
                    <a:pt x="80800" y="184324"/>
                  </a:lnTo>
                  <a:cubicBezTo>
                    <a:pt x="36175" y="184324"/>
                    <a:pt x="0" y="148149"/>
                    <a:pt x="0" y="103524"/>
                  </a:cubicBezTo>
                  <a:lnTo>
                    <a:pt x="0" y="80800"/>
                  </a:lnTo>
                  <a:cubicBezTo>
                    <a:pt x="0" y="36175"/>
                    <a:pt x="36175" y="0"/>
                    <a:pt x="80800" y="0"/>
                  </a:cubicBezTo>
                  <a:close/>
                </a:path>
              </a:pathLst>
            </a:custGeom>
            <a:solidFill>
              <a:srgbClr val="FB7D4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14300"/>
              <a:ext cx="1287005" cy="298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0"/>
                </a:lnSpc>
              </a:pPr>
              <a:r>
                <a:rPr lang="en-US" sz="3000" spc="54">
                  <a:solidFill>
                    <a:srgbClr val="FFFDFA"/>
                  </a:solidFill>
                  <a:latin typeface="Open Sans"/>
                  <a:ea typeface="Open Sans"/>
                  <a:cs typeface="Open Sans"/>
                  <a:sym typeface="Open Sans"/>
                </a:rPr>
                <a:t>ดื่มแอลกอฮอล์เป็นครั้งคราว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01607" y="8096705"/>
            <a:ext cx="3086100" cy="708878"/>
            <a:chOff x="0" y="0"/>
            <a:chExt cx="812800" cy="186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186700"/>
            </a:xfrm>
            <a:custGeom>
              <a:avLst/>
              <a:gdLst/>
              <a:ahLst/>
              <a:cxnLst/>
              <a:rect l="l" t="t" r="r" b="b"/>
              <a:pathLst>
                <a:path w="812800" h="186700">
                  <a:moveTo>
                    <a:pt x="93350" y="0"/>
                  </a:moveTo>
                  <a:lnTo>
                    <a:pt x="719450" y="0"/>
                  </a:lnTo>
                  <a:cubicBezTo>
                    <a:pt x="771006" y="0"/>
                    <a:pt x="812800" y="41794"/>
                    <a:pt x="812800" y="93350"/>
                  </a:cubicBezTo>
                  <a:lnTo>
                    <a:pt x="812800" y="93350"/>
                  </a:lnTo>
                  <a:cubicBezTo>
                    <a:pt x="812800" y="144906"/>
                    <a:pt x="771006" y="186700"/>
                    <a:pt x="719450" y="186700"/>
                  </a:cubicBezTo>
                  <a:lnTo>
                    <a:pt x="93350" y="186700"/>
                  </a:lnTo>
                  <a:cubicBezTo>
                    <a:pt x="41794" y="186700"/>
                    <a:pt x="0" y="144906"/>
                    <a:pt x="0" y="93350"/>
                  </a:cubicBezTo>
                  <a:lnTo>
                    <a:pt x="0" y="93350"/>
                  </a:lnTo>
                  <a:cubicBezTo>
                    <a:pt x="0" y="41794"/>
                    <a:pt x="41794" y="0"/>
                    <a:pt x="9335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812800" cy="30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0"/>
                </a:lnSpc>
              </a:pPr>
              <a:r>
                <a:rPr lang="en-US" sz="3000" spc="54">
                  <a:solidFill>
                    <a:srgbClr val="FFFDFA"/>
                  </a:solidFill>
                  <a:latin typeface="Open Sans"/>
                  <a:ea typeface="Open Sans"/>
                  <a:cs typeface="Open Sans"/>
                  <a:sym typeface="Open Sans"/>
                </a:rPr>
                <a:t>ไม่สูบบุหรี่</a:t>
              </a:r>
            </a:p>
          </p:txBody>
        </p:sp>
      </p:grpSp>
      <p:sp>
        <p:nvSpPr>
          <p:cNvPr id="27" name="Freeform 27"/>
          <p:cNvSpPr/>
          <p:nvPr/>
        </p:nvSpPr>
        <p:spPr>
          <a:xfrm rot="-714136" flipH="1">
            <a:off x="13310212" y="1303065"/>
            <a:ext cx="4417450" cy="3066149"/>
          </a:xfrm>
          <a:custGeom>
            <a:avLst/>
            <a:gdLst/>
            <a:ahLst/>
            <a:cxnLst/>
            <a:rect l="l" t="t" r="r" b="b"/>
            <a:pathLst>
              <a:path w="4417450" h="3066149">
                <a:moveTo>
                  <a:pt x="4417450" y="0"/>
                </a:moveTo>
                <a:lnTo>
                  <a:pt x="0" y="0"/>
                </a:lnTo>
                <a:lnTo>
                  <a:pt x="0" y="3066149"/>
                </a:lnTo>
                <a:lnTo>
                  <a:pt x="4417450" y="3066149"/>
                </a:lnTo>
                <a:lnTo>
                  <a:pt x="441745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12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8388430" y="2327390"/>
            <a:ext cx="6642310" cy="11024581"/>
          </a:xfrm>
          <a:custGeom>
            <a:avLst/>
            <a:gdLst/>
            <a:ahLst/>
            <a:cxnLst/>
            <a:rect l="l" t="t" r="r" b="b"/>
            <a:pathLst>
              <a:path w="6642310" h="11024581">
                <a:moveTo>
                  <a:pt x="0" y="0"/>
                </a:moveTo>
                <a:lnTo>
                  <a:pt x="6642310" y="0"/>
                </a:lnTo>
                <a:lnTo>
                  <a:pt x="6642310" y="11024580"/>
                </a:lnTo>
                <a:lnTo>
                  <a:pt x="0" y="110245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701607" y="914506"/>
            <a:ext cx="5148087" cy="233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80"/>
              </a:lnSpc>
            </a:pPr>
            <a:r>
              <a:rPr lang="en-US" sz="9600" b="1" spc="336">
                <a:solidFill>
                  <a:srgbClr val="000000"/>
                </a:solidFill>
                <a:latin typeface="Biski Semi-Bold"/>
                <a:ea typeface="Biski Semi-Bold"/>
                <a:cs typeface="Biski Semi-Bold"/>
                <a:sym typeface="Biski Semi-Bold"/>
              </a:rPr>
              <a:t>ฝน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1607" y="3519646"/>
            <a:ext cx="6429648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นักธุรกิจสาวไฟแรง ทุ่มเทให้กับงานจนไม่มีเวลาดูแลตัวเอง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948770" y="2169282"/>
            <a:ext cx="3497291" cy="95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อยากลดน้ำหนัก!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01607" y="5120552"/>
            <a:ext cx="642964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ส่วนสูง 168 น้ำหนัก 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581759" y="1162540"/>
            <a:ext cx="4091512" cy="8095760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-1326075" y="2530180"/>
            <a:ext cx="6642310" cy="11024581"/>
          </a:xfrm>
          <a:custGeom>
            <a:avLst/>
            <a:gdLst/>
            <a:ahLst/>
            <a:cxnLst/>
            <a:rect l="l" t="t" r="r" b="b"/>
            <a:pathLst>
              <a:path w="6642310" h="11024581">
                <a:moveTo>
                  <a:pt x="0" y="0"/>
                </a:moveTo>
                <a:lnTo>
                  <a:pt x="6642309" y="0"/>
                </a:lnTo>
                <a:lnTo>
                  <a:pt x="6642309" y="11024581"/>
                </a:lnTo>
                <a:lnTo>
                  <a:pt x="0" y="1102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2438268" y="1028700"/>
            <a:ext cx="4159154" cy="8229600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1690578" y="1028700"/>
            <a:ext cx="4159154" cy="8229600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7064423" y="1028700"/>
            <a:ext cx="4159154" cy="8229600"/>
            <a:chOff x="0" y="0"/>
            <a:chExt cx="2620010" cy="5184140"/>
          </a:xfrm>
        </p:grpSpPr>
        <p:sp>
          <p:nvSpPr>
            <p:cNvPr id="35" name="Freeform 3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453804" y="1641757"/>
            <a:ext cx="3546007" cy="7016385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5397968" y="1641757"/>
            <a:ext cx="3546007" cy="7016385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344025" y="1628858"/>
            <a:ext cx="3546007" cy="7016385"/>
            <a:chOff x="0" y="0"/>
            <a:chExt cx="2620010" cy="5184140"/>
          </a:xfrm>
        </p:grpSpPr>
        <p:sp>
          <p:nvSpPr>
            <p:cNvPr id="35" name="Freeform 3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13288188" y="1628858"/>
            <a:ext cx="3546007" cy="7016385"/>
            <a:chOff x="0" y="0"/>
            <a:chExt cx="2620010" cy="5184140"/>
          </a:xfrm>
        </p:grpSpPr>
        <p:sp>
          <p:nvSpPr>
            <p:cNvPr id="45" name="Freeform 4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3125628" y="1476714"/>
            <a:ext cx="3713137" cy="7347079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7286440" y="1476714"/>
            <a:ext cx="3713137" cy="7347079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11447057" y="1463207"/>
            <a:ext cx="3713137" cy="7347079"/>
            <a:chOff x="0" y="0"/>
            <a:chExt cx="2620010" cy="5184140"/>
          </a:xfrm>
        </p:grpSpPr>
        <p:sp>
          <p:nvSpPr>
            <p:cNvPr id="35" name="Freeform 3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2769249" y="1028700"/>
            <a:ext cx="4243451" cy="8396397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17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054373" y="4193118"/>
            <a:ext cx="7708545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กำหนดเป้าหมาย</a:t>
            </a:r>
          </a:p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การใช้งานภายในแอป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2769249" y="1028700"/>
            <a:ext cx="4243451" cy="8396397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8027886" y="4193118"/>
            <a:ext cx="8606984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สรุปผลการประเมิน</a:t>
            </a:r>
          </a:p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ความเสี่ยงภาวะเมตาบอลิก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482472" y="1768487"/>
            <a:ext cx="3613055" cy="7149050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5530945" y="1755344"/>
            <a:ext cx="3613055" cy="7149050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34" name="Freeform 34"/>
          <p:cNvSpPr/>
          <p:nvPr/>
        </p:nvSpPr>
        <p:spPr>
          <a:xfrm>
            <a:off x="10555311" y="2427247"/>
            <a:ext cx="5128326" cy="3592899"/>
          </a:xfrm>
          <a:custGeom>
            <a:avLst/>
            <a:gdLst/>
            <a:ahLst/>
            <a:cxnLst/>
            <a:rect l="l" t="t" r="r" b="b"/>
            <a:pathLst>
              <a:path w="5128326" h="3592899">
                <a:moveTo>
                  <a:pt x="0" y="0"/>
                </a:moveTo>
                <a:lnTo>
                  <a:pt x="5128326" y="0"/>
                </a:lnTo>
                <a:lnTo>
                  <a:pt x="5128326" y="3592899"/>
                </a:lnTo>
                <a:lnTo>
                  <a:pt x="0" y="3592899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9758705" y="6404333"/>
            <a:ext cx="6721538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กำหนดเป้าหมายรายสัปดาห์</a:t>
            </a:r>
          </a:p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โดยสามารถแก้ไขภายหลังได้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20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69249" y="1028700"/>
            <a:ext cx="4243451" cy="8396397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8611871" y="4109720"/>
            <a:ext cx="5598512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เลือกภารกิจตามความสมัครใจ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21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69249" y="1028700"/>
            <a:ext cx="4243451" cy="8396397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427338" y="2979414"/>
            <a:ext cx="4927274" cy="1545545"/>
            <a:chOff x="0" y="0"/>
            <a:chExt cx="1297718" cy="40705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97718" cy="407057"/>
            </a:xfrm>
            <a:custGeom>
              <a:avLst/>
              <a:gdLst/>
              <a:ahLst/>
              <a:cxnLst/>
              <a:rect l="l" t="t" r="r" b="b"/>
              <a:pathLst>
                <a:path w="1297718" h="407057">
                  <a:moveTo>
                    <a:pt x="0" y="0"/>
                  </a:moveTo>
                  <a:lnTo>
                    <a:pt x="1297718" y="0"/>
                  </a:lnTo>
                  <a:lnTo>
                    <a:pt x="1297718" y="407057"/>
                  </a:lnTo>
                  <a:lnTo>
                    <a:pt x="0" y="407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97718" cy="445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8008805" y="3214316"/>
            <a:ext cx="8176846" cy="2739243"/>
          </a:xfrm>
          <a:custGeom>
            <a:avLst/>
            <a:gdLst/>
            <a:ahLst/>
            <a:cxnLst/>
            <a:rect l="l" t="t" r="r" b="b"/>
            <a:pathLst>
              <a:path w="8176846" h="2739243">
                <a:moveTo>
                  <a:pt x="0" y="0"/>
                </a:moveTo>
                <a:lnTo>
                  <a:pt x="8176846" y="0"/>
                </a:lnTo>
                <a:lnTo>
                  <a:pt x="8176846" y="2739244"/>
                </a:lnTo>
                <a:lnTo>
                  <a:pt x="0" y="2739244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8972287" y="6265973"/>
            <a:ext cx="6249880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ผู้ใช้ต้องทำตามกติกาที่แอปกำหนดไว้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22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903330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8072808" y="4109720"/>
            <a:ext cx="7731006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ผู้ใช้กำหนดเป้าหมายย่อยให้ตนเอง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23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903330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696869" y="3608321"/>
            <a:ext cx="4837430" cy="3030554"/>
            <a:chOff x="0" y="0"/>
            <a:chExt cx="1274056" cy="7981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4056" cy="798171"/>
            </a:xfrm>
            <a:custGeom>
              <a:avLst/>
              <a:gdLst/>
              <a:ahLst/>
              <a:cxnLst/>
              <a:rect l="l" t="t" r="r" b="b"/>
              <a:pathLst>
                <a:path w="1274056" h="798171">
                  <a:moveTo>
                    <a:pt x="0" y="0"/>
                  </a:moveTo>
                  <a:lnTo>
                    <a:pt x="1274056" y="0"/>
                  </a:lnTo>
                  <a:lnTo>
                    <a:pt x="1274056" y="798171"/>
                  </a:lnTo>
                  <a:lnTo>
                    <a:pt x="0" y="798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74056" cy="836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0152745" y="2019621"/>
            <a:ext cx="4232391" cy="4619253"/>
          </a:xfrm>
          <a:custGeom>
            <a:avLst/>
            <a:gdLst/>
            <a:ahLst/>
            <a:cxnLst/>
            <a:rect l="l" t="t" r="r" b="b"/>
            <a:pathLst>
              <a:path w="4232391" h="4619253">
                <a:moveTo>
                  <a:pt x="0" y="0"/>
                </a:moveTo>
                <a:lnTo>
                  <a:pt x="4232390" y="0"/>
                </a:lnTo>
                <a:lnTo>
                  <a:pt x="4232390" y="4619253"/>
                </a:lnTo>
                <a:lnTo>
                  <a:pt x="0" y="461925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8104156" y="6866414"/>
            <a:ext cx="8329569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หน้าต่างจะเปลี่ยนสถานะ </a:t>
            </a:r>
          </a:p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เมื่อผู้ใช้ทำภารกิจในแต่ละวัน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24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344827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4586299" y="833088"/>
            <a:ext cx="4356875" cy="8620825"/>
            <a:chOff x="0" y="0"/>
            <a:chExt cx="2620010" cy="5184140"/>
          </a:xfrm>
        </p:grpSpPr>
        <p:sp>
          <p:nvSpPr>
            <p:cNvPr id="30" name="Freeform 3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4231534" y="1964037"/>
            <a:ext cx="4912466" cy="3447106"/>
            <a:chOff x="0" y="0"/>
            <a:chExt cx="1293818" cy="9078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93818" cy="907880"/>
            </a:xfrm>
            <a:custGeom>
              <a:avLst/>
              <a:gdLst/>
              <a:ahLst/>
              <a:cxnLst/>
              <a:rect l="l" t="t" r="r" b="b"/>
              <a:pathLst>
                <a:path w="1293818" h="907880">
                  <a:moveTo>
                    <a:pt x="0" y="0"/>
                  </a:moveTo>
                  <a:lnTo>
                    <a:pt x="1293818" y="0"/>
                  </a:lnTo>
                  <a:lnTo>
                    <a:pt x="1293818" y="907880"/>
                  </a:lnTo>
                  <a:lnTo>
                    <a:pt x="0" y="907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293818" cy="945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95176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25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0552195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2903330" y="833088"/>
            <a:ext cx="4356875" cy="8620825"/>
            <a:chOff x="0" y="0"/>
            <a:chExt cx="2620010" cy="5184140"/>
          </a:xfrm>
        </p:grpSpPr>
        <p:sp>
          <p:nvSpPr>
            <p:cNvPr id="30" name="Freeform 3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39" name="AutoShape 39"/>
          <p:cNvSpPr/>
          <p:nvPr/>
        </p:nvSpPr>
        <p:spPr>
          <a:xfrm flipV="1">
            <a:off x="7435574" y="5655657"/>
            <a:ext cx="2945171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0" name="TextBox 40"/>
          <p:cNvSpPr txBox="1"/>
          <p:nvPr/>
        </p:nvSpPr>
        <p:spPr>
          <a:xfrm>
            <a:off x="7529535" y="4502755"/>
            <a:ext cx="275724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สัปดาห์ถัดมา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26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427338" y="2867109"/>
            <a:ext cx="4927274" cy="2758437"/>
            <a:chOff x="0" y="0"/>
            <a:chExt cx="1297718" cy="72650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97718" cy="726502"/>
            </a:xfrm>
            <a:custGeom>
              <a:avLst/>
              <a:gdLst/>
              <a:ahLst/>
              <a:cxnLst/>
              <a:rect l="l" t="t" r="r" b="b"/>
              <a:pathLst>
                <a:path w="1297718" h="726502">
                  <a:moveTo>
                    <a:pt x="0" y="0"/>
                  </a:moveTo>
                  <a:lnTo>
                    <a:pt x="1297718" y="0"/>
                  </a:lnTo>
                  <a:lnTo>
                    <a:pt x="1297718" y="726502"/>
                  </a:lnTo>
                  <a:lnTo>
                    <a:pt x="0" y="726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97718" cy="764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140191" y="3587197"/>
            <a:ext cx="7802547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ระบบทำการแนะนำภารกิจใหม่ จากที่ผู้ใช้เลือกระดับความรู้สึกของภารกิจ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27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7760954" y="3948739"/>
            <a:ext cx="7900080" cy="2646527"/>
          </a:xfrm>
          <a:custGeom>
            <a:avLst/>
            <a:gdLst/>
            <a:ahLst/>
            <a:cxnLst/>
            <a:rect l="l" t="t" r="r" b="b"/>
            <a:pathLst>
              <a:path w="7900080" h="2646527">
                <a:moveTo>
                  <a:pt x="0" y="0"/>
                </a:moveTo>
                <a:lnTo>
                  <a:pt x="7900080" y="0"/>
                </a:lnTo>
                <a:lnTo>
                  <a:pt x="7900080" y="2646527"/>
                </a:lnTo>
                <a:lnTo>
                  <a:pt x="0" y="264652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3815048" y="4229698"/>
            <a:ext cx="2037847" cy="1433240"/>
            <a:chOff x="0" y="0"/>
            <a:chExt cx="536717" cy="37747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6717" cy="377479"/>
            </a:xfrm>
            <a:custGeom>
              <a:avLst/>
              <a:gdLst/>
              <a:ahLst/>
              <a:cxnLst/>
              <a:rect l="l" t="t" r="r" b="b"/>
              <a:pathLst>
                <a:path w="536717" h="377479">
                  <a:moveTo>
                    <a:pt x="0" y="0"/>
                  </a:moveTo>
                  <a:lnTo>
                    <a:pt x="536717" y="0"/>
                  </a:lnTo>
                  <a:lnTo>
                    <a:pt x="536717" y="377479"/>
                  </a:lnTo>
                  <a:lnTo>
                    <a:pt x="0" y="377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36717" cy="415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919650" y="7031536"/>
            <a:ext cx="763797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ได้รับรางวัลตอบแทน เมื่อทำภารกิจสำเร็จ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8021677" y="4109720"/>
            <a:ext cx="6390855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มีภารกิจให้ผู้ใช้เลือกหลากหลาย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28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29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507417" y="3432419"/>
            <a:ext cx="4767116" cy="1777756"/>
            <a:chOff x="0" y="0"/>
            <a:chExt cx="1255537" cy="4682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5537" cy="468216"/>
            </a:xfrm>
            <a:custGeom>
              <a:avLst/>
              <a:gdLst/>
              <a:ahLst/>
              <a:cxnLst/>
              <a:rect l="l" t="t" r="r" b="b"/>
              <a:pathLst>
                <a:path w="1255537" h="468216">
                  <a:moveTo>
                    <a:pt x="0" y="0"/>
                  </a:moveTo>
                  <a:lnTo>
                    <a:pt x="1255537" y="0"/>
                  </a:lnTo>
                  <a:lnTo>
                    <a:pt x="1255537" y="468216"/>
                  </a:lnTo>
                  <a:lnTo>
                    <a:pt x="0" y="468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55537" cy="50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7987212" y="899763"/>
            <a:ext cx="4356875" cy="8620825"/>
            <a:chOff x="0" y="0"/>
            <a:chExt cx="2620010" cy="5184140"/>
          </a:xfrm>
        </p:grpSpPr>
        <p:sp>
          <p:nvSpPr>
            <p:cNvPr id="33" name="Freeform 3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30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507417" y="6103467"/>
            <a:ext cx="4767116" cy="1777756"/>
            <a:chOff x="0" y="0"/>
            <a:chExt cx="1255537" cy="4682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5537" cy="468216"/>
            </a:xfrm>
            <a:custGeom>
              <a:avLst/>
              <a:gdLst/>
              <a:ahLst/>
              <a:cxnLst/>
              <a:rect l="l" t="t" r="r" b="b"/>
              <a:pathLst>
                <a:path w="1255537" h="468216">
                  <a:moveTo>
                    <a:pt x="0" y="0"/>
                  </a:moveTo>
                  <a:lnTo>
                    <a:pt x="1255537" y="0"/>
                  </a:lnTo>
                  <a:lnTo>
                    <a:pt x="1255537" y="468216"/>
                  </a:lnTo>
                  <a:lnTo>
                    <a:pt x="0" y="468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55537" cy="50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7987212" y="899763"/>
            <a:ext cx="4356875" cy="8620825"/>
            <a:chOff x="0" y="0"/>
            <a:chExt cx="2620010" cy="5184140"/>
          </a:xfrm>
        </p:grpSpPr>
        <p:sp>
          <p:nvSpPr>
            <p:cNvPr id="33" name="Freeform 3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31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915581" y="4109720"/>
            <a:ext cx="8585821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คะแนนที่ได้รับ สามารถนำไปแลกของรางวัล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959429" y="3614420"/>
            <a:ext cx="7993879" cy="294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ผู้ใช้ได้รับเหรียญรางวัล เมื่อทำภารกิจสำเร็จตามเงื่อนไขที่กำหนด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2252138" y="833088"/>
            <a:ext cx="4356875" cy="8620825"/>
            <a:chOff x="0" y="0"/>
            <a:chExt cx="2620010" cy="5184140"/>
          </a:xfrm>
        </p:grpSpPr>
        <p:sp>
          <p:nvSpPr>
            <p:cNvPr id="21" name="Freeform 2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33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9209168" y="1622409"/>
            <a:ext cx="4246692" cy="4662867"/>
          </a:xfrm>
          <a:custGeom>
            <a:avLst/>
            <a:gdLst/>
            <a:ahLst/>
            <a:cxnLst/>
            <a:rect l="l" t="t" r="r" b="b"/>
            <a:pathLst>
              <a:path w="4246692" h="4662867">
                <a:moveTo>
                  <a:pt x="0" y="0"/>
                </a:moveTo>
                <a:lnTo>
                  <a:pt x="4246692" y="0"/>
                </a:lnTo>
                <a:lnTo>
                  <a:pt x="4246692" y="4662867"/>
                </a:lnTo>
                <a:lnTo>
                  <a:pt x="0" y="466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072808" y="6720417"/>
            <a:ext cx="6519412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ผู้ใช้สามารถเพิ่มเพื่อนภายในแอปได้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34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8072808" y="4109720"/>
            <a:ext cx="7878687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เพิ่มความสนุกสนานด้วย</a:t>
            </a:r>
          </a:p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การแจ้งเตือนภายในแอป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35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9441300" y="1622409"/>
            <a:ext cx="4572158" cy="4725745"/>
          </a:xfrm>
          <a:custGeom>
            <a:avLst/>
            <a:gdLst/>
            <a:ahLst/>
            <a:cxnLst/>
            <a:rect l="l" t="t" r="r" b="b"/>
            <a:pathLst>
              <a:path w="4572158" h="4725745">
                <a:moveTo>
                  <a:pt x="0" y="0"/>
                </a:moveTo>
                <a:lnTo>
                  <a:pt x="4572158" y="0"/>
                </a:lnTo>
                <a:lnTo>
                  <a:pt x="4572158" y="4725744"/>
                </a:lnTo>
                <a:lnTo>
                  <a:pt x="0" y="4725744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7829274" y="6694431"/>
            <a:ext cx="809329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แข่งขันกับผู้ใช้คนอื่น ๆ และสรุปอันดับที่ได้รับในสัปดาห์ที่ผ่านมา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36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977906" y="4452927"/>
            <a:ext cx="8070517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เช็คอินในแต่ละวัน เพื่อสะสมคะแนนมากขึ้น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507417" y="3782693"/>
            <a:ext cx="4767116" cy="1704014"/>
            <a:chOff x="0" y="0"/>
            <a:chExt cx="1255537" cy="44879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5537" cy="448794"/>
            </a:xfrm>
            <a:custGeom>
              <a:avLst/>
              <a:gdLst/>
              <a:ahLst/>
              <a:cxnLst/>
              <a:rect l="l" t="t" r="r" b="b"/>
              <a:pathLst>
                <a:path w="1255537" h="448794">
                  <a:moveTo>
                    <a:pt x="0" y="0"/>
                  </a:moveTo>
                  <a:lnTo>
                    <a:pt x="1255537" y="0"/>
                  </a:lnTo>
                  <a:lnTo>
                    <a:pt x="1255537" y="448794"/>
                  </a:lnTo>
                  <a:lnTo>
                    <a:pt x="0" y="4487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55537" cy="486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37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933521" y="4109720"/>
            <a:ext cx="7351766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เพิ่มความรู้เกี่ยวกับภาวะเมตาบอลิก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38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712538" y="833088"/>
            <a:ext cx="4356875" cy="862082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824440" y="4109720"/>
            <a:ext cx="8070517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บันทึกสุขภาพเพื่อเก็บข้อมูลในการบรรลุเป้าหมาย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39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5340134" y="855011"/>
            <a:ext cx="3691791" cy="7304842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4299516" y="8295640"/>
            <a:ext cx="997379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สรุปผล และเก็บข้อมูลทุกสัปดาห์</a:t>
            </a:r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9256075" y="855011"/>
            <a:ext cx="3691791" cy="7304842"/>
            <a:chOff x="0" y="0"/>
            <a:chExt cx="2620010" cy="5184140"/>
          </a:xfrm>
        </p:grpSpPr>
        <p:sp>
          <p:nvSpPr>
            <p:cNvPr id="31" name="Freeform 3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40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286415" y="855011"/>
            <a:ext cx="3691791" cy="7304842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2479932" y="8295640"/>
            <a:ext cx="1332813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แจ้งเตือนให้ผู้ใช้อัปเดตข้อมูลทุกเดือน</a:t>
            </a:r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5309794" y="855011"/>
            <a:ext cx="3691791" cy="7304842"/>
            <a:chOff x="0" y="0"/>
            <a:chExt cx="2620010" cy="5184140"/>
          </a:xfrm>
        </p:grpSpPr>
        <p:sp>
          <p:nvSpPr>
            <p:cNvPr id="31" name="Freeform 3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41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729569" y="1337399"/>
            <a:ext cx="10828862" cy="6211304"/>
            <a:chOff x="0" y="0"/>
            <a:chExt cx="7981950" cy="4578350"/>
          </a:xfrm>
        </p:grpSpPr>
        <p:sp>
          <p:nvSpPr>
            <p:cNvPr id="20" name="Freeform 20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2830685" y="3565388"/>
            <a:ext cx="4156197" cy="4346350"/>
          </a:xfrm>
          <a:custGeom>
            <a:avLst/>
            <a:gdLst/>
            <a:ahLst/>
            <a:cxnLst/>
            <a:rect l="l" t="t" r="r" b="b"/>
            <a:pathLst>
              <a:path w="4156197" h="4346350">
                <a:moveTo>
                  <a:pt x="0" y="0"/>
                </a:moveTo>
                <a:lnTo>
                  <a:pt x="4156197" y="0"/>
                </a:lnTo>
                <a:lnTo>
                  <a:pt x="4156197" y="4346350"/>
                </a:lnTo>
                <a:lnTo>
                  <a:pt x="0" y="434635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479932" y="8295640"/>
            <a:ext cx="1332813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ผู้ดูแลสามารถเพิ่มข้อมูลต่าง ๆ จากเว็บไซต์</a:t>
            </a:r>
          </a:p>
        </p:txBody>
      </p:sp>
      <p:sp>
        <p:nvSpPr>
          <p:cNvPr id="27" name="TextBox 27"/>
          <p:cNvSpPr txBox="1"/>
          <p:nvPr/>
        </p:nvSpPr>
        <p:spPr>
          <a:xfrm rot="-430486">
            <a:off x="2427486" y="3637287"/>
            <a:ext cx="259583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ภารกิจ</a:t>
            </a:r>
          </a:p>
        </p:txBody>
      </p:sp>
      <p:sp>
        <p:nvSpPr>
          <p:cNvPr id="28" name="TextBox 28"/>
          <p:cNvSpPr txBox="1"/>
          <p:nvPr/>
        </p:nvSpPr>
        <p:spPr>
          <a:xfrm rot="370966">
            <a:off x="1404381" y="2504894"/>
            <a:ext cx="259583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บทความ</a:t>
            </a:r>
          </a:p>
        </p:txBody>
      </p:sp>
      <p:sp>
        <p:nvSpPr>
          <p:cNvPr id="29" name="TextBox 29"/>
          <p:cNvSpPr txBox="1"/>
          <p:nvPr/>
        </p:nvSpPr>
        <p:spPr>
          <a:xfrm rot="-90226">
            <a:off x="2666463" y="5961312"/>
            <a:ext cx="259583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ความสำเร็จ</a:t>
            </a:r>
          </a:p>
        </p:txBody>
      </p:sp>
      <p:sp>
        <p:nvSpPr>
          <p:cNvPr id="30" name="TextBox 30"/>
          <p:cNvSpPr txBox="1"/>
          <p:nvPr/>
        </p:nvSpPr>
        <p:spPr>
          <a:xfrm rot="244353">
            <a:off x="1046304" y="4803667"/>
            <a:ext cx="330954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ของรางวัล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42</a:t>
              </a: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729569" y="1337399"/>
            <a:ext cx="10828862" cy="6211304"/>
            <a:chOff x="0" y="0"/>
            <a:chExt cx="7981950" cy="4578350"/>
          </a:xfrm>
        </p:grpSpPr>
        <p:sp>
          <p:nvSpPr>
            <p:cNvPr id="20" name="Freeform 20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2479932" y="8200390"/>
            <a:ext cx="1332813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FFFD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ผู้ดูแลสามารถดูรายละเอียดข้อมูลผู้ใช้ได้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55461" y="476726"/>
            <a:ext cx="16204883" cy="9333548"/>
            <a:chOff x="0" y="0"/>
            <a:chExt cx="3839266" cy="22113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39266" cy="2211307"/>
            </a:xfrm>
            <a:custGeom>
              <a:avLst/>
              <a:gdLst/>
              <a:ahLst/>
              <a:cxnLst/>
              <a:rect l="l" t="t" r="r" b="b"/>
              <a:pathLst>
                <a:path w="3839266" h="2211307">
                  <a:moveTo>
                    <a:pt x="23888" y="0"/>
                  </a:moveTo>
                  <a:lnTo>
                    <a:pt x="3815378" y="0"/>
                  </a:lnTo>
                  <a:cubicBezTo>
                    <a:pt x="3821714" y="0"/>
                    <a:pt x="3827789" y="2517"/>
                    <a:pt x="3832269" y="6997"/>
                  </a:cubicBezTo>
                  <a:cubicBezTo>
                    <a:pt x="3836749" y="11476"/>
                    <a:pt x="3839266" y="17552"/>
                    <a:pt x="3839266" y="23888"/>
                  </a:cubicBezTo>
                  <a:lnTo>
                    <a:pt x="3839266" y="2187419"/>
                  </a:lnTo>
                  <a:cubicBezTo>
                    <a:pt x="3839266" y="2193755"/>
                    <a:pt x="3836749" y="2199831"/>
                    <a:pt x="3832269" y="2204310"/>
                  </a:cubicBezTo>
                  <a:cubicBezTo>
                    <a:pt x="3827789" y="2208790"/>
                    <a:pt x="3821714" y="2211307"/>
                    <a:pt x="3815378" y="2211307"/>
                  </a:cubicBezTo>
                  <a:lnTo>
                    <a:pt x="23888" y="2211307"/>
                  </a:lnTo>
                  <a:cubicBezTo>
                    <a:pt x="17552" y="2211307"/>
                    <a:pt x="11476" y="2208790"/>
                    <a:pt x="6997" y="2204310"/>
                  </a:cubicBezTo>
                  <a:cubicBezTo>
                    <a:pt x="2517" y="2199831"/>
                    <a:pt x="0" y="2193755"/>
                    <a:pt x="0" y="2187419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839266" cy="2249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89448" y="3431567"/>
            <a:ext cx="3208913" cy="2891313"/>
            <a:chOff x="0" y="0"/>
            <a:chExt cx="1693662" cy="15260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93662" cy="1526033"/>
            </a:xfrm>
            <a:custGeom>
              <a:avLst/>
              <a:gdLst/>
              <a:ahLst/>
              <a:cxnLst/>
              <a:rect l="l" t="t" r="r" b="b"/>
              <a:pathLst>
                <a:path w="1693662" h="1526033">
                  <a:moveTo>
                    <a:pt x="55490" y="0"/>
                  </a:moveTo>
                  <a:lnTo>
                    <a:pt x="1638171" y="0"/>
                  </a:lnTo>
                  <a:cubicBezTo>
                    <a:pt x="1668818" y="0"/>
                    <a:pt x="1693662" y="24844"/>
                    <a:pt x="1693662" y="55490"/>
                  </a:cubicBezTo>
                  <a:lnTo>
                    <a:pt x="1693662" y="1470542"/>
                  </a:lnTo>
                  <a:cubicBezTo>
                    <a:pt x="1693662" y="1501189"/>
                    <a:pt x="1668818" y="1526033"/>
                    <a:pt x="1638171" y="1526033"/>
                  </a:cubicBezTo>
                  <a:lnTo>
                    <a:pt x="55490" y="1526033"/>
                  </a:lnTo>
                  <a:cubicBezTo>
                    <a:pt x="24844" y="1526033"/>
                    <a:pt x="0" y="1501189"/>
                    <a:pt x="0" y="1470542"/>
                  </a:cubicBezTo>
                  <a:lnTo>
                    <a:pt x="0" y="55490"/>
                  </a:lnTo>
                  <a:cubicBezTo>
                    <a:pt x="0" y="24844"/>
                    <a:pt x="24844" y="0"/>
                    <a:pt x="55490" y="0"/>
                  </a:cubicBezTo>
                  <a:close/>
                </a:path>
              </a:pathLst>
            </a:custGeom>
            <a:solidFill>
              <a:srgbClr val="26CBB8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693662" cy="1573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50956" y="3591029"/>
            <a:ext cx="2885897" cy="2532281"/>
            <a:chOff x="0" y="0"/>
            <a:chExt cx="1523174" cy="13365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3174" cy="1336536"/>
            </a:xfrm>
            <a:custGeom>
              <a:avLst/>
              <a:gdLst/>
              <a:ahLst/>
              <a:cxnLst/>
              <a:rect l="l" t="t" r="r" b="b"/>
              <a:pathLst>
                <a:path w="1523174" h="1336536">
                  <a:moveTo>
                    <a:pt x="61701" y="0"/>
                  </a:moveTo>
                  <a:lnTo>
                    <a:pt x="1461473" y="0"/>
                  </a:lnTo>
                  <a:cubicBezTo>
                    <a:pt x="1495550" y="0"/>
                    <a:pt x="1523174" y="27625"/>
                    <a:pt x="1523174" y="61701"/>
                  </a:cubicBezTo>
                  <a:lnTo>
                    <a:pt x="1523174" y="1274834"/>
                  </a:lnTo>
                  <a:cubicBezTo>
                    <a:pt x="1523174" y="1308911"/>
                    <a:pt x="1495550" y="1336536"/>
                    <a:pt x="1461473" y="1336536"/>
                  </a:cubicBezTo>
                  <a:lnTo>
                    <a:pt x="61701" y="1336536"/>
                  </a:lnTo>
                  <a:cubicBezTo>
                    <a:pt x="27625" y="1336536"/>
                    <a:pt x="0" y="1308911"/>
                    <a:pt x="0" y="1274834"/>
                  </a:cubicBezTo>
                  <a:lnTo>
                    <a:pt x="0" y="61701"/>
                  </a:lnTo>
                  <a:cubicBezTo>
                    <a:pt x="0" y="27625"/>
                    <a:pt x="27625" y="0"/>
                    <a:pt x="6170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523174" cy="1384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152573" y="2757081"/>
            <a:ext cx="1682663" cy="168266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CBB8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3420213" y="3017337"/>
            <a:ext cx="1147383" cy="1147383"/>
          </a:xfrm>
          <a:custGeom>
            <a:avLst/>
            <a:gdLst/>
            <a:ahLst/>
            <a:cxnLst/>
            <a:rect l="l" t="t" r="r" b="b"/>
            <a:pathLst>
              <a:path w="1147383" h="1147383">
                <a:moveTo>
                  <a:pt x="0" y="0"/>
                </a:moveTo>
                <a:lnTo>
                  <a:pt x="1147383" y="0"/>
                </a:lnTo>
                <a:lnTo>
                  <a:pt x="1147383" y="1147383"/>
                </a:lnTo>
                <a:lnTo>
                  <a:pt x="0" y="1147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2721422" y="4643754"/>
            <a:ext cx="2544965" cy="93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sz="265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เป้าหมาย </a:t>
            </a:r>
          </a:p>
          <a:p>
            <a:pPr marL="0" lvl="0" indent="0" algn="ctr">
              <a:lnSpc>
                <a:spcPts val="3714"/>
              </a:lnSpc>
              <a:spcBef>
                <a:spcPct val="0"/>
              </a:spcBef>
            </a:pPr>
            <a:r>
              <a:rPr lang="en-US" sz="265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(Goal)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822845" y="3431567"/>
            <a:ext cx="3208913" cy="2891313"/>
            <a:chOff x="0" y="0"/>
            <a:chExt cx="1693662" cy="152603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93662" cy="1526033"/>
            </a:xfrm>
            <a:custGeom>
              <a:avLst/>
              <a:gdLst/>
              <a:ahLst/>
              <a:cxnLst/>
              <a:rect l="l" t="t" r="r" b="b"/>
              <a:pathLst>
                <a:path w="1693662" h="1526033">
                  <a:moveTo>
                    <a:pt x="55490" y="0"/>
                  </a:moveTo>
                  <a:lnTo>
                    <a:pt x="1638171" y="0"/>
                  </a:lnTo>
                  <a:cubicBezTo>
                    <a:pt x="1668818" y="0"/>
                    <a:pt x="1693662" y="24844"/>
                    <a:pt x="1693662" y="55490"/>
                  </a:cubicBezTo>
                  <a:lnTo>
                    <a:pt x="1693662" y="1470542"/>
                  </a:lnTo>
                  <a:cubicBezTo>
                    <a:pt x="1693662" y="1501189"/>
                    <a:pt x="1668818" y="1526033"/>
                    <a:pt x="1638171" y="1526033"/>
                  </a:cubicBezTo>
                  <a:lnTo>
                    <a:pt x="55490" y="1526033"/>
                  </a:lnTo>
                  <a:cubicBezTo>
                    <a:pt x="24844" y="1526033"/>
                    <a:pt x="0" y="1501189"/>
                    <a:pt x="0" y="1470542"/>
                  </a:cubicBezTo>
                  <a:lnTo>
                    <a:pt x="0" y="55490"/>
                  </a:lnTo>
                  <a:cubicBezTo>
                    <a:pt x="0" y="24844"/>
                    <a:pt x="24844" y="0"/>
                    <a:pt x="55490" y="0"/>
                  </a:cubicBezTo>
                  <a:close/>
                </a:path>
              </a:pathLst>
            </a:custGeom>
            <a:solidFill>
              <a:srgbClr val="3972F0"/>
            </a:solidFill>
            <a:ln cap="rnd">
              <a:noFill/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693662" cy="1564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84353" y="3591029"/>
            <a:ext cx="2885897" cy="2532281"/>
            <a:chOff x="0" y="0"/>
            <a:chExt cx="1523174" cy="13365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23174" cy="1336536"/>
            </a:xfrm>
            <a:custGeom>
              <a:avLst/>
              <a:gdLst/>
              <a:ahLst/>
              <a:cxnLst/>
              <a:rect l="l" t="t" r="r" b="b"/>
              <a:pathLst>
                <a:path w="1523174" h="1336536">
                  <a:moveTo>
                    <a:pt x="61701" y="0"/>
                  </a:moveTo>
                  <a:lnTo>
                    <a:pt x="1461473" y="0"/>
                  </a:lnTo>
                  <a:cubicBezTo>
                    <a:pt x="1495550" y="0"/>
                    <a:pt x="1523174" y="27625"/>
                    <a:pt x="1523174" y="61701"/>
                  </a:cubicBezTo>
                  <a:lnTo>
                    <a:pt x="1523174" y="1274834"/>
                  </a:lnTo>
                  <a:cubicBezTo>
                    <a:pt x="1523174" y="1308911"/>
                    <a:pt x="1495550" y="1336536"/>
                    <a:pt x="1461473" y="1336536"/>
                  </a:cubicBezTo>
                  <a:lnTo>
                    <a:pt x="61701" y="1336536"/>
                  </a:lnTo>
                  <a:cubicBezTo>
                    <a:pt x="27625" y="1336536"/>
                    <a:pt x="0" y="1308911"/>
                    <a:pt x="0" y="1274834"/>
                  </a:cubicBezTo>
                  <a:lnTo>
                    <a:pt x="0" y="61701"/>
                  </a:lnTo>
                  <a:cubicBezTo>
                    <a:pt x="0" y="27625"/>
                    <a:pt x="27625" y="0"/>
                    <a:pt x="6170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523174" cy="137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85970" y="2757081"/>
            <a:ext cx="1682663" cy="168266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2F0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7028929" y="3128916"/>
            <a:ext cx="781272" cy="972172"/>
          </a:xfrm>
          <a:custGeom>
            <a:avLst/>
            <a:gdLst/>
            <a:ahLst/>
            <a:cxnLst/>
            <a:rect l="l" t="t" r="r" b="b"/>
            <a:pathLst>
              <a:path w="781272" h="972172">
                <a:moveTo>
                  <a:pt x="0" y="0"/>
                </a:moveTo>
                <a:lnTo>
                  <a:pt x="781273" y="0"/>
                </a:lnTo>
                <a:lnTo>
                  <a:pt x="781273" y="972171"/>
                </a:lnTo>
                <a:lnTo>
                  <a:pt x="0" y="97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6154819" y="4643754"/>
            <a:ext cx="2544965" cy="93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sz="265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กติกา</a:t>
            </a:r>
          </a:p>
          <a:p>
            <a:pPr marL="0" lvl="0" indent="0" algn="ctr">
              <a:lnSpc>
                <a:spcPts val="3714"/>
              </a:lnSpc>
              <a:spcBef>
                <a:spcPct val="0"/>
              </a:spcBef>
            </a:pPr>
            <a:r>
              <a:rPr lang="en-US" sz="265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(Rule)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256242" y="3431567"/>
            <a:ext cx="3208913" cy="2891313"/>
            <a:chOff x="0" y="0"/>
            <a:chExt cx="1693662" cy="152603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93662" cy="1526033"/>
            </a:xfrm>
            <a:custGeom>
              <a:avLst/>
              <a:gdLst/>
              <a:ahLst/>
              <a:cxnLst/>
              <a:rect l="l" t="t" r="r" b="b"/>
              <a:pathLst>
                <a:path w="1693662" h="1526033">
                  <a:moveTo>
                    <a:pt x="55490" y="0"/>
                  </a:moveTo>
                  <a:lnTo>
                    <a:pt x="1638171" y="0"/>
                  </a:lnTo>
                  <a:cubicBezTo>
                    <a:pt x="1668818" y="0"/>
                    <a:pt x="1693662" y="24844"/>
                    <a:pt x="1693662" y="55490"/>
                  </a:cubicBezTo>
                  <a:lnTo>
                    <a:pt x="1693662" y="1470542"/>
                  </a:lnTo>
                  <a:cubicBezTo>
                    <a:pt x="1693662" y="1501189"/>
                    <a:pt x="1668818" y="1526033"/>
                    <a:pt x="1638171" y="1526033"/>
                  </a:cubicBezTo>
                  <a:lnTo>
                    <a:pt x="55490" y="1526033"/>
                  </a:lnTo>
                  <a:cubicBezTo>
                    <a:pt x="24844" y="1526033"/>
                    <a:pt x="0" y="1501189"/>
                    <a:pt x="0" y="1470542"/>
                  </a:cubicBezTo>
                  <a:lnTo>
                    <a:pt x="0" y="55490"/>
                  </a:lnTo>
                  <a:cubicBezTo>
                    <a:pt x="0" y="24844"/>
                    <a:pt x="24844" y="0"/>
                    <a:pt x="55490" y="0"/>
                  </a:cubicBezTo>
                  <a:close/>
                </a:path>
              </a:pathLst>
            </a:custGeom>
            <a:solidFill>
              <a:srgbClr val="26CBB8"/>
            </a:solidFill>
            <a:ln cap="rnd">
              <a:noFill/>
              <a:prstDash val="solid"/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693662" cy="1564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17750" y="3591029"/>
            <a:ext cx="2885897" cy="2532281"/>
            <a:chOff x="0" y="0"/>
            <a:chExt cx="1523174" cy="133653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23174" cy="1336536"/>
            </a:xfrm>
            <a:custGeom>
              <a:avLst/>
              <a:gdLst/>
              <a:ahLst/>
              <a:cxnLst/>
              <a:rect l="l" t="t" r="r" b="b"/>
              <a:pathLst>
                <a:path w="1523174" h="1336536">
                  <a:moveTo>
                    <a:pt x="61701" y="0"/>
                  </a:moveTo>
                  <a:lnTo>
                    <a:pt x="1461473" y="0"/>
                  </a:lnTo>
                  <a:cubicBezTo>
                    <a:pt x="1495550" y="0"/>
                    <a:pt x="1523174" y="27625"/>
                    <a:pt x="1523174" y="61701"/>
                  </a:cubicBezTo>
                  <a:lnTo>
                    <a:pt x="1523174" y="1274834"/>
                  </a:lnTo>
                  <a:cubicBezTo>
                    <a:pt x="1523174" y="1308911"/>
                    <a:pt x="1495550" y="1336536"/>
                    <a:pt x="1461473" y="1336536"/>
                  </a:cubicBezTo>
                  <a:lnTo>
                    <a:pt x="61701" y="1336536"/>
                  </a:lnTo>
                  <a:cubicBezTo>
                    <a:pt x="27625" y="1336536"/>
                    <a:pt x="0" y="1308911"/>
                    <a:pt x="0" y="1274834"/>
                  </a:cubicBezTo>
                  <a:lnTo>
                    <a:pt x="0" y="61701"/>
                  </a:lnTo>
                  <a:cubicBezTo>
                    <a:pt x="0" y="27625"/>
                    <a:pt x="27625" y="0"/>
                    <a:pt x="6170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523174" cy="137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019367" y="2757081"/>
            <a:ext cx="1682663" cy="1682663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CBB8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10284034" y="3128916"/>
            <a:ext cx="1117196" cy="924226"/>
          </a:xfrm>
          <a:custGeom>
            <a:avLst/>
            <a:gdLst/>
            <a:ahLst/>
            <a:cxnLst/>
            <a:rect l="l" t="t" r="r" b="b"/>
            <a:pathLst>
              <a:path w="1117196" h="924226">
                <a:moveTo>
                  <a:pt x="0" y="0"/>
                </a:moveTo>
                <a:lnTo>
                  <a:pt x="1117196" y="0"/>
                </a:lnTo>
                <a:lnTo>
                  <a:pt x="1117196" y="924226"/>
                </a:lnTo>
                <a:lnTo>
                  <a:pt x="0" y="9242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9588216" y="4643754"/>
            <a:ext cx="2544965" cy="93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sz="265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รางวัล</a:t>
            </a:r>
          </a:p>
          <a:p>
            <a:pPr marL="0" lvl="0" indent="0" algn="ctr">
              <a:lnSpc>
                <a:spcPts val="3714"/>
              </a:lnSpc>
              <a:spcBef>
                <a:spcPct val="0"/>
              </a:spcBef>
            </a:pPr>
            <a:r>
              <a:rPr lang="en-US" sz="265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(Reward)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2689639" y="3431567"/>
            <a:ext cx="3208913" cy="2891313"/>
            <a:chOff x="0" y="0"/>
            <a:chExt cx="1693662" cy="152603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693662" cy="1526033"/>
            </a:xfrm>
            <a:custGeom>
              <a:avLst/>
              <a:gdLst/>
              <a:ahLst/>
              <a:cxnLst/>
              <a:rect l="l" t="t" r="r" b="b"/>
              <a:pathLst>
                <a:path w="1693662" h="1526033">
                  <a:moveTo>
                    <a:pt x="55490" y="0"/>
                  </a:moveTo>
                  <a:lnTo>
                    <a:pt x="1638171" y="0"/>
                  </a:lnTo>
                  <a:cubicBezTo>
                    <a:pt x="1668818" y="0"/>
                    <a:pt x="1693662" y="24844"/>
                    <a:pt x="1693662" y="55490"/>
                  </a:cubicBezTo>
                  <a:lnTo>
                    <a:pt x="1693662" y="1470542"/>
                  </a:lnTo>
                  <a:cubicBezTo>
                    <a:pt x="1693662" y="1501189"/>
                    <a:pt x="1668818" y="1526033"/>
                    <a:pt x="1638171" y="1526033"/>
                  </a:cubicBezTo>
                  <a:lnTo>
                    <a:pt x="55490" y="1526033"/>
                  </a:lnTo>
                  <a:cubicBezTo>
                    <a:pt x="24844" y="1526033"/>
                    <a:pt x="0" y="1501189"/>
                    <a:pt x="0" y="1470542"/>
                  </a:cubicBezTo>
                  <a:lnTo>
                    <a:pt x="0" y="55490"/>
                  </a:lnTo>
                  <a:cubicBezTo>
                    <a:pt x="0" y="24844"/>
                    <a:pt x="24844" y="0"/>
                    <a:pt x="55490" y="0"/>
                  </a:cubicBezTo>
                  <a:close/>
                </a:path>
              </a:pathLst>
            </a:custGeom>
            <a:solidFill>
              <a:srgbClr val="3972F0"/>
            </a:solidFill>
            <a:ln cap="rnd">
              <a:noFill/>
              <a:prstDash val="solid"/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1693662" cy="1573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851147" y="3591029"/>
            <a:ext cx="2885897" cy="2532281"/>
            <a:chOff x="0" y="0"/>
            <a:chExt cx="1523174" cy="133653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523174" cy="1336536"/>
            </a:xfrm>
            <a:custGeom>
              <a:avLst/>
              <a:gdLst/>
              <a:ahLst/>
              <a:cxnLst/>
              <a:rect l="l" t="t" r="r" b="b"/>
              <a:pathLst>
                <a:path w="1523174" h="1336536">
                  <a:moveTo>
                    <a:pt x="61701" y="0"/>
                  </a:moveTo>
                  <a:lnTo>
                    <a:pt x="1461473" y="0"/>
                  </a:lnTo>
                  <a:cubicBezTo>
                    <a:pt x="1495550" y="0"/>
                    <a:pt x="1523174" y="27625"/>
                    <a:pt x="1523174" y="61701"/>
                  </a:cubicBezTo>
                  <a:lnTo>
                    <a:pt x="1523174" y="1274834"/>
                  </a:lnTo>
                  <a:cubicBezTo>
                    <a:pt x="1523174" y="1308911"/>
                    <a:pt x="1495550" y="1336536"/>
                    <a:pt x="1461473" y="1336536"/>
                  </a:cubicBezTo>
                  <a:lnTo>
                    <a:pt x="61701" y="1336536"/>
                  </a:lnTo>
                  <a:cubicBezTo>
                    <a:pt x="27625" y="1336536"/>
                    <a:pt x="0" y="1308911"/>
                    <a:pt x="0" y="1274834"/>
                  </a:cubicBezTo>
                  <a:lnTo>
                    <a:pt x="0" y="61701"/>
                  </a:lnTo>
                  <a:cubicBezTo>
                    <a:pt x="0" y="27625"/>
                    <a:pt x="27625" y="0"/>
                    <a:pt x="6170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1523174" cy="13936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452764" y="2757081"/>
            <a:ext cx="1682663" cy="1682663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2F0"/>
            </a:solidFill>
            <a:ln cap="sq">
              <a:noFill/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61" name="Freeform 61"/>
          <p:cNvSpPr/>
          <p:nvPr/>
        </p:nvSpPr>
        <p:spPr>
          <a:xfrm>
            <a:off x="13780276" y="3128916"/>
            <a:ext cx="1074891" cy="1035804"/>
          </a:xfrm>
          <a:custGeom>
            <a:avLst/>
            <a:gdLst/>
            <a:ahLst/>
            <a:cxnLst/>
            <a:rect l="l" t="t" r="r" b="b"/>
            <a:pathLst>
              <a:path w="1074891" h="1035804">
                <a:moveTo>
                  <a:pt x="0" y="0"/>
                </a:moveTo>
                <a:lnTo>
                  <a:pt x="1074891" y="0"/>
                </a:lnTo>
                <a:lnTo>
                  <a:pt x="1074891" y="1035804"/>
                </a:lnTo>
                <a:lnTo>
                  <a:pt x="0" y="10358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13021613" y="4643754"/>
            <a:ext cx="2544965" cy="93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4"/>
              </a:lnSpc>
              <a:spcBef>
                <a:spcPct val="0"/>
              </a:spcBef>
            </a:pPr>
            <a:r>
              <a:rPr lang="en-US" sz="265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ความสมัครใจ (Voluntary)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436453" y="609122"/>
            <a:ext cx="1144290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Gamification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5397126" y="6599106"/>
            <a:ext cx="2432498" cy="2671428"/>
            <a:chOff x="0" y="0"/>
            <a:chExt cx="3243330" cy="3561904"/>
          </a:xfrm>
        </p:grpSpPr>
        <p:grpSp>
          <p:nvGrpSpPr>
            <p:cNvPr id="65" name="Group 65"/>
            <p:cNvGrpSpPr/>
            <p:nvPr/>
          </p:nvGrpSpPr>
          <p:grpSpPr>
            <a:xfrm>
              <a:off x="89192" y="0"/>
              <a:ext cx="3154138" cy="3561904"/>
              <a:chOff x="0" y="0"/>
              <a:chExt cx="1101337" cy="1243717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1101337" cy="1243717"/>
              </a:xfrm>
              <a:custGeom>
                <a:avLst/>
                <a:gdLst/>
                <a:ahLst/>
                <a:cxnLst/>
                <a:rect l="l" t="t" r="r" b="b"/>
                <a:pathLst>
                  <a:path w="1101337" h="1243717">
                    <a:moveTo>
                      <a:pt x="159516" y="0"/>
                    </a:moveTo>
                    <a:lnTo>
                      <a:pt x="941821" y="0"/>
                    </a:lnTo>
                    <a:cubicBezTo>
                      <a:pt x="984127" y="0"/>
                      <a:pt x="1024701" y="16806"/>
                      <a:pt x="1054616" y="46721"/>
                    </a:cubicBezTo>
                    <a:cubicBezTo>
                      <a:pt x="1084531" y="76636"/>
                      <a:pt x="1101337" y="117209"/>
                      <a:pt x="1101337" y="159516"/>
                    </a:cubicBezTo>
                    <a:lnTo>
                      <a:pt x="1101337" y="1084202"/>
                    </a:lnTo>
                    <a:cubicBezTo>
                      <a:pt x="1101337" y="1126508"/>
                      <a:pt x="1084531" y="1167081"/>
                      <a:pt x="1054616" y="1196996"/>
                    </a:cubicBezTo>
                    <a:cubicBezTo>
                      <a:pt x="1024701" y="1226911"/>
                      <a:pt x="984127" y="1243717"/>
                      <a:pt x="941821" y="1243717"/>
                    </a:cubicBezTo>
                    <a:lnTo>
                      <a:pt x="159516" y="1243717"/>
                    </a:lnTo>
                    <a:cubicBezTo>
                      <a:pt x="117209" y="1243717"/>
                      <a:pt x="76636" y="1226911"/>
                      <a:pt x="46721" y="1196996"/>
                    </a:cubicBezTo>
                    <a:cubicBezTo>
                      <a:pt x="16806" y="1167081"/>
                      <a:pt x="0" y="1126508"/>
                      <a:pt x="0" y="1084202"/>
                    </a:cubicBezTo>
                    <a:lnTo>
                      <a:pt x="0" y="159516"/>
                    </a:lnTo>
                    <a:cubicBezTo>
                      <a:pt x="0" y="117209"/>
                      <a:pt x="16806" y="76636"/>
                      <a:pt x="46721" y="46721"/>
                    </a:cubicBezTo>
                    <a:cubicBezTo>
                      <a:pt x="76636" y="16806"/>
                      <a:pt x="117209" y="0"/>
                      <a:pt x="159516" y="0"/>
                    </a:cubicBezTo>
                    <a:close/>
                  </a:path>
                </a:pathLst>
              </a:custGeom>
              <a:solidFill>
                <a:srgbClr val="004380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0" y="95250"/>
                <a:ext cx="1101337" cy="1148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68" name="Freeform 68"/>
            <p:cNvSpPr/>
            <p:nvPr/>
          </p:nvSpPr>
          <p:spPr>
            <a:xfrm>
              <a:off x="788332" y="993652"/>
              <a:ext cx="1609413" cy="2049021"/>
            </a:xfrm>
            <a:custGeom>
              <a:avLst/>
              <a:gdLst/>
              <a:ahLst/>
              <a:cxnLst/>
              <a:rect l="l" t="t" r="r" b="b"/>
              <a:pathLst>
                <a:path w="1609413" h="2049021">
                  <a:moveTo>
                    <a:pt x="0" y="0"/>
                  </a:moveTo>
                  <a:lnTo>
                    <a:pt x="1609412" y="0"/>
                  </a:lnTo>
                  <a:lnTo>
                    <a:pt x="1609412" y="2049021"/>
                  </a:lnTo>
                  <a:lnTo>
                    <a:pt x="0" y="20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81"/>
              <a:ext cx="3207826" cy="646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5"/>
                </a:lnSpc>
              </a:pPr>
              <a:r>
                <a:rPr lang="en-US" sz="2323" b="1">
                  <a:solidFill>
                    <a:srgbClr val="F7D70E"/>
                  </a:solidFill>
                  <a:latin typeface="Biski Bold"/>
                  <a:ea typeface="Biski Bold"/>
                  <a:cs typeface="Biski Bold"/>
                  <a:sym typeface="Biski Bold"/>
                </a:rPr>
                <a:t>Point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968254" y="6599106"/>
            <a:ext cx="2405870" cy="2671428"/>
            <a:chOff x="0" y="0"/>
            <a:chExt cx="3207826" cy="3561904"/>
          </a:xfrm>
        </p:grpSpPr>
        <p:grpSp>
          <p:nvGrpSpPr>
            <p:cNvPr id="71" name="Group 71"/>
            <p:cNvGrpSpPr/>
            <p:nvPr/>
          </p:nvGrpSpPr>
          <p:grpSpPr>
            <a:xfrm>
              <a:off x="70542" y="0"/>
              <a:ext cx="3104591" cy="3561904"/>
              <a:chOff x="0" y="0"/>
              <a:chExt cx="1084036" cy="124371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084036" cy="1243717"/>
              </a:xfrm>
              <a:custGeom>
                <a:avLst/>
                <a:gdLst/>
                <a:ahLst/>
                <a:cxnLst/>
                <a:rect l="l" t="t" r="r" b="b"/>
                <a:pathLst>
                  <a:path w="1084036" h="1243717">
                    <a:moveTo>
                      <a:pt x="162061" y="0"/>
                    </a:moveTo>
                    <a:lnTo>
                      <a:pt x="921975" y="0"/>
                    </a:lnTo>
                    <a:cubicBezTo>
                      <a:pt x="1011479" y="0"/>
                      <a:pt x="1084036" y="72557"/>
                      <a:pt x="1084036" y="162061"/>
                    </a:cubicBezTo>
                    <a:lnTo>
                      <a:pt x="1084036" y="1081656"/>
                    </a:lnTo>
                    <a:cubicBezTo>
                      <a:pt x="1084036" y="1124637"/>
                      <a:pt x="1066962" y="1165858"/>
                      <a:pt x="1036570" y="1196251"/>
                    </a:cubicBezTo>
                    <a:cubicBezTo>
                      <a:pt x="1006177" y="1226643"/>
                      <a:pt x="964956" y="1243717"/>
                      <a:pt x="921975" y="1243717"/>
                    </a:cubicBezTo>
                    <a:lnTo>
                      <a:pt x="162061" y="1243717"/>
                    </a:lnTo>
                    <a:cubicBezTo>
                      <a:pt x="119080" y="1243717"/>
                      <a:pt x="77859" y="1226643"/>
                      <a:pt x="47467" y="1196251"/>
                    </a:cubicBezTo>
                    <a:cubicBezTo>
                      <a:pt x="17074" y="1165858"/>
                      <a:pt x="0" y="1124637"/>
                      <a:pt x="0" y="1081656"/>
                    </a:cubicBezTo>
                    <a:lnTo>
                      <a:pt x="0" y="162061"/>
                    </a:lnTo>
                    <a:cubicBezTo>
                      <a:pt x="0" y="119080"/>
                      <a:pt x="17074" y="77859"/>
                      <a:pt x="47467" y="47467"/>
                    </a:cubicBezTo>
                    <a:cubicBezTo>
                      <a:pt x="77859" y="17074"/>
                      <a:pt x="119080" y="0"/>
                      <a:pt x="162061" y="0"/>
                    </a:cubicBezTo>
                    <a:close/>
                  </a:path>
                </a:pathLst>
              </a:custGeom>
              <a:solidFill>
                <a:srgbClr val="004380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0" y="95250"/>
                <a:ext cx="1084036" cy="1148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0" y="65"/>
              <a:ext cx="3207826" cy="646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8"/>
                </a:lnSpc>
              </a:pPr>
              <a:r>
                <a:rPr lang="en-US" sz="2325" b="1">
                  <a:solidFill>
                    <a:srgbClr val="F7D70E"/>
                  </a:solidFill>
                  <a:latin typeface="Biski Bold"/>
                  <a:ea typeface="Biski Bold"/>
                  <a:cs typeface="Biski Bold"/>
                  <a:sym typeface="Biski Bold"/>
                </a:rPr>
                <a:t>Badge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847364" y="871628"/>
              <a:ext cx="1550949" cy="2293069"/>
            </a:xfrm>
            <a:custGeom>
              <a:avLst/>
              <a:gdLst/>
              <a:ahLst/>
              <a:cxnLst/>
              <a:rect l="l" t="t" r="r" b="b"/>
              <a:pathLst>
                <a:path w="1550949" h="2293069">
                  <a:moveTo>
                    <a:pt x="0" y="0"/>
                  </a:moveTo>
                  <a:lnTo>
                    <a:pt x="1550948" y="0"/>
                  </a:lnTo>
                  <a:lnTo>
                    <a:pt x="1550948" y="2293069"/>
                  </a:lnTo>
                  <a:lnTo>
                    <a:pt x="0" y="2293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0510671" y="6599106"/>
            <a:ext cx="2408008" cy="2671428"/>
            <a:chOff x="0" y="0"/>
            <a:chExt cx="3210678" cy="3561904"/>
          </a:xfrm>
        </p:grpSpPr>
        <p:grpSp>
          <p:nvGrpSpPr>
            <p:cNvPr id="77" name="Group 77"/>
            <p:cNvGrpSpPr/>
            <p:nvPr/>
          </p:nvGrpSpPr>
          <p:grpSpPr>
            <a:xfrm>
              <a:off x="0" y="0"/>
              <a:ext cx="3210678" cy="3561904"/>
              <a:chOff x="0" y="0"/>
              <a:chExt cx="1121079" cy="1243717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1121079" cy="1243717"/>
              </a:xfrm>
              <a:custGeom>
                <a:avLst/>
                <a:gdLst/>
                <a:ahLst/>
                <a:cxnLst/>
                <a:rect l="l" t="t" r="r" b="b"/>
                <a:pathLst>
                  <a:path w="1121079" h="1243717">
                    <a:moveTo>
                      <a:pt x="123605" y="0"/>
                    </a:moveTo>
                    <a:lnTo>
                      <a:pt x="997474" y="0"/>
                    </a:lnTo>
                    <a:cubicBezTo>
                      <a:pt x="1065739" y="0"/>
                      <a:pt x="1121079" y="55340"/>
                      <a:pt x="1121079" y="123605"/>
                    </a:cubicBezTo>
                    <a:lnTo>
                      <a:pt x="1121079" y="1120112"/>
                    </a:lnTo>
                    <a:cubicBezTo>
                      <a:pt x="1121079" y="1152894"/>
                      <a:pt x="1108056" y="1184334"/>
                      <a:pt x="1084876" y="1207514"/>
                    </a:cubicBezTo>
                    <a:cubicBezTo>
                      <a:pt x="1061695" y="1230695"/>
                      <a:pt x="1030256" y="1243717"/>
                      <a:pt x="997474" y="1243717"/>
                    </a:cubicBezTo>
                    <a:lnTo>
                      <a:pt x="123605" y="1243717"/>
                    </a:lnTo>
                    <a:cubicBezTo>
                      <a:pt x="55340" y="1243717"/>
                      <a:pt x="0" y="1188377"/>
                      <a:pt x="0" y="1120112"/>
                    </a:cubicBezTo>
                    <a:lnTo>
                      <a:pt x="0" y="123605"/>
                    </a:lnTo>
                    <a:cubicBezTo>
                      <a:pt x="0" y="55340"/>
                      <a:pt x="55340" y="0"/>
                      <a:pt x="123605" y="0"/>
                    </a:cubicBezTo>
                    <a:close/>
                  </a:path>
                </a:pathLst>
              </a:custGeom>
              <a:solidFill>
                <a:srgbClr val="004380"/>
              </a:solidFill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0" y="95250"/>
                <a:ext cx="1121079" cy="11484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80" name="Freeform 80"/>
            <p:cNvSpPr/>
            <p:nvPr/>
          </p:nvSpPr>
          <p:spPr>
            <a:xfrm>
              <a:off x="568762" y="1084094"/>
              <a:ext cx="2073154" cy="2073154"/>
            </a:xfrm>
            <a:custGeom>
              <a:avLst/>
              <a:gdLst/>
              <a:ahLst/>
              <a:cxnLst/>
              <a:rect l="l" t="t" r="r" b="b"/>
              <a:pathLst>
                <a:path w="2073154" h="2073154">
                  <a:moveTo>
                    <a:pt x="0" y="0"/>
                  </a:moveTo>
                  <a:lnTo>
                    <a:pt x="2073154" y="0"/>
                  </a:lnTo>
                  <a:lnTo>
                    <a:pt x="2073154" y="2073154"/>
                  </a:lnTo>
                  <a:lnTo>
                    <a:pt x="0" y="2073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2851" y="65"/>
              <a:ext cx="3207826" cy="646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8"/>
                </a:lnSpc>
              </a:pPr>
              <a:r>
                <a:rPr lang="en-US" sz="2325" b="1">
                  <a:solidFill>
                    <a:srgbClr val="F7D70E"/>
                  </a:solidFill>
                  <a:latin typeface="Biski Bold"/>
                  <a:ea typeface="Biski Bold"/>
                  <a:cs typeface="Biski Bold"/>
                  <a:sym typeface="Biski Bold"/>
                </a:rPr>
                <a:t>Leaderboard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839266" cy="22113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39266" cy="2211307"/>
            </a:xfrm>
            <a:custGeom>
              <a:avLst/>
              <a:gdLst/>
              <a:ahLst/>
              <a:cxnLst/>
              <a:rect l="l" t="t" r="r" b="b"/>
              <a:pathLst>
                <a:path w="3839266" h="2211307">
                  <a:moveTo>
                    <a:pt x="23888" y="0"/>
                  </a:moveTo>
                  <a:lnTo>
                    <a:pt x="3815378" y="0"/>
                  </a:lnTo>
                  <a:cubicBezTo>
                    <a:pt x="3821714" y="0"/>
                    <a:pt x="3827789" y="2517"/>
                    <a:pt x="3832269" y="6997"/>
                  </a:cubicBezTo>
                  <a:cubicBezTo>
                    <a:pt x="3836749" y="11476"/>
                    <a:pt x="3839266" y="17552"/>
                    <a:pt x="3839266" y="23888"/>
                  </a:cubicBezTo>
                  <a:lnTo>
                    <a:pt x="3839266" y="2187419"/>
                  </a:lnTo>
                  <a:cubicBezTo>
                    <a:pt x="3839266" y="2193755"/>
                    <a:pt x="3836749" y="2199831"/>
                    <a:pt x="3832269" y="2204310"/>
                  </a:cubicBezTo>
                  <a:cubicBezTo>
                    <a:pt x="3827789" y="2208790"/>
                    <a:pt x="3821714" y="2211307"/>
                    <a:pt x="3815378" y="2211307"/>
                  </a:cubicBezTo>
                  <a:lnTo>
                    <a:pt x="23888" y="2211307"/>
                  </a:lnTo>
                  <a:cubicBezTo>
                    <a:pt x="17552" y="2211307"/>
                    <a:pt x="11476" y="2208790"/>
                    <a:pt x="6997" y="2204310"/>
                  </a:cubicBezTo>
                  <a:cubicBezTo>
                    <a:pt x="2517" y="2199831"/>
                    <a:pt x="0" y="2193755"/>
                    <a:pt x="0" y="2187419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839266" cy="2249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5356580" y="1256931"/>
            <a:ext cx="3298378" cy="6526407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372816" y="1256931"/>
            <a:ext cx="3298378" cy="6526407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340343" y="1256931"/>
            <a:ext cx="3298378" cy="6526407"/>
            <a:chOff x="0" y="0"/>
            <a:chExt cx="2620010" cy="5184140"/>
          </a:xfrm>
        </p:grpSpPr>
        <p:sp>
          <p:nvSpPr>
            <p:cNvPr id="35" name="Freeform 3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13430245" y="1238175"/>
            <a:ext cx="3298378" cy="6526407"/>
            <a:chOff x="0" y="0"/>
            <a:chExt cx="2620010" cy="5184140"/>
          </a:xfrm>
        </p:grpSpPr>
        <p:sp>
          <p:nvSpPr>
            <p:cNvPr id="45" name="Freeform 4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78955" y="8036332"/>
            <a:ext cx="3086100" cy="1429727"/>
            <a:chOff x="0" y="0"/>
            <a:chExt cx="4114800" cy="1906302"/>
          </a:xfrm>
        </p:grpSpPr>
        <p:grpSp>
          <p:nvGrpSpPr>
            <p:cNvPr id="60" name="Group 60"/>
            <p:cNvGrpSpPr/>
            <p:nvPr/>
          </p:nvGrpSpPr>
          <p:grpSpPr>
            <a:xfrm>
              <a:off x="0" y="0"/>
              <a:ext cx="4114800" cy="1906302"/>
              <a:chOff x="0" y="0"/>
              <a:chExt cx="812800" cy="37655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3765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76554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76554"/>
                    </a:lnTo>
                    <a:lnTo>
                      <a:pt x="0" y="376554"/>
                    </a:lnTo>
                    <a:close/>
                  </a:path>
                </a:pathLst>
              </a:custGeom>
              <a:solidFill>
                <a:srgbClr val="43F7C1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38100"/>
                <a:ext cx="812800" cy="4146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139129" y="235601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2040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เป้าหมาย 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2040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(Goal)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462719" y="8036332"/>
            <a:ext cx="3086100" cy="1429727"/>
            <a:chOff x="0" y="0"/>
            <a:chExt cx="4114800" cy="1906302"/>
          </a:xfrm>
        </p:grpSpPr>
        <p:grpSp>
          <p:nvGrpSpPr>
            <p:cNvPr id="65" name="Group 65"/>
            <p:cNvGrpSpPr/>
            <p:nvPr/>
          </p:nvGrpSpPr>
          <p:grpSpPr>
            <a:xfrm>
              <a:off x="0" y="0"/>
              <a:ext cx="4114800" cy="1906302"/>
              <a:chOff x="0" y="0"/>
              <a:chExt cx="812800" cy="37655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3765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76554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76554"/>
                    </a:lnTo>
                    <a:lnTo>
                      <a:pt x="0" y="376554"/>
                    </a:lnTo>
                    <a:close/>
                  </a:path>
                </a:pathLst>
              </a:custGeom>
              <a:solidFill>
                <a:srgbClr val="3972F0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0" y="-38100"/>
                <a:ext cx="812800" cy="4146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141642" y="245127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กติกา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(Rule)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444169" y="8036332"/>
            <a:ext cx="3086100" cy="1429727"/>
            <a:chOff x="0" y="0"/>
            <a:chExt cx="4114800" cy="1906302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4114800" cy="1906302"/>
              <a:chOff x="0" y="0"/>
              <a:chExt cx="812800" cy="376554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3765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76554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76554"/>
                    </a:lnTo>
                    <a:lnTo>
                      <a:pt x="0" y="376554"/>
                    </a:lnTo>
                    <a:close/>
                  </a:path>
                </a:pathLst>
              </a:custGeom>
              <a:solidFill>
                <a:srgbClr val="43F7C1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812800" cy="4146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3" name="TextBox 73"/>
            <p:cNvSpPr txBox="1"/>
            <p:nvPr/>
          </p:nvSpPr>
          <p:spPr>
            <a:xfrm>
              <a:off x="139129" y="235601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2040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รางวัล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2040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(Reward)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3536384" y="8036332"/>
            <a:ext cx="3086100" cy="1429727"/>
            <a:chOff x="0" y="0"/>
            <a:chExt cx="4114800" cy="1906302"/>
          </a:xfrm>
        </p:grpSpPr>
        <p:grpSp>
          <p:nvGrpSpPr>
            <p:cNvPr id="75" name="Group 75"/>
            <p:cNvGrpSpPr/>
            <p:nvPr/>
          </p:nvGrpSpPr>
          <p:grpSpPr>
            <a:xfrm>
              <a:off x="0" y="0"/>
              <a:ext cx="4114800" cy="1906302"/>
              <a:chOff x="0" y="0"/>
              <a:chExt cx="812800" cy="376554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3765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76554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76554"/>
                    </a:lnTo>
                    <a:lnTo>
                      <a:pt x="0" y="376554"/>
                    </a:lnTo>
                    <a:close/>
                  </a:path>
                </a:pathLst>
              </a:custGeom>
              <a:solidFill>
                <a:srgbClr val="3972F0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38100"/>
                <a:ext cx="812800" cy="4146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8" name="TextBox 78"/>
            <p:cNvSpPr txBox="1"/>
            <p:nvPr/>
          </p:nvSpPr>
          <p:spPr>
            <a:xfrm>
              <a:off x="136616" y="235601"/>
              <a:ext cx="3836542" cy="137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ความสมัครใจ (Voluntary)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204180" y="2695427"/>
            <a:ext cx="3606664" cy="1243246"/>
            <a:chOff x="0" y="0"/>
            <a:chExt cx="949903" cy="327439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49903" cy="327439"/>
            </a:xfrm>
            <a:custGeom>
              <a:avLst/>
              <a:gdLst/>
              <a:ahLst/>
              <a:cxnLst/>
              <a:rect l="l" t="t" r="r" b="b"/>
              <a:pathLst>
                <a:path w="949903" h="327439">
                  <a:moveTo>
                    <a:pt x="0" y="0"/>
                  </a:moveTo>
                  <a:lnTo>
                    <a:pt x="949903" y="0"/>
                  </a:lnTo>
                  <a:lnTo>
                    <a:pt x="949903" y="327439"/>
                  </a:lnTo>
                  <a:lnTo>
                    <a:pt x="0" y="327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949903" cy="365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276102" y="2695427"/>
            <a:ext cx="3606664" cy="4253016"/>
            <a:chOff x="0" y="0"/>
            <a:chExt cx="949903" cy="112013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949903" cy="1120136"/>
            </a:xfrm>
            <a:custGeom>
              <a:avLst/>
              <a:gdLst/>
              <a:ahLst/>
              <a:cxnLst/>
              <a:rect l="l" t="t" r="r" b="b"/>
              <a:pathLst>
                <a:path w="949903" h="1120136">
                  <a:moveTo>
                    <a:pt x="0" y="0"/>
                  </a:moveTo>
                  <a:lnTo>
                    <a:pt x="949903" y="0"/>
                  </a:lnTo>
                  <a:lnTo>
                    <a:pt x="949903" y="1120136"/>
                  </a:lnTo>
                  <a:lnTo>
                    <a:pt x="0" y="1120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949903" cy="1158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839266" cy="22113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39266" cy="2211307"/>
            </a:xfrm>
            <a:custGeom>
              <a:avLst/>
              <a:gdLst/>
              <a:ahLst/>
              <a:cxnLst/>
              <a:rect l="l" t="t" r="r" b="b"/>
              <a:pathLst>
                <a:path w="3839266" h="2211307">
                  <a:moveTo>
                    <a:pt x="23888" y="0"/>
                  </a:moveTo>
                  <a:lnTo>
                    <a:pt x="3815378" y="0"/>
                  </a:lnTo>
                  <a:cubicBezTo>
                    <a:pt x="3821714" y="0"/>
                    <a:pt x="3827789" y="2517"/>
                    <a:pt x="3832269" y="6997"/>
                  </a:cubicBezTo>
                  <a:cubicBezTo>
                    <a:pt x="3836749" y="11476"/>
                    <a:pt x="3839266" y="17552"/>
                    <a:pt x="3839266" y="23888"/>
                  </a:cubicBezTo>
                  <a:lnTo>
                    <a:pt x="3839266" y="2187419"/>
                  </a:lnTo>
                  <a:cubicBezTo>
                    <a:pt x="3839266" y="2193755"/>
                    <a:pt x="3836749" y="2199831"/>
                    <a:pt x="3832269" y="2204310"/>
                  </a:cubicBezTo>
                  <a:cubicBezTo>
                    <a:pt x="3827789" y="2208790"/>
                    <a:pt x="3821714" y="2211307"/>
                    <a:pt x="3815378" y="2211307"/>
                  </a:cubicBezTo>
                  <a:lnTo>
                    <a:pt x="23888" y="2211307"/>
                  </a:lnTo>
                  <a:cubicBezTo>
                    <a:pt x="17552" y="2211307"/>
                    <a:pt x="11476" y="2208790"/>
                    <a:pt x="6997" y="2204310"/>
                  </a:cubicBezTo>
                  <a:cubicBezTo>
                    <a:pt x="2517" y="2199831"/>
                    <a:pt x="0" y="2193755"/>
                    <a:pt x="0" y="2187419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839266" cy="2249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494811" y="1189548"/>
            <a:ext cx="3298378" cy="6526407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511048" y="1189548"/>
            <a:ext cx="3298378" cy="6526407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11478574" y="1189548"/>
            <a:ext cx="3298378" cy="6526407"/>
            <a:chOff x="0" y="0"/>
            <a:chExt cx="2620010" cy="5184140"/>
          </a:xfrm>
        </p:grpSpPr>
        <p:sp>
          <p:nvSpPr>
            <p:cNvPr id="35" name="Freeform 3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45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617187" y="7968949"/>
            <a:ext cx="3086100" cy="896327"/>
            <a:chOff x="0" y="0"/>
            <a:chExt cx="4114800" cy="1195102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4114800" cy="1195102"/>
              <a:chOff x="0" y="0"/>
              <a:chExt cx="812800" cy="23607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23607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607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6070"/>
                    </a:lnTo>
                    <a:lnTo>
                      <a:pt x="0" y="236070"/>
                    </a:lnTo>
                    <a:close/>
                  </a:path>
                </a:pathLst>
              </a:custGeom>
              <a:solidFill>
                <a:srgbClr val="004380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812800" cy="2741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39129" y="235601"/>
              <a:ext cx="3836542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7D70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Point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00950" y="7968949"/>
            <a:ext cx="3086100" cy="896327"/>
            <a:chOff x="0" y="0"/>
            <a:chExt cx="4114800" cy="1195102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4114800" cy="1195102"/>
              <a:chOff x="0" y="0"/>
              <a:chExt cx="812800" cy="23607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23607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607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6070"/>
                    </a:lnTo>
                    <a:lnTo>
                      <a:pt x="0" y="236070"/>
                    </a:lnTo>
                    <a:close/>
                  </a:path>
                </a:pathLst>
              </a:custGeom>
              <a:solidFill>
                <a:srgbClr val="004380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812800" cy="2741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41642" y="245127"/>
              <a:ext cx="3836542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7D70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Badge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582400" y="7968949"/>
            <a:ext cx="3086100" cy="896327"/>
            <a:chOff x="0" y="0"/>
            <a:chExt cx="4114800" cy="1195102"/>
          </a:xfrm>
        </p:grpSpPr>
        <p:grpSp>
          <p:nvGrpSpPr>
            <p:cNvPr id="60" name="Group 60"/>
            <p:cNvGrpSpPr/>
            <p:nvPr/>
          </p:nvGrpSpPr>
          <p:grpSpPr>
            <a:xfrm>
              <a:off x="0" y="0"/>
              <a:ext cx="4114800" cy="1195102"/>
              <a:chOff x="0" y="0"/>
              <a:chExt cx="812800" cy="23607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23607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607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6070"/>
                    </a:lnTo>
                    <a:lnTo>
                      <a:pt x="0" y="236070"/>
                    </a:lnTo>
                    <a:close/>
                  </a:path>
                </a:pathLst>
              </a:custGeom>
              <a:solidFill>
                <a:srgbClr val="004380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38100"/>
                <a:ext cx="812800" cy="2741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139129" y="235601"/>
              <a:ext cx="3836542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7D70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Leaderboard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959477" y="4124341"/>
            <a:ext cx="2393449" cy="435180"/>
            <a:chOff x="0" y="0"/>
            <a:chExt cx="630373" cy="11461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30373" cy="114615"/>
            </a:xfrm>
            <a:custGeom>
              <a:avLst/>
              <a:gdLst/>
              <a:ahLst/>
              <a:cxnLst/>
              <a:rect l="l" t="t" r="r" b="b"/>
              <a:pathLst>
                <a:path w="630373" h="114615">
                  <a:moveTo>
                    <a:pt x="0" y="0"/>
                  </a:moveTo>
                  <a:lnTo>
                    <a:pt x="630373" y="0"/>
                  </a:lnTo>
                  <a:lnTo>
                    <a:pt x="630373" y="114615"/>
                  </a:lnTo>
                  <a:lnTo>
                    <a:pt x="0" y="11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630373" cy="15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47463" y="799358"/>
            <a:ext cx="15593073" cy="8688283"/>
            <a:chOff x="0" y="0"/>
            <a:chExt cx="3478931" cy="19384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78931" cy="1938421"/>
            </a:xfrm>
            <a:custGeom>
              <a:avLst/>
              <a:gdLst/>
              <a:ahLst/>
              <a:cxnLst/>
              <a:rect l="l" t="t" r="r" b="b"/>
              <a:pathLst>
                <a:path w="3478931" h="1938421">
                  <a:moveTo>
                    <a:pt x="24825" y="0"/>
                  </a:moveTo>
                  <a:lnTo>
                    <a:pt x="3454106" y="0"/>
                  </a:lnTo>
                  <a:cubicBezTo>
                    <a:pt x="3467817" y="0"/>
                    <a:pt x="3478931" y="11114"/>
                    <a:pt x="3478931" y="24825"/>
                  </a:cubicBezTo>
                  <a:lnTo>
                    <a:pt x="3478931" y="1913596"/>
                  </a:lnTo>
                  <a:cubicBezTo>
                    <a:pt x="3478931" y="1927306"/>
                    <a:pt x="3467817" y="1938421"/>
                    <a:pt x="3454106" y="1938421"/>
                  </a:cubicBezTo>
                  <a:lnTo>
                    <a:pt x="24825" y="1938421"/>
                  </a:lnTo>
                  <a:cubicBezTo>
                    <a:pt x="11114" y="1938421"/>
                    <a:pt x="0" y="1927306"/>
                    <a:pt x="0" y="1913596"/>
                  </a:cubicBezTo>
                  <a:lnTo>
                    <a:pt x="0" y="24825"/>
                  </a:lnTo>
                  <a:cubicBezTo>
                    <a:pt x="0" y="11114"/>
                    <a:pt x="11114" y="0"/>
                    <a:pt x="2482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78931" cy="1976521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16654" y="7203313"/>
            <a:ext cx="9113209" cy="1845424"/>
            <a:chOff x="0" y="0"/>
            <a:chExt cx="3675495" cy="7442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75495" cy="744287"/>
            </a:xfrm>
            <a:custGeom>
              <a:avLst/>
              <a:gdLst/>
              <a:ahLst/>
              <a:cxnLst/>
              <a:rect l="l" t="t" r="r" b="b"/>
              <a:pathLst>
                <a:path w="3675495" h="744287">
                  <a:moveTo>
                    <a:pt x="43326" y="0"/>
                  </a:moveTo>
                  <a:lnTo>
                    <a:pt x="3632169" y="0"/>
                  </a:lnTo>
                  <a:cubicBezTo>
                    <a:pt x="3656097" y="0"/>
                    <a:pt x="3675495" y="19398"/>
                    <a:pt x="3675495" y="43326"/>
                  </a:cubicBezTo>
                  <a:lnTo>
                    <a:pt x="3675495" y="700961"/>
                  </a:lnTo>
                  <a:cubicBezTo>
                    <a:pt x="3675495" y="724890"/>
                    <a:pt x="3656097" y="744287"/>
                    <a:pt x="3632169" y="744287"/>
                  </a:cubicBezTo>
                  <a:lnTo>
                    <a:pt x="43326" y="744287"/>
                  </a:lnTo>
                  <a:cubicBezTo>
                    <a:pt x="19398" y="744287"/>
                    <a:pt x="0" y="724890"/>
                    <a:pt x="0" y="700961"/>
                  </a:cubicBezTo>
                  <a:lnTo>
                    <a:pt x="0" y="43326"/>
                  </a:lnTo>
                  <a:cubicBezTo>
                    <a:pt x="0" y="19398"/>
                    <a:pt x="19398" y="0"/>
                    <a:pt x="433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675495" cy="782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16654" y="5049028"/>
            <a:ext cx="9113209" cy="1845424"/>
            <a:chOff x="0" y="0"/>
            <a:chExt cx="3675495" cy="7442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75495" cy="744287"/>
            </a:xfrm>
            <a:custGeom>
              <a:avLst/>
              <a:gdLst/>
              <a:ahLst/>
              <a:cxnLst/>
              <a:rect l="l" t="t" r="r" b="b"/>
              <a:pathLst>
                <a:path w="3675495" h="744287">
                  <a:moveTo>
                    <a:pt x="43326" y="0"/>
                  </a:moveTo>
                  <a:lnTo>
                    <a:pt x="3632169" y="0"/>
                  </a:lnTo>
                  <a:cubicBezTo>
                    <a:pt x="3656097" y="0"/>
                    <a:pt x="3675495" y="19398"/>
                    <a:pt x="3675495" y="43326"/>
                  </a:cubicBezTo>
                  <a:lnTo>
                    <a:pt x="3675495" y="700961"/>
                  </a:lnTo>
                  <a:cubicBezTo>
                    <a:pt x="3675495" y="724890"/>
                    <a:pt x="3656097" y="744287"/>
                    <a:pt x="3632169" y="744287"/>
                  </a:cubicBezTo>
                  <a:lnTo>
                    <a:pt x="43326" y="744287"/>
                  </a:lnTo>
                  <a:cubicBezTo>
                    <a:pt x="19398" y="744287"/>
                    <a:pt x="0" y="724890"/>
                    <a:pt x="0" y="700961"/>
                  </a:cubicBezTo>
                  <a:lnTo>
                    <a:pt x="0" y="43326"/>
                  </a:lnTo>
                  <a:cubicBezTo>
                    <a:pt x="0" y="19398"/>
                    <a:pt x="19398" y="0"/>
                    <a:pt x="433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675495" cy="782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16654" y="3030678"/>
            <a:ext cx="9113209" cy="1845424"/>
            <a:chOff x="0" y="0"/>
            <a:chExt cx="3675495" cy="74428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75495" cy="744287"/>
            </a:xfrm>
            <a:custGeom>
              <a:avLst/>
              <a:gdLst/>
              <a:ahLst/>
              <a:cxnLst/>
              <a:rect l="l" t="t" r="r" b="b"/>
              <a:pathLst>
                <a:path w="3675495" h="744287">
                  <a:moveTo>
                    <a:pt x="43326" y="0"/>
                  </a:moveTo>
                  <a:lnTo>
                    <a:pt x="3632169" y="0"/>
                  </a:lnTo>
                  <a:cubicBezTo>
                    <a:pt x="3656097" y="0"/>
                    <a:pt x="3675495" y="19398"/>
                    <a:pt x="3675495" y="43326"/>
                  </a:cubicBezTo>
                  <a:lnTo>
                    <a:pt x="3675495" y="700961"/>
                  </a:lnTo>
                  <a:cubicBezTo>
                    <a:pt x="3675495" y="724890"/>
                    <a:pt x="3656097" y="744287"/>
                    <a:pt x="3632169" y="744287"/>
                  </a:cubicBezTo>
                  <a:lnTo>
                    <a:pt x="43326" y="744287"/>
                  </a:lnTo>
                  <a:cubicBezTo>
                    <a:pt x="19398" y="744287"/>
                    <a:pt x="0" y="724890"/>
                    <a:pt x="0" y="700961"/>
                  </a:cubicBezTo>
                  <a:lnTo>
                    <a:pt x="0" y="43326"/>
                  </a:lnTo>
                  <a:cubicBezTo>
                    <a:pt x="0" y="19398"/>
                    <a:pt x="19398" y="0"/>
                    <a:pt x="433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675495" cy="782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6614050" y="5320518"/>
            <a:ext cx="2604888" cy="1302444"/>
          </a:xfrm>
          <a:custGeom>
            <a:avLst/>
            <a:gdLst/>
            <a:ahLst/>
            <a:cxnLst/>
            <a:rect l="l" t="t" r="r" b="b"/>
            <a:pathLst>
              <a:path w="2604888" h="1302444">
                <a:moveTo>
                  <a:pt x="0" y="0"/>
                </a:moveTo>
                <a:lnTo>
                  <a:pt x="2604888" y="0"/>
                </a:lnTo>
                <a:lnTo>
                  <a:pt x="2604888" y="1302444"/>
                </a:lnTo>
                <a:lnTo>
                  <a:pt x="0" y="1302444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399812" y="3449837"/>
            <a:ext cx="3033364" cy="865766"/>
          </a:xfrm>
          <a:custGeom>
            <a:avLst/>
            <a:gdLst/>
            <a:ahLst/>
            <a:cxnLst/>
            <a:rect l="l" t="t" r="r" b="b"/>
            <a:pathLst>
              <a:path w="3033364" h="865766">
                <a:moveTo>
                  <a:pt x="0" y="0"/>
                </a:moveTo>
                <a:lnTo>
                  <a:pt x="3033364" y="0"/>
                </a:lnTo>
                <a:lnTo>
                  <a:pt x="3033364" y="865766"/>
                </a:lnTo>
                <a:lnTo>
                  <a:pt x="0" y="86576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489475" y="5294682"/>
            <a:ext cx="2407318" cy="1354116"/>
          </a:xfrm>
          <a:custGeom>
            <a:avLst/>
            <a:gdLst/>
            <a:ahLst/>
            <a:cxnLst/>
            <a:rect l="l" t="t" r="r" b="b"/>
            <a:pathLst>
              <a:path w="2407318" h="1354116">
                <a:moveTo>
                  <a:pt x="0" y="0"/>
                </a:moveTo>
                <a:lnTo>
                  <a:pt x="2407318" y="0"/>
                </a:lnTo>
                <a:lnTo>
                  <a:pt x="2407318" y="1354116"/>
                </a:lnTo>
                <a:lnTo>
                  <a:pt x="0" y="1354116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891243" y="7353157"/>
            <a:ext cx="2164031" cy="1545737"/>
          </a:xfrm>
          <a:custGeom>
            <a:avLst/>
            <a:gdLst/>
            <a:ahLst/>
            <a:cxnLst/>
            <a:rect l="l" t="t" r="r" b="b"/>
            <a:pathLst>
              <a:path w="2164031" h="1545737">
                <a:moveTo>
                  <a:pt x="0" y="0"/>
                </a:moveTo>
                <a:lnTo>
                  <a:pt x="2164031" y="0"/>
                </a:lnTo>
                <a:lnTo>
                  <a:pt x="2164031" y="1545737"/>
                </a:lnTo>
                <a:lnTo>
                  <a:pt x="0" y="1545737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6185651" y="354379"/>
            <a:ext cx="1260410" cy="1268030"/>
            <a:chOff x="0" y="0"/>
            <a:chExt cx="1680547" cy="1690707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46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0734634" y="3300941"/>
            <a:ext cx="2162158" cy="1304896"/>
          </a:xfrm>
          <a:custGeom>
            <a:avLst/>
            <a:gdLst/>
            <a:ahLst/>
            <a:cxnLst/>
            <a:rect l="l" t="t" r="r" b="b"/>
            <a:pathLst>
              <a:path w="2162158" h="1304896">
                <a:moveTo>
                  <a:pt x="0" y="0"/>
                </a:moveTo>
                <a:lnTo>
                  <a:pt x="2162159" y="0"/>
                </a:lnTo>
                <a:lnTo>
                  <a:pt x="2162159" y="1304897"/>
                </a:lnTo>
                <a:lnTo>
                  <a:pt x="0" y="130489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3758137" y="3708796"/>
            <a:ext cx="1228694" cy="441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6"/>
              </a:lnSpc>
            </a:pPr>
            <a:r>
              <a:rPr lang="en-US" sz="2612" b="1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App Tier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58137" y="5564972"/>
            <a:ext cx="1077080" cy="90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6"/>
              </a:lnSpc>
            </a:pPr>
            <a:r>
              <a:rPr lang="en-US" sz="2612" b="1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Service</a:t>
            </a:r>
          </a:p>
          <a:p>
            <a:pPr algn="ctr">
              <a:lnSpc>
                <a:spcPts val="3656"/>
              </a:lnSpc>
            </a:pPr>
            <a:r>
              <a:rPr lang="en-US" sz="2612" b="1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Tier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950026" y="7601930"/>
            <a:ext cx="693303" cy="90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6"/>
              </a:lnSpc>
            </a:pPr>
            <a:r>
              <a:rPr lang="en-US" sz="2612" b="1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Data</a:t>
            </a:r>
          </a:p>
          <a:p>
            <a:pPr algn="ctr">
              <a:lnSpc>
                <a:spcPts val="3656"/>
              </a:lnSpc>
            </a:pPr>
            <a:r>
              <a:rPr lang="en-US" sz="2612" b="1">
                <a:solidFill>
                  <a:srgbClr val="000000"/>
                </a:solidFill>
                <a:latin typeface="Garuda Bold"/>
                <a:ea typeface="Garuda Bold"/>
                <a:cs typeface="Garuda Bold"/>
                <a:sym typeface="Garuda Bold"/>
              </a:rPr>
              <a:t>Tier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36403" y="1453338"/>
            <a:ext cx="10832171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>
                <a:solidFill>
                  <a:srgbClr val="F89E19"/>
                </a:solidFill>
                <a:latin typeface="Gliker Bold"/>
                <a:ea typeface="Gliker Bold"/>
                <a:cs typeface="Gliker Bold"/>
                <a:sym typeface="Gliker Bold"/>
              </a:rPr>
              <a:t>โครงสร้างภายในระบบ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06539" y="354379"/>
            <a:ext cx="17150006" cy="9591923"/>
            <a:chOff x="0" y="0"/>
            <a:chExt cx="4063185" cy="22725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63185" cy="2272521"/>
            </a:xfrm>
            <a:custGeom>
              <a:avLst/>
              <a:gdLst/>
              <a:ahLst/>
              <a:cxnLst/>
              <a:rect l="l" t="t" r="r" b="b"/>
              <a:pathLst>
                <a:path w="4063185" h="2272521">
                  <a:moveTo>
                    <a:pt x="22571" y="0"/>
                  </a:moveTo>
                  <a:lnTo>
                    <a:pt x="4040613" y="0"/>
                  </a:lnTo>
                  <a:cubicBezTo>
                    <a:pt x="4046600" y="0"/>
                    <a:pt x="4052341" y="2378"/>
                    <a:pt x="4056574" y="6611"/>
                  </a:cubicBezTo>
                  <a:cubicBezTo>
                    <a:pt x="4060806" y="10844"/>
                    <a:pt x="4063185" y="16585"/>
                    <a:pt x="4063185" y="22571"/>
                  </a:cubicBezTo>
                  <a:lnTo>
                    <a:pt x="4063185" y="2249950"/>
                  </a:lnTo>
                  <a:cubicBezTo>
                    <a:pt x="4063185" y="2255936"/>
                    <a:pt x="4060806" y="2261677"/>
                    <a:pt x="4056574" y="2265910"/>
                  </a:cubicBezTo>
                  <a:cubicBezTo>
                    <a:pt x="4052341" y="2270143"/>
                    <a:pt x="4046600" y="2272521"/>
                    <a:pt x="4040613" y="2272521"/>
                  </a:cubicBezTo>
                  <a:lnTo>
                    <a:pt x="22571" y="2272521"/>
                  </a:lnTo>
                  <a:cubicBezTo>
                    <a:pt x="10105" y="2272521"/>
                    <a:pt x="0" y="2262416"/>
                    <a:pt x="0" y="2249950"/>
                  </a:cubicBezTo>
                  <a:lnTo>
                    <a:pt x="0" y="22571"/>
                  </a:lnTo>
                  <a:cubicBezTo>
                    <a:pt x="0" y="16585"/>
                    <a:pt x="2378" y="10844"/>
                    <a:pt x="6611" y="6611"/>
                  </a:cubicBezTo>
                  <a:cubicBezTo>
                    <a:pt x="10844" y="2378"/>
                    <a:pt x="16585" y="0"/>
                    <a:pt x="22571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63185" cy="2310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763768" y="84626"/>
            <a:ext cx="1260410" cy="1268030"/>
            <a:chOff x="0" y="0"/>
            <a:chExt cx="1680547" cy="169070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80547" cy="1690707"/>
              <a:chOff x="0" y="0"/>
              <a:chExt cx="812800" cy="8177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771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7714">
                    <a:moveTo>
                      <a:pt x="406400" y="0"/>
                    </a:moveTo>
                    <a:cubicBezTo>
                      <a:pt x="181951" y="0"/>
                      <a:pt x="0" y="183051"/>
                      <a:pt x="0" y="408857"/>
                    </a:cubicBezTo>
                    <a:cubicBezTo>
                      <a:pt x="0" y="634662"/>
                      <a:pt x="181951" y="817714"/>
                      <a:pt x="406400" y="817714"/>
                    </a:cubicBezTo>
                    <a:cubicBezTo>
                      <a:pt x="630849" y="817714"/>
                      <a:pt x="812800" y="634662"/>
                      <a:pt x="812800" y="408857"/>
                    </a:cubicBezTo>
                    <a:cubicBezTo>
                      <a:pt x="812800" y="1830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sq">
                <a:solidFill>
                  <a:srgbClr val="162C3B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561"/>
                <a:ext cx="660400" cy="7024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83617" y="430698"/>
              <a:ext cx="1237324" cy="876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 b="1">
                  <a:solidFill>
                    <a:srgbClr val="2C374D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47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7095014" y="718641"/>
            <a:ext cx="9040618" cy="8893708"/>
          </a:xfrm>
          <a:custGeom>
            <a:avLst/>
            <a:gdLst/>
            <a:ahLst/>
            <a:cxnLst/>
            <a:rect l="l" t="t" r="r" b="b"/>
            <a:pathLst>
              <a:path w="9040618" h="8893708">
                <a:moveTo>
                  <a:pt x="0" y="0"/>
                </a:moveTo>
                <a:lnTo>
                  <a:pt x="9040618" y="0"/>
                </a:lnTo>
                <a:lnTo>
                  <a:pt x="9040618" y="8893707"/>
                </a:lnTo>
                <a:lnTo>
                  <a:pt x="0" y="889370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28861" y="1419331"/>
            <a:ext cx="5138016" cy="202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</a:t>
            </a:r>
            <a:r>
              <a:rPr lang="en-US" sz="7200" b="1">
                <a:solidFill>
                  <a:srgbClr val="F89E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6075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1559" y="476726"/>
            <a:ext cx="16204883" cy="9333548"/>
            <a:chOff x="0" y="0"/>
            <a:chExt cx="3615430" cy="2082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430" cy="2082384"/>
            </a:xfrm>
            <a:custGeom>
              <a:avLst/>
              <a:gdLst/>
              <a:ahLst/>
              <a:cxnLst/>
              <a:rect l="l" t="t" r="r" b="b"/>
              <a:pathLst>
                <a:path w="3615430" h="2082384">
                  <a:moveTo>
                    <a:pt x="23888" y="0"/>
                  </a:moveTo>
                  <a:lnTo>
                    <a:pt x="3591542" y="0"/>
                  </a:lnTo>
                  <a:cubicBezTo>
                    <a:pt x="3597878" y="0"/>
                    <a:pt x="3603954" y="2517"/>
                    <a:pt x="3608434" y="6997"/>
                  </a:cubicBezTo>
                  <a:cubicBezTo>
                    <a:pt x="3612913" y="11476"/>
                    <a:pt x="3615430" y="17552"/>
                    <a:pt x="3615430" y="23888"/>
                  </a:cubicBezTo>
                  <a:lnTo>
                    <a:pt x="3615430" y="2058496"/>
                  </a:lnTo>
                  <a:cubicBezTo>
                    <a:pt x="3615430" y="2064832"/>
                    <a:pt x="3612913" y="2070908"/>
                    <a:pt x="3608434" y="2075388"/>
                  </a:cubicBezTo>
                  <a:cubicBezTo>
                    <a:pt x="3603954" y="2079867"/>
                    <a:pt x="3597878" y="2082384"/>
                    <a:pt x="3591542" y="2082384"/>
                  </a:cubicBezTo>
                  <a:lnTo>
                    <a:pt x="23888" y="2082384"/>
                  </a:lnTo>
                  <a:cubicBezTo>
                    <a:pt x="17552" y="2082384"/>
                    <a:pt x="11476" y="2079867"/>
                    <a:pt x="6997" y="2075388"/>
                  </a:cubicBezTo>
                  <a:cubicBezTo>
                    <a:pt x="2517" y="2070908"/>
                    <a:pt x="0" y="2064832"/>
                    <a:pt x="0" y="2058496"/>
                  </a:cubicBezTo>
                  <a:lnTo>
                    <a:pt x="0" y="23888"/>
                  </a:lnTo>
                  <a:cubicBezTo>
                    <a:pt x="0" y="17552"/>
                    <a:pt x="2517" y="11476"/>
                    <a:pt x="6997" y="6997"/>
                  </a:cubicBezTo>
                  <a:cubicBezTo>
                    <a:pt x="11476" y="2517"/>
                    <a:pt x="17552" y="0"/>
                    <a:pt x="23888" y="0"/>
                  </a:cubicBezTo>
                  <a:close/>
                </a:path>
              </a:pathLst>
            </a:custGeom>
            <a:solidFill>
              <a:srgbClr val="3082C7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5430" cy="2120484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47463" y="799358"/>
            <a:ext cx="15593073" cy="8688283"/>
            <a:chOff x="0" y="0"/>
            <a:chExt cx="3478931" cy="19384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78931" cy="1938421"/>
            </a:xfrm>
            <a:custGeom>
              <a:avLst/>
              <a:gdLst/>
              <a:ahLst/>
              <a:cxnLst/>
              <a:rect l="l" t="t" r="r" b="b"/>
              <a:pathLst>
                <a:path w="3478931" h="1938421">
                  <a:moveTo>
                    <a:pt x="24825" y="0"/>
                  </a:moveTo>
                  <a:lnTo>
                    <a:pt x="3454106" y="0"/>
                  </a:lnTo>
                  <a:cubicBezTo>
                    <a:pt x="3467817" y="0"/>
                    <a:pt x="3478931" y="11114"/>
                    <a:pt x="3478931" y="24825"/>
                  </a:cubicBezTo>
                  <a:lnTo>
                    <a:pt x="3478931" y="1913596"/>
                  </a:lnTo>
                  <a:cubicBezTo>
                    <a:pt x="3478931" y="1927306"/>
                    <a:pt x="3467817" y="1938421"/>
                    <a:pt x="3454106" y="1938421"/>
                  </a:cubicBezTo>
                  <a:lnTo>
                    <a:pt x="24825" y="1938421"/>
                  </a:lnTo>
                  <a:cubicBezTo>
                    <a:pt x="11114" y="1938421"/>
                    <a:pt x="0" y="1927306"/>
                    <a:pt x="0" y="1913596"/>
                  </a:cubicBezTo>
                  <a:lnTo>
                    <a:pt x="0" y="24825"/>
                  </a:lnTo>
                  <a:cubicBezTo>
                    <a:pt x="0" y="11114"/>
                    <a:pt x="11114" y="0"/>
                    <a:pt x="2482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78931" cy="1976521"/>
            </a:xfrm>
            <a:prstGeom prst="rect">
              <a:avLst/>
            </a:prstGeom>
          </p:spPr>
          <p:txBody>
            <a:bodyPr lIns="53298" tIns="53298" rIns="53298" bIns="532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185651" y="354379"/>
            <a:ext cx="1260410" cy="1266760"/>
            <a:chOff x="0" y="0"/>
            <a:chExt cx="812800" cy="8168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6895"/>
            </a:xfrm>
            <a:custGeom>
              <a:avLst/>
              <a:gdLst/>
              <a:ahLst/>
              <a:cxnLst/>
              <a:rect l="l" t="t" r="r" b="b"/>
              <a:pathLst>
                <a:path w="812800" h="816895">
                  <a:moveTo>
                    <a:pt x="406400" y="0"/>
                  </a:moveTo>
                  <a:cubicBezTo>
                    <a:pt x="181951" y="0"/>
                    <a:pt x="0" y="182868"/>
                    <a:pt x="0" y="408448"/>
                  </a:cubicBezTo>
                  <a:cubicBezTo>
                    <a:pt x="0" y="634027"/>
                    <a:pt x="181951" y="816895"/>
                    <a:pt x="406400" y="816895"/>
                  </a:cubicBezTo>
                  <a:cubicBezTo>
                    <a:pt x="630849" y="816895"/>
                    <a:pt x="812800" y="634027"/>
                    <a:pt x="812800" y="408448"/>
                  </a:cubicBezTo>
                  <a:cubicBezTo>
                    <a:pt x="812800" y="18286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162C3B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484"/>
              <a:ext cx="660400" cy="7018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323363" y="689309"/>
            <a:ext cx="927993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b="1">
                <a:solidFill>
                  <a:srgbClr val="2C374D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48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94571" y="1315352"/>
            <a:ext cx="11071179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 spc="-560">
                <a:solidFill>
                  <a:srgbClr val="000000"/>
                </a:solidFill>
                <a:latin typeface="Gliker Bold"/>
                <a:ea typeface="Gliker Bold"/>
                <a:cs typeface="Gliker Bold"/>
                <a:sym typeface="Gliker Bold"/>
              </a:rPr>
              <a:t>ฟังก์ชันทั้งหมดภายในแอป</a:t>
            </a:r>
          </a:p>
        </p:txBody>
      </p:sp>
      <p:sp>
        <p:nvSpPr>
          <p:cNvPr id="22" name="Freeform 22"/>
          <p:cNvSpPr/>
          <p:nvPr/>
        </p:nvSpPr>
        <p:spPr>
          <a:xfrm>
            <a:off x="2194571" y="3190408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0"/>
                </a:lnTo>
                <a:lnTo>
                  <a:pt x="0" y="1107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599854" y="3398027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ระบบลงทะเบียน</a:t>
            </a:r>
          </a:p>
        </p:txBody>
      </p:sp>
      <p:sp>
        <p:nvSpPr>
          <p:cNvPr id="24" name="Freeform 24"/>
          <p:cNvSpPr/>
          <p:nvPr/>
        </p:nvSpPr>
        <p:spPr>
          <a:xfrm>
            <a:off x="2194571" y="4722651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0"/>
                </a:lnTo>
                <a:lnTo>
                  <a:pt x="0" y="1107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599854" y="4930270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ระบบบันทึกสุขภาพ</a:t>
            </a:r>
          </a:p>
        </p:txBody>
      </p:sp>
      <p:sp>
        <p:nvSpPr>
          <p:cNvPr id="26" name="Freeform 26"/>
          <p:cNvSpPr/>
          <p:nvPr/>
        </p:nvSpPr>
        <p:spPr>
          <a:xfrm>
            <a:off x="2194571" y="6254894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0"/>
                </a:lnTo>
                <a:lnTo>
                  <a:pt x="0" y="1107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599854" y="6462513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ระบบภารกิจ</a:t>
            </a:r>
          </a:p>
        </p:txBody>
      </p:sp>
      <p:sp>
        <p:nvSpPr>
          <p:cNvPr id="28" name="Freeform 28"/>
          <p:cNvSpPr/>
          <p:nvPr/>
        </p:nvSpPr>
        <p:spPr>
          <a:xfrm>
            <a:off x="2194571" y="7787137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1"/>
                </a:lnTo>
                <a:lnTo>
                  <a:pt x="0" y="1107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599854" y="7994756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ระบบประเมินสุขภาพ</a:t>
            </a:r>
          </a:p>
        </p:txBody>
      </p:sp>
      <p:sp>
        <p:nvSpPr>
          <p:cNvPr id="30" name="Freeform 30"/>
          <p:cNvSpPr/>
          <p:nvPr/>
        </p:nvSpPr>
        <p:spPr>
          <a:xfrm>
            <a:off x="8870502" y="6258031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0"/>
                </a:lnTo>
                <a:lnTo>
                  <a:pt x="0" y="1107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275785" y="6465650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ระบบแลกรางวัล</a:t>
            </a:r>
          </a:p>
        </p:txBody>
      </p:sp>
      <p:sp>
        <p:nvSpPr>
          <p:cNvPr id="32" name="Freeform 32"/>
          <p:cNvSpPr/>
          <p:nvPr/>
        </p:nvSpPr>
        <p:spPr>
          <a:xfrm>
            <a:off x="8870502" y="3190408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0"/>
                </a:lnTo>
                <a:lnTo>
                  <a:pt x="0" y="1107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275785" y="3398027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ระบบบทความ</a:t>
            </a:r>
          </a:p>
        </p:txBody>
      </p:sp>
      <p:sp>
        <p:nvSpPr>
          <p:cNvPr id="34" name="Freeform 34"/>
          <p:cNvSpPr/>
          <p:nvPr/>
        </p:nvSpPr>
        <p:spPr>
          <a:xfrm>
            <a:off x="8870502" y="4722651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0"/>
                </a:lnTo>
                <a:lnTo>
                  <a:pt x="0" y="1107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275785" y="4930270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ระบบแนะนำ</a:t>
            </a:r>
          </a:p>
        </p:txBody>
      </p:sp>
      <p:sp>
        <p:nvSpPr>
          <p:cNvPr id="36" name="Freeform 36"/>
          <p:cNvSpPr/>
          <p:nvPr/>
        </p:nvSpPr>
        <p:spPr>
          <a:xfrm>
            <a:off x="8870502" y="7787137"/>
            <a:ext cx="1260222" cy="1107420"/>
          </a:xfrm>
          <a:custGeom>
            <a:avLst/>
            <a:gdLst/>
            <a:ahLst/>
            <a:cxnLst/>
            <a:rect l="l" t="t" r="r" b="b"/>
            <a:pathLst>
              <a:path w="1260222" h="1107420">
                <a:moveTo>
                  <a:pt x="0" y="0"/>
                </a:moveTo>
                <a:lnTo>
                  <a:pt x="1260222" y="0"/>
                </a:lnTo>
                <a:lnTo>
                  <a:pt x="1260222" y="1107421"/>
                </a:lnTo>
                <a:lnTo>
                  <a:pt x="0" y="1107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0275785" y="7994756"/>
            <a:ext cx="5909866" cy="62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เว็บสำหรับผู้ดูแล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2379" y="0"/>
            <a:ext cx="20940151" cy="10287000"/>
            <a:chOff x="0" y="0"/>
            <a:chExt cx="2792020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096302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96302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192604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92604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1288906" y="0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288906" y="7084705"/>
              <a:ext cx="6631295" cy="6631295"/>
            </a:xfrm>
            <a:custGeom>
              <a:avLst/>
              <a:gdLst/>
              <a:ahLst/>
              <a:cxnLst/>
              <a:rect l="l" t="t" r="r" b="b"/>
              <a:pathLst>
                <a:path w="6631295" h="6631295">
                  <a:moveTo>
                    <a:pt x="0" y="0"/>
                  </a:moveTo>
                  <a:lnTo>
                    <a:pt x="6631295" y="0"/>
                  </a:lnTo>
                  <a:lnTo>
                    <a:pt x="6631295" y="6631295"/>
                  </a:lnTo>
                  <a:lnTo>
                    <a:pt x="0" y="6631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143794" y="2317886"/>
            <a:ext cx="14030504" cy="5945426"/>
          </a:xfrm>
          <a:custGeom>
            <a:avLst/>
            <a:gdLst/>
            <a:ahLst/>
            <a:cxnLst/>
            <a:rect l="l" t="t" r="r" b="b"/>
            <a:pathLst>
              <a:path w="14030504" h="5945426">
                <a:moveTo>
                  <a:pt x="0" y="0"/>
                </a:moveTo>
                <a:lnTo>
                  <a:pt x="14030505" y="0"/>
                </a:lnTo>
                <a:lnTo>
                  <a:pt x="14030505" y="5945426"/>
                </a:lnTo>
                <a:lnTo>
                  <a:pt x="0" y="5945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077089">
            <a:off x="13859309" y="1156024"/>
            <a:ext cx="2754042" cy="2323723"/>
          </a:xfrm>
          <a:custGeom>
            <a:avLst/>
            <a:gdLst/>
            <a:ahLst/>
            <a:cxnLst/>
            <a:rect l="l" t="t" r="r" b="b"/>
            <a:pathLst>
              <a:path w="2754042" h="2323723">
                <a:moveTo>
                  <a:pt x="0" y="0"/>
                </a:moveTo>
                <a:lnTo>
                  <a:pt x="2754043" y="0"/>
                </a:lnTo>
                <a:lnTo>
                  <a:pt x="2754043" y="2323724"/>
                </a:lnTo>
                <a:lnTo>
                  <a:pt x="0" y="2323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625207" y="1764532"/>
            <a:ext cx="3037587" cy="1625109"/>
          </a:xfrm>
          <a:custGeom>
            <a:avLst/>
            <a:gdLst/>
            <a:ahLst/>
            <a:cxnLst/>
            <a:rect l="l" t="t" r="r" b="b"/>
            <a:pathLst>
              <a:path w="3037587" h="1625109">
                <a:moveTo>
                  <a:pt x="0" y="0"/>
                </a:moveTo>
                <a:lnTo>
                  <a:pt x="3037586" y="0"/>
                </a:lnTo>
                <a:lnTo>
                  <a:pt x="3037586" y="1625108"/>
                </a:lnTo>
                <a:lnTo>
                  <a:pt x="0" y="1625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684474">
            <a:off x="952260" y="7192287"/>
            <a:ext cx="3154611" cy="1719263"/>
          </a:xfrm>
          <a:custGeom>
            <a:avLst/>
            <a:gdLst/>
            <a:ahLst/>
            <a:cxnLst/>
            <a:rect l="l" t="t" r="r" b="b"/>
            <a:pathLst>
              <a:path w="3154611" h="1719263">
                <a:moveTo>
                  <a:pt x="0" y="0"/>
                </a:moveTo>
                <a:lnTo>
                  <a:pt x="3154610" y="0"/>
                </a:lnTo>
                <a:lnTo>
                  <a:pt x="3154610" y="1719263"/>
                </a:lnTo>
                <a:lnTo>
                  <a:pt x="0" y="1719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994345" y="1331961"/>
            <a:ext cx="5161789" cy="2703487"/>
          </a:xfrm>
          <a:custGeom>
            <a:avLst/>
            <a:gdLst/>
            <a:ahLst/>
            <a:cxnLst/>
            <a:rect l="l" t="t" r="r" b="b"/>
            <a:pathLst>
              <a:path w="5161789" h="2703487">
                <a:moveTo>
                  <a:pt x="0" y="0"/>
                </a:moveTo>
                <a:lnTo>
                  <a:pt x="5161788" y="0"/>
                </a:lnTo>
                <a:lnTo>
                  <a:pt x="5161788" y="2703487"/>
                </a:lnTo>
                <a:lnTo>
                  <a:pt x="0" y="27034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96402" y="4498559"/>
            <a:ext cx="5339837" cy="5788441"/>
          </a:xfrm>
          <a:custGeom>
            <a:avLst/>
            <a:gdLst/>
            <a:ahLst/>
            <a:cxnLst/>
            <a:rect l="l" t="t" r="r" b="b"/>
            <a:pathLst>
              <a:path w="5339837" h="5788441">
                <a:moveTo>
                  <a:pt x="0" y="0"/>
                </a:moveTo>
                <a:lnTo>
                  <a:pt x="5339837" y="0"/>
                </a:lnTo>
                <a:lnTo>
                  <a:pt x="5339837" y="5788441"/>
                </a:lnTo>
                <a:lnTo>
                  <a:pt x="0" y="57884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003993" y="3799719"/>
            <a:ext cx="10280013" cy="308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29"/>
              </a:lnSpc>
            </a:pPr>
            <a:r>
              <a:rPr lang="en-US" sz="10935" b="1">
                <a:solidFill>
                  <a:srgbClr val="2C374D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THANK</a:t>
            </a:r>
          </a:p>
          <a:p>
            <a:pPr algn="ctr">
              <a:lnSpc>
                <a:spcPts val="12029"/>
              </a:lnSpc>
            </a:pPr>
            <a:r>
              <a:rPr lang="en-US" sz="10935" b="1">
                <a:solidFill>
                  <a:srgbClr val="2C374D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3452</Words>
  <Application>Microsoft Office PowerPoint</Application>
  <PresentationFormat>Custom</PresentationFormat>
  <Paragraphs>416</Paragraphs>
  <Slides>50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5" baseType="lpstr">
      <vt:lpstr>Garuda Bold</vt:lpstr>
      <vt:lpstr>Biski Semi-Bold</vt:lpstr>
      <vt:lpstr>Gliker Bold</vt:lpstr>
      <vt:lpstr>Gliker</vt:lpstr>
      <vt:lpstr>Calibri</vt:lpstr>
      <vt:lpstr>Montserrat</vt:lpstr>
      <vt:lpstr>Montserrat Bold</vt:lpstr>
      <vt:lpstr>Gliker Semi-Bold</vt:lpstr>
      <vt:lpstr>Biski</vt:lpstr>
      <vt:lpstr>Canva Sans Bold</vt:lpstr>
      <vt:lpstr>Arial</vt:lpstr>
      <vt:lpstr>Biski Bold</vt:lpstr>
      <vt:lpstr>Open Sans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CE67-16 Presentation WellWave__Gamify_application_for_personalized_metabolic_wellness_improvement</dc:title>
  <dc:creator>Aratcha P</dc:creator>
  <cp:lastModifiedBy>Aratcha P</cp:lastModifiedBy>
  <cp:revision>1</cp:revision>
  <dcterms:created xsi:type="dcterms:W3CDTF">2006-08-16T00:00:00Z</dcterms:created>
  <dcterms:modified xsi:type="dcterms:W3CDTF">2025-02-28T09:01:30Z</dcterms:modified>
  <dc:identifier>DAGTENluNjk</dc:identifier>
</cp:coreProperties>
</file>